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9.svg" ContentType="image/svg+xml"/>
  <Override PartName="/ppt/media/image2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147482916" r:id="rId2"/>
    <p:sldId id="257" r:id="rId3"/>
    <p:sldId id="2147482922" r:id="rId26"/>
    <p:sldId id="258" r:id="rId4"/>
    <p:sldId id="2147482919" r:id="rId5"/>
    <p:sldId id="2147482920" r:id="rId6"/>
    <p:sldId id="259" r:id="rId7"/>
    <p:sldId id="295" r:id="rId8"/>
    <p:sldId id="2147482914" r:id="rId9"/>
    <p:sldId id="260" r:id="rId10"/>
    <p:sldId id="2147482918" r:id="rId11"/>
    <p:sldId id="313" r:id="rId12"/>
    <p:sldId id="261" r:id="rId13"/>
    <p:sldId id="2147482913" r:id="rId14"/>
    <p:sldId id="2147482921" r:id="rId15"/>
    <p:sldId id="281" r:id="rId16"/>
    <p:sldId id="262" r:id="rId17"/>
    <p:sldId id="2147482923" r:id="rId27"/>
    <p:sldId id="26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D9A5FD-7CD6-70DA-F68F-522CE01C0C4C}" v="141" dt="2026-08-26T15:47:15.282"/>
    <p1510:client id="{3CEB15CD-4428-3B4C-0DA1-81B8BDCE85E3}" v="8" dt="2026-08-26T15:32:14.6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052"/>
    <p:restoredTop sz="29522"/>
  </p:normalViewPr>
  <p:slideViewPr>
    <p:cSldViewPr snapToGrid="0">
      <p:cViewPr varScale="1">
        <p:scale>
          <a:sx n="30" d="100"/>
          <a:sy n="30" d="100"/>
        </p:scale>
        <p:origin x="253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9" Type="http://schemas.openxmlformats.org/officeDocument/2006/relationships/slide" Target="slides/slide19.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 Id="rId26" Type="http://schemas.openxmlformats.org/officeDocument/2006/relationships/slide" Target="slides/slide3.xml"/><Relationship Id="rId27"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67FE1A-7B36-4E51-9D88-1E659113F3AE}" type="datetimeFigureOut">
              <a:t>9/14/26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AE30A0-7140-4D5E-9F95-AF3A6DE595A1}" type="slidenum">
              <a:t>‹#›</a:t>
            </a:fld>
            <a:endParaRPr lang="en-US"/>
          </a:p>
        </p:txBody>
      </p:sp>
    </p:spTree>
    <p:extLst>
      <p:ext uri="{BB962C8B-B14F-4D97-AF65-F5344CB8AC3E}">
        <p14:creationId xmlns:p14="http://schemas.microsoft.com/office/powerpoint/2010/main" val="2214187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Jess</a:t>
            </a:r>
          </a:p>
          <a:p/>
          <a:p>
            <a:r>
              <a:t>I want to start with the word on this slide that matters most, and it isn't 'finally.' It's alongside.</a:t>
            </a:r>
          </a:p>
          <a:p/>
          <a:p>
            <a:r>
              <a:t>I know what this room is managing. Across these businesses you have EAP coverage. You have behavioral health coverage. Some of your companies have a digital mental health app, a musculoskeletal vendor, a fertility benefit, a navigation layer on top of all of it — and somebody above you asking why the stack keeps growing.</a:t>
            </a:r>
          </a:p>
          <a:p/>
          <a:p>
            <a:r>
              <a:t>So I'm not here to add a fourteenth vendor. I'm here about one condition that every single thing in your stack technically covers and functionally does not reach.</a:t>
            </a:r>
          </a:p>
          <a:p/>
          <a:p>
            <a:r>
              <a:t>I'm Jess Ferretti, VP of Sales at Sobrynth, and before anything else you should know I'm in recovery myself. I say that in rooms like this because the reason this condition doesn't show up in your utilization reports is that people like me learned very early not to raise our hand at work. That's not a benefits design problem. It's a disclosure problem.</a:t>
            </a:r>
          </a:p>
          <a:p/>
          <a:p>
            <a:r>
              <a:t>Two framing notes before I start.</a:t>
            </a:r>
          </a:p>
          <a:p/>
          <a:p>
            <a:r>
              <a:t>First, scope. I'm here about your US entities. Everything I'm proposing today is US-only, so nothing I say depends on how News UK or News Corp Australia are set up.</a:t>
            </a:r>
          </a:p>
          <a:p/>
          <a:p>
            <a:r>
              <a:t>Second — and this is a genuine question, not a setup. You are not one workforce. You are a newsroom, a book publisher, a digital real estate business, a print and distribution operation, and a corporate center. I don't know from the outside whether that sits on one US EAP contract or several, and I'd rather ask than assume: how many EAP contracts are in this room?</a:t>
            </a:r>
          </a:p>
          <a:p/>
          <a:p>
            <a:r>
              <a:t>[Jess: ASK THIS OUT LOUD. Do not assert it. At minimum the Dow Jones IAPE population is collectively bargained, so 'one contract' may well not be true — and being corrected on their own benefits stack in the first ten minutes costs you the room.]</a:t>
            </a:r>
          </a:p>
          <a:p/>
          <a:p>
            <a:r>
              <a:t>Whatever the answer, it points the same way, which is why I'm asking for one company and ninety days rather than a group-wide rollout.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Jess</a:t>
            </a:r>
          </a:p>
          <a:p/>
          <a:p>
            <a:r>
              <a:t>There are three things I hear constantly, and I'd love a show of hands — or put it in the chat — for who has heard these before.</a:t>
            </a:r>
          </a:p>
          <a:p/>
          <a:p>
            <a:r>
              <a:t>One — 'you can tell when someone has a substance use problem.' If you met me with my two kids, my SUV and my very quintessential house in the suburbs, would you know I spent the vast majority of my life struggling with drug use? Probably not. The picture people carry is somebody visibly falling apart. The actual population is functioning, employed, filing on deadline, hitting most of their numbers, and completely invisible until there's an absence, an incident, a claim, or a crisis. By the time it's visible on your dashboard, you're years in.</a:t>
            </a:r>
          </a:p>
          <a:p/>
          <a:p>
            <a:r>
              <a:t>Two — 'if they really wanted help, they'd get it.' This is the one that sounds like common sense and isn't. Fear of stigma, fear of job consequences, cost, confidentiality — and the big one nobody designs for: they're not ready for formal treatment yet. Support has to exist before someone is ready, or it doesn't get used.</a:t>
            </a:r>
          </a:p>
          <a:p/>
          <a:p>
            <a:r>
              <a:t>Three — and this is the one I'd flag hardest for this group — 'our EAP already handles substance use.'</a:t>
            </a:r>
          </a:p>
          <a:p/>
          <a:p>
            <a:r>
              <a:t>Here I want to ask rather than tell, because I genuinely cannot know it from outside: how is EAP structured across your US businesses? One contract, or several?</a:t>
            </a:r>
          </a:p>
          <a:p/>
          <a:p>
            <a:r>
              <a:t>If it's one, it lands in a newsroom, a book publisher, a digital real estate sales floor and a print plant — four completely different disclosure cultures — and it will underperform in at least three of them.</a:t>
            </a:r>
          </a:p>
          <a:p/>
          <a:p>
            <a:r>
              <a:t>If it's several, then nobody in this room holds a single comparable number, and the variation between your businesses is invisible.</a:t>
            </a:r>
          </a:p>
          <a:p/>
          <a:p>
            <a:r>
              <a:t>Either answer lands in the same place: the reporting you get is blended across every condition, so the substance use line has never been broken out on its own. That's ask number two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ighlight>
                  <a:srgbClr val="FFFF00"/>
                </a:highlight>
                <a:ea typeface="Calibri"/>
                <a:cs typeface="Calibri"/>
              </a:rPr>
              <a:t>Jess</a:t>
            </a:r>
          </a:p>
          <a:p>
            <a:endParaRPr lang="en-US">
              <a:highlight>
                <a:srgbClr val="FFFF00"/>
              </a:highlight>
              <a:ea typeface="Calibri"/>
              <a:cs typeface="Calibri"/>
            </a:endParaRPr>
          </a:p>
          <a:p>
            <a:r>
              <a:rPr lang="en-US">
                <a:solidFill>
                  <a:srgbClr val="E5EAE6"/>
                </a:solidFill>
                <a:highlight>
                  <a:srgbClr val="161B17"/>
                </a:highlight>
              </a:rPr>
              <a:t>There's some very new data from Gallup from May of this year with three findings I'd pull out specifically for this group. </a:t>
            </a:r>
            <a:endParaRPr lang="en-US"/>
          </a:p>
          <a:p>
            <a:endParaRPr lang="en-US">
              <a:solidFill>
                <a:srgbClr val="E5EAE6"/>
              </a:solidFill>
              <a:highlight>
                <a:srgbClr val="161B17"/>
              </a:highlight>
              <a:ea typeface="Calibri"/>
              <a:cs typeface="Calibri"/>
            </a:endParaRPr>
          </a:p>
          <a:p>
            <a:r>
              <a:rPr lang="en-US" b="1">
                <a:solidFill>
                  <a:srgbClr val="E5EAE6"/>
                </a:solidFill>
                <a:highlight>
                  <a:srgbClr val="161B17"/>
                </a:highlight>
              </a:rPr>
              <a:t>The first - 56% of Americans would help a struggling colleague, but 31% don't know what to do.</a:t>
            </a:r>
            <a:r>
              <a:rPr lang="en-US">
                <a:solidFill>
                  <a:srgbClr val="E5EAE6"/>
                </a:solidFill>
                <a:highlight>
                  <a:srgbClr val="161B17"/>
                </a:highlight>
              </a:rPr>
              <a:t> The willingness is already inside your buildings. The competence isn't. That's a training problem, and training problems are solvable — which is a much better position than a culture problem.</a:t>
            </a:r>
            <a:endParaRPr lang="en-US"/>
          </a:p>
          <a:p>
            <a:endParaRPr lang="en-US">
              <a:solidFill>
                <a:srgbClr val="E5EAE6"/>
              </a:solidFill>
              <a:highlight>
                <a:srgbClr val="161B17"/>
              </a:highlight>
            </a:endParaRPr>
          </a:p>
          <a:p>
            <a:r>
              <a:rPr lang="en-US" b="1">
                <a:solidFill>
                  <a:srgbClr val="E5EAE6"/>
                </a:solidFill>
                <a:highlight>
                  <a:srgbClr val="161B17"/>
                </a:highlight>
              </a:rPr>
              <a:t>Second - Most employers have no policy infrastructure for this.</a:t>
            </a:r>
            <a:r>
              <a:rPr lang="en-US">
                <a:solidFill>
                  <a:srgbClr val="E5EAE6"/>
                </a:solidFill>
                <a:highlight>
                  <a:srgbClr val="161B17"/>
                </a:highlight>
              </a:rPr>
              <a:t> So even a leader who wants to do the right thing has no procedure. Recovery-friendly intent stays a value statement instead of becoming an operating standard.</a:t>
            </a:r>
            <a:endParaRPr lang="en-US"/>
          </a:p>
          <a:p>
            <a:endParaRPr lang="en-US">
              <a:solidFill>
                <a:srgbClr val="E5EAE6"/>
              </a:solidFill>
              <a:highlight>
                <a:srgbClr val="161B17"/>
              </a:highlight>
            </a:endParaRPr>
          </a:p>
          <a:p>
            <a:r>
              <a:rPr lang="en-US" b="1">
                <a:solidFill>
                  <a:srgbClr val="E5EAE6"/>
                </a:solidFill>
                <a:highlight>
                  <a:srgbClr val="161B17"/>
                </a:highlight>
              </a:rPr>
              <a:t>And then lastly - families carry their own stigma.</a:t>
            </a:r>
            <a:r>
              <a:rPr lang="en-US">
                <a:solidFill>
                  <a:srgbClr val="E5EAE6"/>
                </a:solidFill>
                <a:highlight>
                  <a:srgbClr val="161B17"/>
                </a:highlight>
              </a:rPr>
              <a:t> They're usually the first people to recognize what's happening — and the last to have anywhere to go with it. They see it before any manager does, before any claim does, before anything shows up in your data. And they're carrying their own shame about it at the same time.</a:t>
            </a:r>
            <a:endParaRPr lang="en-US"/>
          </a:p>
          <a:p>
            <a:endParaRPr lang="en-US">
              <a:highlight>
                <a:srgbClr val="FFFF00"/>
              </a:highlight>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Jess</a:t>
            </a:r>
          </a:p>
          <a:p/>
          <a:p>
            <a:r>
              <a:t>Run this against your own census while we talk through it.</a:t>
            </a:r>
          </a:p>
          <a:p/>
          <a:p>
            <a:r>
              <a:t>70% of adults with a substance use disorder hold active jobs. They're on your headcount. They enrolled during open enrollment.</a:t>
            </a:r>
          </a:p>
          <a:p/>
          <a:p>
            <a:r>
              <a:t>1 in 10 of your employees has untreated SUD right now. I'm putting this per thousand rather than quoting you a headcount, because the public News Corp figure is a worldwide number and we are only talking about your US entities today. So take it at whatever scale is yours: per 1,000 employees, 100 people. And here's the number I want you to hold — 4 in 5 of them are never treated. That's 80 of those 100, with nothing in place.</a:t>
            </a:r>
          </a:p>
          <a:p/>
          <a:p>
            <a:r>
              <a:t>Now — 4 in 5 never treated. Not 4 in 5 uncovered. Every one of those people has coverage. They have your medical plan. They have your EAP. Coverage was never the problem. Reach is.</a:t>
            </a:r>
          </a:p>
          <a:p/>
          <a:p>
            <a:r>
              <a:t>Over $8,800 per affected employee per year, up 30% in three years. On a thousand people that's about $880,000 a year. I'm not going to multiply it across your whole US census and put one headline number on the screen, because your operating companies sit on different plans and a blended figure would be fiction. Run it per company. That's ask number one at the end.</a:t>
            </a:r>
          </a:p>
          <a:p/>
          <a:p>
            <a:r>
              <a:t>And it isn't a projection — it's already in your numbers. It's spread across absence, turnover, disability, medical and pharmacy, and never once coded to substance use.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Jess</a:t>
            </a:r>
          </a:p>
          <a:p/>
          <a:p>
            <a:r>
              <a:t>This is the slide to photograph.</a:t>
            </a:r>
          </a:p>
          <a:p/>
          <a:p>
            <a:r>
              <a:t>This is not five employees. It's one person, moving left to right, over about three to five years. Every stage has a price tag, and every price tag lands somewhere in your world.</a:t>
            </a:r>
          </a:p>
          <a:p/>
          <a:p>
            <a:r>
              <a:t>Stage one, a missed deadline. $15,000 in lost output. Nobody does anything — because a missed deadline isn't a crisis, it's a bad quarter. That's the whole problem: stage one never generates a ticket.</a:t>
            </a:r>
          </a:p>
          <a:p/>
          <a:p>
            <a:r>
              <a:t>Stage two, a relationship quietly strains. $20,000 per leave event — continued premium plus backfill. That one is already crossing your desk as a leave request, and nobody codes it to substance use.</a:t>
            </a:r>
          </a:p>
          <a:p/>
          <a:p>
            <a:r>
              <a:t>Stage three — and I re-cut this one for your workforce. In a plant it's a failed screening. In a newsroom or a publishing house it's a resignation nobody probed. Someone good leaves, the exit interview says 'pursuing other opportunities,' and it costs you $30,000 to $45,000 to replace them. Notice this is usually where employers finally act, and acting means losing them. You didn't resolve the exposure. You transferred it to another employer and paid replacement cost for the privilege.</a:t>
            </a:r>
          </a:p>
          <a:p/>
          <a:p>
            <a:r>
              <a:t>Stage four, an incident. $47,316, average lost-time workers' comp claim. And I want to be specific with this room, because most people hear 'media' and picture a desk. You run print plants. You run distribution fleets. You put camera and field crews in unpredictable places. That is a safety-sensitive population inside a company that doesn't usually think of itself as a safety-sensitive employer.</a:t>
            </a:r>
          </a:p>
          <a:p/>
          <a:p>
            <a:r>
              <a:t>And stage five, a body that's had enough — $485,320, the average cost of a single cancer diagnosis to a self-funded plan.</a:t>
            </a:r>
          </a:p>
          <a:p/>
          <a:p>
            <a:r>
              <a:t>Someone just had to catch stage 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ighlight>
                  <a:srgbClr val="FFFF00"/>
                </a:highlight>
              </a:rPr>
              <a:t>Jess</a:t>
            </a:r>
          </a:p>
          <a:p>
            <a:endParaRPr lang="en-US">
              <a:solidFill>
                <a:srgbClr val="E5EAE6"/>
              </a:solidFill>
              <a:highlight>
                <a:srgbClr val="161B17"/>
              </a:highlight>
            </a:endParaRPr>
          </a:p>
          <a:p>
            <a:r>
              <a:rPr lang="en-US">
                <a:solidFill>
                  <a:srgbClr val="E5EAE6"/>
                </a:solidFill>
                <a:highlight>
                  <a:srgbClr val="161B17"/>
                </a:highlight>
              </a:rPr>
              <a:t>Everything we've built in our healthcare system sits at the far right of that chain.</a:t>
            </a:r>
            <a:endParaRPr lang="en-US">
              <a:ea typeface="Calibri"/>
              <a:cs typeface="Calibri"/>
            </a:endParaRPr>
          </a:p>
          <a:p>
            <a:endParaRPr lang="en-US">
              <a:solidFill>
                <a:srgbClr val="E5EAE6"/>
              </a:solidFill>
              <a:highlight>
                <a:srgbClr val="161B17"/>
              </a:highlight>
            </a:endParaRPr>
          </a:p>
          <a:p>
            <a:r>
              <a:rPr lang="en-US">
                <a:solidFill>
                  <a:srgbClr val="E5EAE6"/>
                </a:solidFill>
                <a:highlight>
                  <a:srgbClr val="161B17"/>
                </a:highlight>
              </a:rPr>
              <a:t>Inpatient. Residential. Medication-assisted treatment. Those are stage four and stage five interventions. They're excellent — and they are designed for people already in crisis.</a:t>
            </a:r>
            <a:endParaRPr lang="en-US"/>
          </a:p>
          <a:p>
            <a:endParaRPr lang="en-US">
              <a:solidFill>
                <a:srgbClr val="E5EAE6"/>
              </a:solidFill>
              <a:highlight>
                <a:srgbClr val="161B17"/>
              </a:highlight>
            </a:endParaRPr>
          </a:p>
          <a:p>
            <a:r>
              <a:rPr lang="en-US">
                <a:solidFill>
                  <a:srgbClr val="E5EAE6"/>
                </a:solidFill>
                <a:highlight>
                  <a:srgbClr val="161B17"/>
                </a:highlight>
              </a:rPr>
              <a:t>48.5 million Americans have a substance use disorder. 20% sought treatment last year and only half qualified for inpatient or medication. That means </a:t>
            </a:r>
            <a:r>
              <a:rPr lang="en-US" b="1">
                <a:solidFill>
                  <a:srgbClr val="E5EAE6"/>
                </a:solidFill>
                <a:highlight>
                  <a:srgbClr val="161B17"/>
                </a:highlight>
              </a:rPr>
              <a:t>90% of people who need support cannot find a pathway that matches where they actually are.</a:t>
            </a:r>
            <a:endParaRPr lang="en-US">
              <a:ea typeface="Calibri"/>
              <a:cs typeface="Calibri"/>
            </a:endParaRPr>
          </a:p>
          <a:p>
            <a:endParaRPr lang="en-US" b="1">
              <a:solidFill>
                <a:srgbClr val="E5EAE6"/>
              </a:solidFill>
              <a:highlight>
                <a:srgbClr val="161B17"/>
              </a:highlight>
            </a:endParaRPr>
          </a:p>
          <a:p>
            <a:r>
              <a:rPr lang="en-US">
                <a:solidFill>
                  <a:srgbClr val="E5EAE6"/>
                </a:solidFill>
                <a:highlight>
                  <a:srgbClr val="161B17"/>
                </a:highlight>
              </a:rPr>
              <a:t>Now put that in plan-design terms, because this is the part that should bother you. </a:t>
            </a:r>
            <a:r>
              <a:rPr lang="en-US" b="1">
                <a:solidFill>
                  <a:srgbClr val="E5EAE6"/>
                </a:solidFill>
                <a:highlight>
                  <a:srgbClr val="161B17"/>
                </a:highlight>
              </a:rPr>
              <a:t>Every dollar you currently spend on this condition activates at the moment of highest cost and lowest probability of a good outcome.</a:t>
            </a:r>
            <a:endParaRPr lang="en-US"/>
          </a:p>
          <a:p>
            <a:endParaRPr lang="en-US" b="1">
              <a:solidFill>
                <a:srgbClr val="E5EAE6"/>
              </a:solidFill>
              <a:highlight>
                <a:srgbClr val="161B17"/>
              </a:highlight>
            </a:endParaRPr>
          </a:p>
          <a:p>
            <a:r>
              <a:rPr lang="en-US">
                <a:solidFill>
                  <a:srgbClr val="E5EAE6"/>
                </a:solidFill>
                <a:highlight>
                  <a:srgbClr val="161B17"/>
                </a:highlight>
              </a:rPr>
              <a:t>There is nothing in your benefits stack a person can use at 'I think I'm drinking too much on weeknights.' And that's stage one — the moment where the intervention costs almost nothing and works best.</a:t>
            </a:r>
            <a:endParaRPr lang="en-US"/>
          </a:p>
          <a:p>
            <a:endParaRPr lang="en-US">
              <a:solidFill>
                <a:srgbClr val="E5EAE6"/>
              </a:solidFill>
              <a:highlight>
                <a:srgbClr val="161B17"/>
              </a:highlight>
            </a:endParaRPr>
          </a:p>
          <a:p>
            <a:r>
              <a:rPr lang="en-US">
                <a:solidFill>
                  <a:srgbClr val="E5EAE6"/>
                </a:solidFill>
                <a:highlight>
                  <a:srgbClr val="161B17"/>
                </a:highlight>
              </a:rPr>
              <a:t>So it isn't that nobody catches stage one because they don't care. It's that we never built anything that </a:t>
            </a:r>
            <a:r>
              <a:rPr lang="en-US" i="1">
                <a:solidFill>
                  <a:srgbClr val="E5EAE6"/>
                </a:solidFill>
                <a:highlight>
                  <a:srgbClr val="161B17"/>
                </a:highlight>
              </a:rPr>
              <a:t>lives</a:t>
            </a:r>
            <a:r>
              <a:rPr lang="en-US">
                <a:solidFill>
                  <a:srgbClr val="E5EAE6"/>
                </a:solidFill>
                <a:highlight>
                  <a:srgbClr val="161B17"/>
                </a:highlight>
              </a:rPr>
              <a:t> at stage one</a:t>
            </a:r>
            <a:endParaRPr lang="en-US"/>
          </a:p>
          <a:p>
            <a:endParaRPr lang="en-US">
              <a:highlight>
                <a:srgbClr val="FFFF00"/>
              </a:highlight>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ighlight>
                  <a:srgbClr val="FFFF00"/>
                </a:highlight>
              </a:rPr>
              <a:t>Jess</a:t>
            </a:r>
            <a:endParaRPr lang="en-US">
              <a:highlight>
                <a:srgbClr val="FFFF00"/>
              </a:highlight>
              <a:ea typeface="Calibri" panose="020F0502020204030204"/>
              <a:cs typeface="Calibri" panose="020F0502020204030204"/>
            </a:endParaRPr>
          </a:p>
          <a:p>
            <a:endParaRPr lang="en-US">
              <a:highlight>
                <a:srgbClr val="FFFF00"/>
              </a:highlight>
              <a:ea typeface="Calibri" panose="020F0502020204030204"/>
              <a:cs typeface="Calibri" panose="020F0502020204030204"/>
            </a:endParaRPr>
          </a:p>
          <a:p>
            <a:r>
              <a:rPr lang="en-US">
                <a:solidFill>
                  <a:srgbClr val="E5EAE6"/>
                </a:solidFill>
                <a:highlight>
                  <a:srgbClr val="161B17"/>
                </a:highlight>
              </a:rPr>
              <a:t>So, what does genuine, live-experience substance us support actually look like then? This.</a:t>
            </a:r>
            <a:endParaRPr lang="en-US">
              <a:solidFill>
                <a:srgbClr val="000000"/>
              </a:solidFill>
            </a:endParaRPr>
          </a:p>
          <a:p>
            <a:endParaRPr lang="en-US">
              <a:solidFill>
                <a:srgbClr val="E5EAE6"/>
              </a:solidFill>
              <a:highlight>
                <a:srgbClr val="161B17"/>
              </a:highlight>
            </a:endParaRPr>
          </a:p>
          <a:p>
            <a:r>
              <a:rPr lang="en-US">
                <a:solidFill>
                  <a:srgbClr val="E5EAE6"/>
                </a:solidFill>
                <a:highlight>
                  <a:srgbClr val="161B17"/>
                </a:highlight>
              </a:rPr>
              <a:t>We don't push people down one path — we meet them where they are and walk with them through whatever makes sense for them. All of these are valid ways to get sober. Not just therapy. Not just inpatient. Not just an EAP referral.</a:t>
            </a:r>
            <a:endParaRPr lang="en-US">
              <a:ea typeface="Calibri"/>
              <a:cs typeface="Calibri"/>
            </a:endParaRPr>
          </a:p>
          <a:p>
            <a:endParaRPr lang="en-US">
              <a:solidFill>
                <a:srgbClr val="E5EAE6"/>
              </a:solidFill>
              <a:highlight>
                <a:srgbClr val="161B17"/>
              </a:highlight>
            </a:endParaRPr>
          </a:p>
          <a:p>
            <a:r>
              <a:rPr lang="en-US">
                <a:solidFill>
                  <a:srgbClr val="E5EAE6"/>
                </a:solidFill>
                <a:highlight>
                  <a:srgbClr val="161B17"/>
                </a:highlight>
              </a:rPr>
              <a:t>For some people it starts with getting sober-curious. Peer coaching. Family support. A community group. Somebody to talk to at two in the morning when it's about to spiral. T</a:t>
            </a:r>
            <a:r>
              <a:rPr lang="en-US" b="1">
                <a:solidFill>
                  <a:srgbClr val="E5EAE6"/>
                </a:solidFill>
                <a:highlight>
                  <a:srgbClr val="161B17"/>
                </a:highlight>
              </a:rPr>
              <a:t>hat's stage one.</a:t>
            </a:r>
            <a:r>
              <a:rPr lang="en-US">
                <a:solidFill>
                  <a:srgbClr val="E5EAE6"/>
                </a:solidFill>
                <a:highlight>
                  <a:srgbClr val="161B17"/>
                </a:highlight>
              </a:rPr>
              <a:t> For others it's outpatient, IOP, or intensive clinical care. The problem today is that no single system helps someone navigate across all of it — so people get pushed into the wrong level of care, or they fall through entirely.</a:t>
            </a:r>
            <a:endParaRPr lang="en-US"/>
          </a:p>
          <a:p>
            <a:endParaRPr lang="en-US">
              <a:solidFill>
                <a:srgbClr val="E5EAE6"/>
              </a:solidFill>
              <a:highlight>
                <a:srgbClr val="161B17"/>
              </a:highlight>
            </a:endParaRPr>
          </a:p>
          <a:p>
            <a:r>
              <a:rPr lang="en-US">
                <a:solidFill>
                  <a:srgbClr val="E5EAE6"/>
                </a:solidFill>
                <a:highlight>
                  <a:srgbClr val="161B17"/>
                </a:highlight>
              </a:rPr>
              <a:t>And now the part I want this room specifically to hear, because it's the part that surprises benefits leaders. </a:t>
            </a:r>
            <a:r>
              <a:rPr lang="en-US" b="1">
                <a:solidFill>
                  <a:srgbClr val="E5EAE6"/>
                </a:solidFill>
                <a:highlight>
                  <a:srgbClr val="161B17"/>
                </a:highlight>
              </a:rPr>
              <a:t>We are not insurance-based.</a:t>
            </a:r>
            <a:endParaRPr lang="en-US"/>
          </a:p>
          <a:p>
            <a:endParaRPr lang="en-US" b="1">
              <a:solidFill>
                <a:srgbClr val="E5EAE6"/>
              </a:solidFill>
              <a:highlight>
                <a:srgbClr val="161B17"/>
              </a:highlight>
            </a:endParaRPr>
          </a:p>
          <a:p>
            <a:r>
              <a:rPr lang="en-US">
                <a:solidFill>
                  <a:srgbClr val="E5EAE6"/>
                </a:solidFill>
                <a:highlight>
                  <a:srgbClr val="161B17"/>
                </a:highlight>
              </a:rPr>
              <a:t>No claim. No network. No deductible. No prior authorization. Nothing hits your plan.</a:t>
            </a:r>
            <a:endParaRPr lang="en-US"/>
          </a:p>
          <a:p>
            <a:endParaRPr lang="en-US">
              <a:solidFill>
                <a:srgbClr val="E5EAE6"/>
              </a:solidFill>
              <a:highlight>
                <a:srgbClr val="161B17"/>
              </a:highlight>
            </a:endParaRPr>
          </a:p>
          <a:p>
            <a:r>
              <a:rPr lang="en-US">
                <a:solidFill>
                  <a:srgbClr val="E5EAE6"/>
                </a:solidFill>
                <a:highlight>
                  <a:srgbClr val="161B17"/>
                </a:highlight>
              </a:rPr>
              <a:t>Which means we can support people you currently </a:t>
            </a:r>
            <a:r>
              <a:rPr lang="en-US" i="1">
                <a:solidFill>
                  <a:srgbClr val="E5EAE6"/>
                </a:solidFill>
                <a:highlight>
                  <a:srgbClr val="161B17"/>
                </a:highlight>
              </a:rPr>
              <a:t>cannot reach no matter how good your plan design is.</a:t>
            </a:r>
            <a:r>
              <a:rPr lang="en-US">
                <a:solidFill>
                  <a:srgbClr val="E5EAE6"/>
                </a:solidFill>
                <a:highlight>
                  <a:srgbClr val="161B17"/>
                </a:highlight>
              </a:rPr>
              <a:t> Your part-time and hourly workforce. Employees who waived coverage. Someone on a spouse's plan. And — going back to that families number — </a:t>
            </a:r>
            <a:r>
              <a:rPr lang="en-US" b="1">
                <a:solidFill>
                  <a:srgbClr val="E5EAE6"/>
                </a:solidFill>
                <a:highlight>
                  <a:srgbClr val="161B17"/>
                </a:highlight>
              </a:rPr>
              <a:t>family members who have never been on your plan at all.</a:t>
            </a:r>
            <a:endParaRPr lang="en-US"/>
          </a:p>
          <a:p>
            <a:endParaRPr lang="en-US" b="1">
              <a:solidFill>
                <a:srgbClr val="E5EAE6"/>
              </a:solidFill>
              <a:highlight>
                <a:srgbClr val="161B17"/>
              </a:highlight>
            </a:endParaRPr>
          </a:p>
          <a:p>
            <a:r>
              <a:rPr lang="en-US">
                <a:solidFill>
                  <a:srgbClr val="E5EAE6"/>
                </a:solidFill>
                <a:highlight>
                  <a:srgbClr val="161B17"/>
                </a:highlight>
              </a:rPr>
              <a:t>That's a coverage gap most of you already know you have and have never had a tool for. It's also a big part of why our engagement numbers look the way they do. And it's why health plans have started paying attention — because people who get the right support at stage 1 don't turn into the $485,000 claim on the right edge of the last one.</a:t>
            </a:r>
            <a:endParaRPr lang="en-US"/>
          </a:p>
          <a:p>
            <a:endParaRPr lang="en-US">
              <a:highlight>
                <a:srgbClr val="FFFF00"/>
              </a:highlight>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766580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ighlight>
                  <a:srgbClr val="FFFF00"/>
                </a:highlight>
                <a:ea typeface="Calibri"/>
                <a:cs typeface="Calibri"/>
              </a:rPr>
              <a:t>Marin</a:t>
            </a:r>
          </a:p>
          <a:p>
            <a:endParaRPr lang="en-US">
              <a:highlight>
                <a:srgbClr val="FFFF00"/>
              </a:highlight>
              <a:ea typeface="Calibri"/>
              <a:cs typeface="Calibri"/>
            </a:endParaRPr>
          </a:p>
          <a:p>
            <a:r>
              <a:rPr lang="en-US">
                <a:solidFill>
                  <a:srgbClr val="E5EAE6"/>
                </a:solidFill>
                <a:highlight>
                  <a:srgbClr val="161B17"/>
                </a:highlight>
              </a:rPr>
              <a:t>Two differences on this slide.</a:t>
            </a:r>
            <a:endParaRPr lang="en-US"/>
          </a:p>
          <a:p>
            <a:endParaRPr lang="en-US">
              <a:solidFill>
                <a:srgbClr val="E5EAE6"/>
              </a:solidFill>
              <a:highlight>
                <a:srgbClr val="161B17"/>
              </a:highlight>
            </a:endParaRPr>
          </a:p>
          <a:p>
            <a:r>
              <a:rPr lang="en-US">
                <a:solidFill>
                  <a:srgbClr val="E5EAE6"/>
                </a:solidFill>
                <a:highlight>
                  <a:srgbClr val="161B17"/>
                </a:highlight>
              </a:rPr>
              <a:t>First, the timeline. Every other workplace SUD benefit switches on </a:t>
            </a:r>
            <a:r>
              <a:rPr lang="en-US" i="1">
                <a:solidFill>
                  <a:srgbClr val="E5EAE6"/>
                </a:solidFill>
                <a:highlight>
                  <a:srgbClr val="161B17"/>
                </a:highlight>
              </a:rPr>
              <a:t>during</a:t>
            </a:r>
            <a:r>
              <a:rPr lang="en-US">
                <a:solidFill>
                  <a:srgbClr val="E5EAE6"/>
                </a:solidFill>
                <a:highlight>
                  <a:srgbClr val="161B17"/>
                </a:highlight>
              </a:rPr>
              <a:t> treatment and switches off after. But before and after are where this condition actually lives — the slow slide in, and the relapse risk on the way out. Recovery isn't an episode of care. Your benefits stack is built almost entirely out of episodes of care.</a:t>
            </a:r>
            <a:endParaRPr lang="en-US"/>
          </a:p>
          <a:p>
            <a:r>
              <a:rPr lang="en-US">
                <a:solidFill>
                  <a:srgbClr val="E5EAE6"/>
                </a:solidFill>
                <a:highlight>
                  <a:srgbClr val="161B17"/>
                </a:highlight>
              </a:rPr>
              <a:t>Second, look at who's covered. Employee. Family. Manager.</a:t>
            </a:r>
            <a:endParaRPr lang="en-US"/>
          </a:p>
          <a:p>
            <a:endParaRPr lang="en-US">
              <a:solidFill>
                <a:srgbClr val="E5EAE6"/>
              </a:solidFill>
              <a:highlight>
                <a:srgbClr val="161B17"/>
              </a:highlight>
            </a:endParaRPr>
          </a:p>
          <a:p>
            <a:r>
              <a:rPr lang="en-US" b="1">
                <a:solidFill>
                  <a:srgbClr val="E5EAE6"/>
                </a:solidFill>
                <a:highlight>
                  <a:srgbClr val="161B17"/>
                </a:highlight>
              </a:rPr>
              <a:t>Family — and this is the third time families have come up in twenty minutes, which is deliberate.</a:t>
            </a:r>
            <a:r>
              <a:rPr lang="en-US">
                <a:solidFill>
                  <a:srgbClr val="E5EAE6"/>
                </a:solidFill>
                <a:highlight>
                  <a:srgbClr val="161B17"/>
                </a:highlight>
              </a:rPr>
              <a:t> Gallup says they see it first. Two in three American families are living with it. And the spouse knows roughly two years before the employer does. So they are simultaneously your earliest possible detection point and, in many cases, your own plan members. Give them somewhere to call and you have moved detection years upstream on a person you are already insuring.</a:t>
            </a:r>
            <a:endParaRPr lang="en-US"/>
          </a:p>
          <a:p>
            <a:endParaRPr lang="en-US">
              <a:solidFill>
                <a:srgbClr val="E5EAE6"/>
              </a:solidFill>
              <a:highlight>
                <a:srgbClr val="161B17"/>
              </a:highlight>
            </a:endParaRPr>
          </a:p>
          <a:p>
            <a:r>
              <a:rPr lang="en-US" b="1">
                <a:solidFill>
                  <a:srgbClr val="E5EAE6"/>
                </a:solidFill>
                <a:highlight>
                  <a:srgbClr val="161B17"/>
                </a:highlight>
              </a:rPr>
              <a:t>Manager, because your people leaders are the ones who'll see stage one.</a:t>
            </a:r>
            <a:r>
              <a:rPr lang="en-US">
                <a:solidFill>
                  <a:srgbClr val="E5EAE6"/>
                </a:solidFill>
                <a:highlight>
                  <a:srgbClr val="161B17"/>
                </a:highlight>
              </a:rPr>
              <a:t> Right now they have exactly two options: ignore it, or send it to HR. And everyone in the building knows what it means when something goes to HR. So they pick option one, every time, and I don't blame them — nobody ever taught them a third option.</a:t>
            </a:r>
            <a:endParaRPr lang="en-US"/>
          </a:p>
          <a:p>
            <a:endParaRPr lang="en-US">
              <a:solidFill>
                <a:srgbClr val="E5EAE6"/>
              </a:solidFill>
              <a:highlight>
                <a:srgbClr val="161B17"/>
              </a:highlight>
            </a:endParaRPr>
          </a:p>
          <a:p>
            <a:r>
              <a:rPr lang="en-US">
                <a:solidFill>
                  <a:srgbClr val="E5EAE6"/>
                </a:solidFill>
                <a:highlight>
                  <a:srgbClr val="161B17"/>
                </a:highlight>
              </a:rPr>
              <a:t>And the left three columns are zero dollars. No cost, no claim, no clinical trigger, no eligibility check. Which means the interruption happens where it's cheapest — in every sense of that word.</a:t>
            </a:r>
            <a:endParaRPr lang="en-US"/>
          </a:p>
          <a:p>
            <a:endParaRPr lang="en-US">
              <a:highlight>
                <a:srgbClr val="FFFF00"/>
              </a:highlight>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ea typeface="Calibri"/>
                <a:cs typeface="Calibri"/>
              </a:rPr>
              <a:t>Marin</a:t>
            </a:r>
          </a:p>
          <a:p>
            <a:endParaRPr lang="en-US" dirty="0">
              <a:highlight>
                <a:srgbClr val="FFFF00"/>
              </a:highlight>
              <a:ea typeface="Calibri"/>
              <a:cs typeface="Calibri"/>
            </a:endParaRPr>
          </a:p>
          <a:p>
            <a:r>
              <a:rPr lang="en-US" dirty="0">
                <a:solidFill>
                  <a:srgbClr val="E5EAE6"/>
                </a:solidFill>
                <a:highlight>
                  <a:srgbClr val="161B17"/>
                </a:highlight>
              </a:rPr>
              <a:t>Four things working together.</a:t>
            </a:r>
            <a:endParaRPr lang="en-US" dirty="0"/>
          </a:p>
          <a:p>
            <a:endParaRPr lang="en-US" dirty="0">
              <a:solidFill>
                <a:srgbClr val="E5EAE6"/>
              </a:solidFill>
              <a:highlight>
                <a:srgbClr val="161B17"/>
              </a:highlight>
            </a:endParaRPr>
          </a:p>
          <a:p>
            <a:r>
              <a:rPr lang="en-US" b="1" dirty="0">
                <a:solidFill>
                  <a:srgbClr val="E5EAE6"/>
                </a:solidFill>
                <a:highlight>
                  <a:srgbClr val="161B17"/>
                </a:highlight>
              </a:rPr>
              <a:t>A 90-day Recovery-Friendly Workplace activation</a:t>
            </a:r>
            <a:r>
              <a:rPr lang="en-US" dirty="0">
                <a:solidFill>
                  <a:srgbClr val="E5EAE6"/>
                </a:solidFill>
                <a:highlight>
                  <a:srgbClr val="161B17"/>
                </a:highlight>
              </a:rPr>
              <a:t> — customized communications, training for people leaders, a sober ERG framework. This is the part that makes it culturally safe to ask before there's a crisis. It's also the part that most benefits programs skip, which is why most benefits programs sit at two percent utilization.</a:t>
            </a:r>
            <a:endParaRPr lang="en-US" dirty="0"/>
          </a:p>
          <a:p>
            <a:endParaRPr lang="en-US" dirty="0">
              <a:solidFill>
                <a:srgbClr val="E5EAE6"/>
              </a:solidFill>
              <a:highlight>
                <a:srgbClr val="161B17"/>
              </a:highlight>
            </a:endParaRPr>
          </a:p>
          <a:p>
            <a:r>
              <a:rPr lang="en-US" b="1" dirty="0">
                <a:solidFill>
                  <a:srgbClr val="E5EAE6"/>
                </a:solidFill>
                <a:highlight>
                  <a:srgbClr val="161B17"/>
                </a:highlight>
              </a:rPr>
              <a:t>24/7 care navigation.</a:t>
            </a:r>
            <a:r>
              <a:rPr lang="en-US" dirty="0">
                <a:solidFill>
                  <a:srgbClr val="E5EAE6"/>
                </a:solidFill>
                <a:highlight>
                  <a:srgbClr val="161B17"/>
                </a:highlight>
              </a:rPr>
              <a:t> Dedicated line, employer-specific code, concierge support — a person, not a portal. Anonymous. </a:t>
            </a:r>
            <a:r>
              <a:rPr lang="en-US" b="1" dirty="0">
                <a:solidFill>
                  <a:srgbClr val="E5EAE6"/>
                </a:solidFill>
                <a:highlight>
                  <a:srgbClr val="161B17"/>
                </a:highlight>
              </a:rPr>
              <a:t>No names shared with HR. No claims filed.</a:t>
            </a:r>
            <a:r>
              <a:rPr lang="en-US" dirty="0">
                <a:solidFill>
                  <a:srgbClr val="E5EAE6"/>
                </a:solidFill>
                <a:highlight>
                  <a:srgbClr val="161B17"/>
                </a:highlight>
              </a:rPr>
              <a:t> Employees and families.</a:t>
            </a:r>
            <a:endParaRPr lang="en-US" dirty="0"/>
          </a:p>
          <a:p>
            <a:endParaRPr lang="en-US" dirty="0">
              <a:solidFill>
                <a:srgbClr val="E5EAE6"/>
              </a:solidFill>
              <a:highlight>
                <a:srgbClr val="161B17"/>
              </a:highlight>
              <a:ea typeface="Calibri"/>
              <a:cs typeface="Calibri"/>
            </a:endParaRPr>
          </a:p>
          <a:p>
            <a:r>
              <a:rPr lang="en-US" b="1" dirty="0">
                <a:solidFill>
                  <a:srgbClr val="E5EAE6"/>
                </a:solidFill>
                <a:highlight>
                  <a:srgbClr val="161B17"/>
                </a:highlight>
              </a:rPr>
              <a:t>Certified peer recovery coaches</a:t>
            </a:r>
            <a:r>
              <a:rPr lang="en-US" dirty="0">
                <a:solidFill>
                  <a:srgbClr val="E5EAE6"/>
                </a:solidFill>
                <a:highlight>
                  <a:srgbClr val="161B17"/>
                </a:highlight>
              </a:rPr>
              <a:t>, every one in recovery themselves, at every acuity level, with uncapped sessions. And I want to be precise about uncapped: no session limit, no additional cost. Compare that to three to six EAP sessions — which is exactly enough time to build trust and then take it away.</a:t>
            </a:r>
            <a:endParaRPr lang="en-US" dirty="0"/>
          </a:p>
          <a:p>
            <a:r>
              <a:rPr lang="en-US" b="1" dirty="0">
                <a:solidFill>
                  <a:srgbClr val="E5EAE6"/>
                </a:solidFill>
                <a:highlight>
                  <a:srgbClr val="161B17"/>
                </a:highlight>
              </a:rPr>
              <a:t>And the </a:t>
            </a:r>
            <a:r>
              <a:rPr lang="en-US" b="1" dirty="0" err="1">
                <a:solidFill>
                  <a:srgbClr val="E5EAE6"/>
                </a:solidFill>
                <a:highlight>
                  <a:srgbClr val="161B17"/>
                </a:highlight>
              </a:rPr>
              <a:t>SOBRPath</a:t>
            </a:r>
            <a:r>
              <a:rPr lang="en-US" b="1" dirty="0">
                <a:solidFill>
                  <a:srgbClr val="E5EAE6"/>
                </a:solidFill>
                <a:highlight>
                  <a:srgbClr val="161B17"/>
                </a:highlight>
              </a:rPr>
              <a:t> platform</a:t>
            </a:r>
            <a:r>
              <a:rPr lang="en-US" dirty="0">
                <a:solidFill>
                  <a:srgbClr val="E5EAE6"/>
                </a:solidFill>
                <a:highlight>
                  <a:srgbClr val="161B17"/>
                </a:highlight>
              </a:rPr>
              <a:t> for confidential self-service, whenever someone's ready.</a:t>
            </a:r>
            <a:endParaRPr lang="en-US" dirty="0"/>
          </a:p>
          <a:p>
            <a:endParaRPr lang="en-US" dirty="0">
              <a:solidFill>
                <a:srgbClr val="E5EAE6"/>
              </a:solidFill>
              <a:highlight>
                <a:srgbClr val="161B17"/>
              </a:highlight>
            </a:endParaRPr>
          </a:p>
          <a:p>
            <a:r>
              <a:rPr lang="en-US" dirty="0">
                <a:solidFill>
                  <a:srgbClr val="E5EAE6"/>
                </a:solidFill>
                <a:highlight>
                  <a:srgbClr val="161B17"/>
                </a:highlight>
              </a:rPr>
              <a:t>Underneath all four is a tiered engagement model, and this is the part your CFO will care about: </a:t>
            </a:r>
            <a:r>
              <a:rPr lang="en-US" b="1" dirty="0">
                <a:solidFill>
                  <a:srgbClr val="E5EAE6"/>
                </a:solidFill>
                <a:highlight>
                  <a:srgbClr val="161B17"/>
                </a:highlight>
              </a:rPr>
              <a:t>the roughly 80% with lower-acuity needs get served through peer coaching and navigation at low cost. The 20% with higher-acuity needs get routed to the right level of clinical care</a:t>
            </a:r>
            <a:r>
              <a:rPr lang="en-US" dirty="0">
                <a:solidFill>
                  <a:srgbClr val="E5EAE6"/>
                </a:solidFill>
                <a:highlight>
                  <a:srgbClr val="161B17"/>
                </a:highlight>
              </a:rPr>
              <a:t> — not the most expensive one, the right one. One benefit, matched to need, instead of one-size-fits-all.</a:t>
            </a:r>
            <a:endParaRPr lang="en-US" dirty="0"/>
          </a:p>
          <a:p>
            <a:endParaRPr lang="en-US" dirty="0">
              <a:solidFill>
                <a:srgbClr val="E5EAE6"/>
              </a:solidFill>
              <a:highlight>
                <a:srgbClr val="161B17"/>
              </a:highlight>
            </a:endParaRPr>
          </a:p>
          <a:p>
            <a:r>
              <a:rPr lang="en-US" dirty="0">
                <a:solidFill>
                  <a:srgbClr val="E5EAE6"/>
                </a:solidFill>
                <a:highlight>
                  <a:srgbClr val="161B17"/>
                </a:highlight>
              </a:rPr>
              <a:t>And the key word, again — </a:t>
            </a:r>
            <a:r>
              <a:rPr lang="en-US" b="1" dirty="0">
                <a:solidFill>
                  <a:srgbClr val="E5EAE6"/>
                </a:solidFill>
                <a:highlight>
                  <a:srgbClr val="161B17"/>
                </a:highlight>
              </a:rPr>
              <a:t>alongside.</a:t>
            </a:r>
            <a:r>
              <a:rPr lang="en-US" dirty="0">
                <a:solidFill>
                  <a:srgbClr val="E5EAE6"/>
                </a:solidFill>
                <a:highlight>
                  <a:srgbClr val="161B17"/>
                </a:highlight>
              </a:rPr>
              <a:t> We sit next to your EAP and your behavioral health vendor. We don't replace them, and I'd be suspicious of anyone who told you they could.</a:t>
            </a:r>
            <a:endParaRPr lang="en-US" dirty="0"/>
          </a:p>
          <a:p>
            <a:endParaRPr lang="en-US" dirty="0">
              <a:highlight>
                <a:srgbClr val="FFFF00"/>
              </a:highlight>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ea typeface="Calibri"/>
                <a:cs typeface="Calibri"/>
              </a:rPr>
              <a:t>Marin</a:t>
            </a:r>
          </a:p>
          <a:p>
            <a:endParaRPr lang="en-US" dirty="0">
              <a:highlight>
                <a:srgbClr val="FFFF00"/>
              </a:highlight>
              <a:ea typeface="Calibri"/>
              <a:cs typeface="Calibri"/>
            </a:endParaRPr>
          </a:p>
          <a:p>
            <a:r>
              <a:rPr lang="en-US" dirty="0">
                <a:solidFill>
                  <a:srgbClr val="E5EAE6"/>
                </a:solidFill>
                <a:highlight>
                  <a:srgbClr val="161B17"/>
                </a:highlight>
              </a:rPr>
              <a:t>Ninety days, kickoff to live, and it's done for you. First thirty we learn your culture and agree on success metrics with your team. Thirty-one to sixty we train leaders and peer champions, build the materials, stand up the line. Sixty-one to ninety, employees and families have 24/7 access and you start seeing engagement in quarterly reporting.</a:t>
            </a:r>
            <a:endParaRPr lang="en-US" dirty="0"/>
          </a:p>
          <a:p>
            <a:endParaRPr lang="en-US" dirty="0">
              <a:solidFill>
                <a:srgbClr val="E5EAE6"/>
              </a:solidFill>
              <a:highlight>
                <a:srgbClr val="161B17"/>
              </a:highlight>
            </a:endParaRPr>
          </a:p>
          <a:p>
            <a:r>
              <a:rPr lang="en-US" dirty="0">
                <a:solidFill>
                  <a:srgbClr val="E5EAE6"/>
                </a:solidFill>
                <a:highlight>
                  <a:srgbClr val="161B17"/>
                </a:highlight>
              </a:rPr>
              <a:t>Let me say the quiet part, because I've watched it kill good programs. </a:t>
            </a:r>
            <a:r>
              <a:rPr lang="en-US" b="1" dirty="0">
                <a:solidFill>
                  <a:srgbClr val="E5EAE6"/>
                </a:solidFill>
                <a:highlight>
                  <a:srgbClr val="161B17"/>
                </a:highlight>
              </a:rPr>
              <a:t>The number one reason a benefit like this dies isn't budget. It's that your team doesn't have the bandwidth to launch it.</a:t>
            </a:r>
            <a:r>
              <a:rPr lang="en-US" dirty="0">
                <a:solidFill>
                  <a:srgbClr val="E5EAE6"/>
                </a:solidFill>
                <a:highlight>
                  <a:srgbClr val="161B17"/>
                </a:highlight>
              </a:rPr>
              <a:t> You're running open enrollment, you're mid-renewal, you're short a person, and the new thing needs eight hours of internal comms nobody has.</a:t>
            </a:r>
            <a:endParaRPr lang="en-US" dirty="0"/>
          </a:p>
          <a:p>
            <a:endParaRPr lang="en-US" dirty="0">
              <a:solidFill>
                <a:srgbClr val="E5EAE6"/>
              </a:solidFill>
              <a:highlight>
                <a:srgbClr val="161B17"/>
              </a:highlight>
            </a:endParaRPr>
          </a:p>
          <a:p>
            <a:r>
              <a:rPr lang="en-US" dirty="0">
                <a:solidFill>
                  <a:srgbClr val="E5EAE6"/>
                </a:solidFill>
                <a:highlight>
                  <a:srgbClr val="161B17"/>
                </a:highlight>
              </a:rPr>
              <a:t>So we write the trainings. We build the templates. We deliver the communications. Your team's job is to show up and give us your leaders for a session.</a:t>
            </a:r>
            <a:endParaRPr lang="en-US" dirty="0"/>
          </a:p>
          <a:p>
            <a:endParaRPr lang="en-US" dirty="0">
              <a:solidFill>
                <a:srgbClr val="E5EAE6"/>
              </a:solidFill>
              <a:highlight>
                <a:srgbClr val="161B17"/>
              </a:highlight>
            </a:endParaRPr>
          </a:p>
          <a:p>
            <a:r>
              <a:rPr lang="en-US" dirty="0">
                <a:solidFill>
                  <a:srgbClr val="E5EAE6"/>
                </a:solidFill>
                <a:highlight>
                  <a:srgbClr val="161B17"/>
                </a:highlight>
              </a:rPr>
              <a:t>And after day 90 there's an Employer Hub with a monthly communications toolkit — because awareness that isn't refreshed decays inside one quarter. That's the difference between 100% awareness and a program everyone forgets by March.</a:t>
            </a:r>
            <a:endParaRPr lang="en-US" dirty="0"/>
          </a:p>
          <a:p>
            <a:endParaRPr lang="en-US" dirty="0">
              <a:solidFill>
                <a:schemeClr val="bg1"/>
              </a:solidFill>
              <a:highlight>
                <a:srgbClr val="000000"/>
              </a:highlight>
              <a:ea typeface="Calibri"/>
              <a:cs typeface="Calibri"/>
            </a:endParaRPr>
          </a:p>
          <a:p>
            <a:r>
              <a:rPr lang="en-US" dirty="0">
                <a:solidFill>
                  <a:schemeClr val="bg1"/>
                </a:solidFill>
                <a:highlight>
                  <a:srgbClr val="000000"/>
                </a:highlight>
                <a:ea typeface="Calibri"/>
                <a:cs typeface="Calibri"/>
              </a:rPr>
              <a:t>Before we keep going, I want to throw a question out to the group: What percentage of your employees used your EAP last year – for any reason?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t>
            </a:r>
            <a:r>
              <a:rPr lang="en-US" dirty="0" err="1"/>
              <a:t>SOBRPath</a:t>
            </a:r>
            <a:r>
              <a:rPr lang="en-US" dirty="0"/>
              <a:t> as the self-serve layer alongside human coaching.</a:t>
            </a:r>
          </a:p>
          <a:p>
            <a:endParaRPr lang="en-US" dirty="0"/>
          </a:p>
          <a:p>
            <a:pPr rtl="0"/>
            <a:r>
              <a:rPr lang="en-US" dirty="0" err="1"/>
              <a:t>SOBRPath</a:t>
            </a:r>
            <a:r>
              <a:rPr lang="en-US" dirty="0"/>
              <a:t> is the self-serve layer underneath all of this, and it won a Stevie Award in 2025. It gives employees and families a resource directory covering every care pathway, in all fifty states. It gives them a place to track sober days, read real recovery stories, and find answers without having to ask a single person first.</a:t>
            </a:r>
          </a:p>
          <a:p>
            <a:pPr rtl="0"/>
            <a:r>
              <a:rPr lang="en-US" dirty="0"/>
              <a:t>And when someone is ready to talk to a human, they choose their own peer coach, someone who is in recovery themselves, matched to their specific needs. Self-service when you want privacy, real human connection the moment you want it. That choice is the point.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ighlight>
                  <a:srgbClr val="FFFF00"/>
                </a:highlight>
                <a:ea typeface="Calibri"/>
                <a:cs typeface="Calibri"/>
              </a:rPr>
              <a:t>Marin</a:t>
            </a:r>
          </a:p>
          <a:p>
            <a:endParaRPr lang="en-US" dirty="0">
              <a:highlight>
                <a:srgbClr val="FFFF00"/>
              </a:highlight>
              <a:ea typeface="Calibri"/>
              <a:cs typeface="Calibri"/>
            </a:endParaRPr>
          </a:p>
          <a:p>
            <a:r>
              <a:rPr lang="en-US" dirty="0">
                <a:solidFill>
                  <a:srgbClr val="E5EAE6"/>
                </a:solidFill>
                <a:highlight>
                  <a:srgbClr val="161B17"/>
                </a:highlight>
              </a:rPr>
              <a:t>Two to five percent. For everything — mental health, financial, legal, marital, substance, all of it. And nobody's angry about it, because it costs almost nothing per employee. Which is exactly why nobody has ever asked why it doesn't work.</a:t>
            </a:r>
            <a:endParaRPr lang="en-US" dirty="0"/>
          </a:p>
          <a:p>
            <a:endParaRPr lang="en-US" dirty="0">
              <a:solidFill>
                <a:srgbClr val="E5EAE6"/>
              </a:solidFill>
              <a:highlight>
                <a:srgbClr val="161B17"/>
              </a:highlight>
            </a:endParaRPr>
          </a:p>
          <a:p>
            <a:r>
              <a:rPr lang="en-US" dirty="0">
                <a:solidFill>
                  <a:srgbClr val="E5EAE6"/>
                </a:solidFill>
                <a:highlight>
                  <a:srgbClr val="161B17"/>
                </a:highlight>
              </a:rPr>
              <a:t>Here's ours. </a:t>
            </a:r>
            <a:r>
              <a:rPr lang="en-US" b="1" dirty="0">
                <a:solidFill>
                  <a:srgbClr val="E5EAE6"/>
                </a:solidFill>
                <a:highlight>
                  <a:srgbClr val="161B17"/>
                </a:highlight>
              </a:rPr>
              <a:t>100% employee awareness</a:t>
            </a:r>
            <a:r>
              <a:rPr lang="en-US" dirty="0">
                <a:solidFill>
                  <a:srgbClr val="E5EAE6"/>
                </a:solidFill>
                <a:highlight>
                  <a:srgbClr val="161B17"/>
                </a:highlight>
              </a:rPr>
              <a:t> after the 90-day activation. </a:t>
            </a:r>
            <a:r>
              <a:rPr lang="en-US" b="1" dirty="0">
                <a:solidFill>
                  <a:srgbClr val="E5EAE6"/>
                </a:solidFill>
                <a:highlight>
                  <a:srgbClr val="161B17"/>
                </a:highlight>
              </a:rPr>
              <a:t>6% unique utilization inside 45 days</a:t>
            </a:r>
            <a:r>
              <a:rPr lang="en-US" dirty="0">
                <a:solidFill>
                  <a:srgbClr val="E5EAE6"/>
                </a:solidFill>
                <a:highlight>
                  <a:srgbClr val="161B17"/>
                </a:highlight>
              </a:rPr>
              <a:t> — on one condition. Not blended. Not all-conditions. Substance use alone.</a:t>
            </a:r>
            <a:endParaRPr lang="en-US" dirty="0"/>
          </a:p>
          <a:p>
            <a:endParaRPr lang="en-US" dirty="0">
              <a:solidFill>
                <a:srgbClr val="E5EAE6"/>
              </a:solidFill>
              <a:highlight>
                <a:srgbClr val="161B17"/>
              </a:highlight>
            </a:endParaRPr>
          </a:p>
          <a:p>
            <a:r>
              <a:rPr lang="en-US" dirty="0">
                <a:solidFill>
                  <a:srgbClr val="E5EAE6"/>
                </a:solidFill>
                <a:highlight>
                  <a:srgbClr val="161B17"/>
                </a:highlight>
              </a:rPr>
              <a:t>So it isn't 'a bit better than your EAP.' It's an order of magnitude more concentrated, on the condition your EAP reaches least.</a:t>
            </a:r>
            <a:endParaRPr lang="en-US" dirty="0"/>
          </a:p>
          <a:p>
            <a:endParaRPr lang="en-US" dirty="0">
              <a:solidFill>
                <a:srgbClr val="E5EAE6"/>
              </a:solidFill>
              <a:highlight>
                <a:srgbClr val="161B17"/>
              </a:highlight>
            </a:endParaRPr>
          </a:p>
          <a:p>
            <a:r>
              <a:rPr lang="en-US" dirty="0">
                <a:solidFill>
                  <a:srgbClr val="E5EAE6"/>
                </a:solidFill>
                <a:highlight>
                  <a:srgbClr val="161B17"/>
                </a:highlight>
              </a:rPr>
              <a:t>And I'd point out what that number is </a:t>
            </a:r>
            <a:r>
              <a:rPr lang="en-US" i="1" dirty="0">
                <a:solidFill>
                  <a:srgbClr val="E5EAE6"/>
                </a:solidFill>
                <a:highlight>
                  <a:srgbClr val="161B17"/>
                </a:highlight>
              </a:rPr>
              <a:t>for</a:t>
            </a:r>
            <a:r>
              <a:rPr lang="en-US" dirty="0">
                <a:solidFill>
                  <a:srgbClr val="E5EAE6"/>
                </a:solidFill>
                <a:highlight>
                  <a:srgbClr val="161B17"/>
                </a:highlight>
              </a:rPr>
              <a:t> you. Most of you have to defend a benefits budget with utilization data. This is a number you can put in front of a CFO without a caveat attached.</a:t>
            </a:r>
            <a:endParaRPr lang="en-US" dirty="0"/>
          </a:p>
          <a:p>
            <a:endParaRPr lang="en-US" dirty="0">
              <a:solidFill>
                <a:srgbClr val="E5EAE6"/>
              </a:solidFill>
              <a:highlight>
                <a:srgbClr val="161B17"/>
              </a:highlight>
            </a:endParaRPr>
          </a:p>
          <a:p>
            <a:r>
              <a:rPr lang="en-US" dirty="0">
                <a:solidFill>
                  <a:srgbClr val="E5EAE6"/>
                </a:solidFill>
                <a:highlight>
                  <a:srgbClr val="161B17"/>
                </a:highlight>
              </a:rPr>
              <a:t>The third one is the one I find most telling. </a:t>
            </a:r>
            <a:r>
              <a:rPr lang="en-US" b="1" dirty="0">
                <a:solidFill>
                  <a:srgbClr val="E5EAE6"/>
                </a:solidFill>
                <a:highlight>
                  <a:srgbClr val="161B17"/>
                </a:highlight>
              </a:rPr>
              <a:t>33% of employees who attended a single optional webinar went and created an account.</a:t>
            </a:r>
            <a:r>
              <a:rPr lang="en-US" dirty="0">
                <a:solidFill>
                  <a:srgbClr val="E5EAE6"/>
                </a:solidFill>
                <a:highlight>
                  <a:srgbClr val="161B17"/>
                </a:highlight>
              </a:rPr>
              <a:t> One in three. Nobody recruited them. Nobody referred them. The demand was already sitting in the building — it had just never been given a door that felt safe to walk through.</a:t>
            </a:r>
            <a:endParaRPr lang="en-US" dirty="0"/>
          </a:p>
          <a:p>
            <a:endParaRPr lang="en-US" dirty="0">
              <a:highlight>
                <a:srgbClr val="FFFF00"/>
              </a:highlight>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23ABA-1ADC-F13D-108D-CBD1C26F8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760F2-557C-68F7-4424-DE8E67C20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218FA1-9D4D-3910-E0A3-5ED934582EA3}"/>
              </a:ext>
            </a:extLst>
          </p:cNvPr>
          <p:cNvSpPr>
            <a:spLocks noGrp="1"/>
          </p:cNvSpPr>
          <p:nvPr>
            <p:ph type="body" idx="1"/>
          </p:nvPr>
        </p:nvSpPr>
        <p:spPr/>
        <p:txBody>
          <a:bodyPr/>
          <a:lstStyle/>
          <a:p>
            <a:r>
              <a:rPr lang="en-US">
                <a:highlight>
                  <a:srgbClr val="FFFF00"/>
                </a:highlight>
                <a:ea typeface="Calibri"/>
                <a:cs typeface="Calibri"/>
              </a:rPr>
              <a:t>Marin</a:t>
            </a:r>
          </a:p>
          <a:p>
            <a:endParaRPr lang="en-US">
              <a:highlight>
                <a:srgbClr val="FFFF00"/>
              </a:highlight>
              <a:ea typeface="Calibri"/>
              <a:cs typeface="Calibri"/>
            </a:endParaRPr>
          </a:p>
          <a:p>
            <a:r>
              <a:rPr lang="en-US">
                <a:solidFill>
                  <a:srgbClr val="E5EAE6"/>
                </a:solidFill>
                <a:highlight>
                  <a:srgbClr val="161B17"/>
                </a:highlight>
              </a:rPr>
              <a:t>I want to show you this one specifically because it's the </a:t>
            </a:r>
            <a:r>
              <a:rPr lang="en-US" i="1">
                <a:solidFill>
                  <a:srgbClr val="E5EAE6"/>
                </a:solidFill>
                <a:highlight>
                  <a:srgbClr val="161B17"/>
                </a:highlight>
              </a:rPr>
              <a:t>hardest</a:t>
            </a:r>
            <a:r>
              <a:rPr lang="en-US">
                <a:solidFill>
                  <a:srgbClr val="E5EAE6"/>
                </a:solidFill>
                <a:highlight>
                  <a:srgbClr val="161B17"/>
                </a:highlight>
              </a:rPr>
              <a:t> case, not the easiest.</a:t>
            </a:r>
            <a:endParaRPr lang="en-US"/>
          </a:p>
          <a:p>
            <a:endParaRPr lang="en-US">
              <a:solidFill>
                <a:srgbClr val="E5EAE6"/>
              </a:solidFill>
              <a:highlight>
                <a:srgbClr val="161B17"/>
              </a:highlight>
            </a:endParaRPr>
          </a:p>
          <a:p>
            <a:r>
              <a:rPr lang="en-US">
                <a:solidFill>
                  <a:srgbClr val="E5EAE6"/>
                </a:solidFill>
                <a:highlight>
                  <a:srgbClr val="161B17"/>
                </a:highlight>
              </a:rPr>
              <a:t>Two hundred fifty employees. Minnesota commercial construction. A workforce that is largely male, largely trades, and culturally the least likely population in America to raise a hand and say they need help with a substance. If you were designing a test to make a program like this fail, you'd design this one.</a:t>
            </a:r>
            <a:endParaRPr lang="en-US"/>
          </a:p>
          <a:p>
            <a:endParaRPr lang="en-US">
              <a:solidFill>
                <a:srgbClr val="E5EAE6"/>
              </a:solidFill>
              <a:highlight>
                <a:srgbClr val="161B17"/>
              </a:highlight>
            </a:endParaRPr>
          </a:p>
          <a:p>
            <a:r>
              <a:rPr lang="en-US">
                <a:solidFill>
                  <a:srgbClr val="E5EAE6"/>
                </a:solidFill>
                <a:highlight>
                  <a:srgbClr val="161B17"/>
                </a:highlight>
              </a:rPr>
              <a:t>100% awareness at forty-five days. 6% unique utilization inside forty-five days. Eight times the utilization of their traditional EAP.</a:t>
            </a:r>
            <a:endParaRPr lang="en-US"/>
          </a:p>
          <a:p>
            <a:endParaRPr lang="en-US">
              <a:solidFill>
                <a:srgbClr val="E5EAE6"/>
              </a:solidFill>
              <a:highlight>
                <a:srgbClr val="161B17"/>
              </a:highlight>
            </a:endParaRPr>
          </a:p>
          <a:p>
            <a:r>
              <a:rPr lang="en-US" b="1">
                <a:solidFill>
                  <a:srgbClr val="E5EAE6"/>
                </a:solidFill>
                <a:highlight>
                  <a:srgbClr val="161B17"/>
                </a:highlight>
              </a:rPr>
              <a:t>Fifteen people out of two hundred fifty asked for help in six weeks, in the environment where asking is hardest.</a:t>
            </a:r>
            <a:endParaRPr lang="en-US"/>
          </a:p>
          <a:p>
            <a:endParaRPr lang="en-US" b="1">
              <a:solidFill>
                <a:srgbClr val="E5EAE6"/>
              </a:solidFill>
              <a:highlight>
                <a:srgbClr val="161B17"/>
              </a:highlight>
            </a:endParaRPr>
          </a:p>
          <a:p>
            <a:r>
              <a:rPr lang="en-US">
                <a:solidFill>
                  <a:srgbClr val="E5EAE6"/>
                </a:solidFill>
                <a:highlight>
                  <a:srgbClr val="161B17"/>
                </a:highlight>
              </a:rPr>
              <a:t>Which is why I'd argue the number travels. If it works there, the question at a professional-services employer or a health system isn't whether people will use it. It's why you'd assume your people are somehow less affected.</a:t>
            </a:r>
            <a:endParaRPr lang="en-US"/>
          </a:p>
          <a:p>
            <a:endParaRPr lang="en-US">
              <a:solidFill>
                <a:srgbClr val="E5EAE6"/>
              </a:solidFill>
              <a:highlight>
                <a:srgbClr val="161B17"/>
              </a:highlight>
            </a:endParaRPr>
          </a:p>
          <a:p>
            <a:r>
              <a:rPr lang="en-US">
                <a:solidFill>
                  <a:srgbClr val="E5EAE6"/>
                </a:solidFill>
                <a:highlight>
                  <a:srgbClr val="161B17"/>
                </a:highlight>
              </a:rPr>
              <a:t>And listen to what Kathryn says: </a:t>
            </a:r>
            <a:r>
              <a:rPr lang="en-US" i="1">
                <a:solidFill>
                  <a:srgbClr val="E5EAE6"/>
                </a:solidFill>
                <a:highlight>
                  <a:srgbClr val="161B17"/>
                </a:highlight>
              </a:rPr>
              <a:t>'You can't love your work if you don't feel safe asking for help.'</a:t>
            </a:r>
            <a:r>
              <a:rPr lang="en-US">
                <a:solidFill>
                  <a:srgbClr val="E5EAE6"/>
                </a:solidFill>
                <a:highlight>
                  <a:srgbClr val="161B17"/>
                </a:highlight>
              </a:rPr>
              <a:t> She's an Employee Engagement Director. That is an engagement statement, and it's the same psychological safety you're already measuring in your survey — just pointed at the one topic your survey will never ask about.</a:t>
            </a:r>
            <a:endParaRPr lang="en-US"/>
          </a:p>
          <a:p>
            <a:endParaRPr lang="en-US">
              <a:highlight>
                <a:srgbClr val="FFFF00"/>
              </a:highlight>
              <a:ea typeface="Calibri"/>
              <a:cs typeface="Calibri"/>
            </a:endParaRPr>
          </a:p>
        </p:txBody>
      </p:sp>
      <p:sp>
        <p:nvSpPr>
          <p:cNvPr id="4" name="Slide Number Placeholder 3">
            <a:extLst>
              <a:ext uri="{FF2B5EF4-FFF2-40B4-BE49-F238E27FC236}">
                <a16:creationId xmlns:a16="http://schemas.microsoft.com/office/drawing/2014/main" id="{C1B59AC7-230C-641D-EC17-9C6BCF99D5B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011489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Jess</a:t>
            </a:r>
          </a:p>
          <a:p/>
          <a:p>
            <a:r>
              <a:t>Olympia is the case study I'd anchor on for News Corp, because the shape of the workforce is the closest analogue we have. Two thousand employees, forty-two locations, distributed, multiple operating cultures, one program.</a:t>
            </a:r>
          </a:p>
          <a:p/>
          <a:p>
            <a:r>
              <a:t>Treatment-seeking tripled. And this is the number I want you to sit with: their health spend on this did not go up. Flat dollars year over year, while three times as many people got help. That's an independent three-year retrospective claims analysis run by a top-five health plan, not our own number.</a:t>
            </a:r>
          </a:p>
          <a:p/>
          <a:p>
            <a:r>
              <a:t>Ninety-one percent workforce awareness within ninety days. Fifty-seven-plus peer coach contacts. And that's the floor, not the ceiling, because the claims data only covers employees actually on the health plan. The rest of the workforce has the same access and isn't counted here.</a:t>
            </a:r>
          </a:p>
          <a:p/>
          <a:p>
            <a:r>
              <a:t>The reason I show you Gardner and Olympia together: Gardner proves it works where asking is hardest, Olympia proves it scales across sites without the spend following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Jess</a:t>
            </a:r>
          </a:p>
          <a:p/>
          <a:p>
            <a:r>
              <a:t>Same model Sobrynth uses everywhere, sized to one of your US operating companies so nobody has to do arithmetic in their head.</a:t>
            </a:r>
          </a:p>
          <a:p/>
          <a:p>
            <a:r>
              <a:t>A two-thousand-person operating company invests a hundred thousand dollars a year. Engagement lands at six percent, three times the typical EAP benchmark, matched to what we actually see across our customer base. That avoids treatment cost and retains talent worth $864,000, and recovers $204,000 in productivity from employees who get, and stay, sober. Call it $1.07 million in impact against a hundred thousand dollar investment. $968,000 net.</a:t>
            </a:r>
          </a:p>
          <a:p/>
          <a:p>
            <a:r>
              <a:t>One caveat I'd rather say than have someone catch: the savings side is modeled, not billed. The number I'd actually defend to a CFO is Olympia's — three times the treatment-seeking, flat dollars year over year, verified by a health plan's own claims analysis.</a:t>
            </a:r>
          </a:p>
          <a:p/>
          <a:p>
            <a:r>
              <a:t>[Jess: do NOT extrapolate this to a group-wide number on your feet. The public News Corp headcount is worldwide, your scope is US, and a number you can't source is the one thing that will get picked apart in this room. If someone asks 'what would this be across all of us?', the answer is: give me your US census per company and I'll model it properly.]</a:t>
            </a:r>
          </a:p>
        </p:txBody>
      </p:sp>
      <p:sp>
        <p:nvSpPr>
          <p:cNvPr id="4" name="Slide Number Placeholder 3"/>
          <p:cNvSpPr>
            <a:spLocks noGrp="1"/>
          </p:cNvSpPr>
          <p:nvPr>
            <p:ph type="sldNum" sz="quarter" idx="10"/>
          </p:nvPr>
        </p:nvSpPr>
        <p:spPr/>
        <p:txBody>
          <a:bodyPr/>
          <a:lstStyle/>
          <a:p>
            <a:fld id="{F7021451-1387-4CA6-816F-3879F97B5CBD}" type="slidenum">
              <a:rPr lang="en-US"/>
              <a:t>15</a:t>
            </a:fld>
            <a:endParaRPr lang="en-US"/>
          </a:p>
        </p:txBody>
      </p:sp>
    </p:spTree>
    <p:extLst>
      <p:ext uri="{BB962C8B-B14F-4D97-AF65-F5344CB8AC3E}">
        <p14:creationId xmlns:p14="http://schemas.microsoft.com/office/powerpoint/2010/main" val="40184341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Jess</a:t>
            </a:r>
          </a:p>
          <a:p/>
          <a:p>
            <a:r>
              <a:t>Three things, and none of them cost anything or require a decision.</a:t>
            </a:r>
          </a:p>
          <a:p/>
          <a:p>
            <a:r>
              <a:t>One — run your workforce through the Substance Use Cost Calculator before your next benefits review. Ten minutes. But do it per operating company, not once for News Corp. A blended number across a newsroom, a publisher and a print operation is a number you can't act on.</a:t>
            </a:r>
          </a:p>
          <a:p/>
          <a:p>
            <a:r>
              <a:t>Two — and this is the one I'd actually do first. Go back to your EAP vendor, or vendors, and ask for SUD-specific utilization. Not blended. Not all-conditions. Substance use, broken out, in writing.</a:t>
            </a:r>
          </a:p>
          <a:p/>
          <a:p>
            <a:r>
              <a:t>However many contracts sit across these businesses, ask for all of them side by side. Two things will happen. Either they can't produce it at that granularity, which tells you something — or they can, and the number will be well under one percent in most of your businesses. Either way, the gap between what gets reported to you and what's actually in your workforce is the whole business case, and you don't need me to make it.</a:t>
            </a:r>
          </a:p>
          <a:p/>
          <a:p>
            <a:r>
              <a:t>Three — start one internal conversation about recovery-friendly practices. Leadership, HR, or Safety. It starts with a decision, not a budget.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Jess</a:t>
            </a:r>
          </a:p>
          <a:p/>
          <a:p>
            <a:r>
              <a:t>This is the slide I added for this room, because the first question I always get is 'sure, but is that our people?'</a:t>
            </a:r>
          </a:p>
          <a:p/>
          <a:p>
            <a:r>
              <a:t>Two things about the industry data. The top row is measured prevalence. SAMHSA breaks substance use disorder out by industry, and arts, entertainment and recreation comes in third of nineteen — 12.9% against a 9.5% average. Illicit drug use is second highest of any industry in the country. That's the entertainment-adjacent side of media, and it is a real signal, but I want to be straight with you: it is not a clean proxy for a newsroom or a book publisher. Take it as directional.</a:t>
            </a:r>
          </a:p>
          <a:p/>
          <a:p>
            <a:r>
              <a:t>The bottom row is why I think the exposure is broader than the industry code suggests. It's three mechanisms, and every one of them is present somewhere in this company.</a:t>
            </a:r>
          </a:p>
          <a:p/>
          <a:p>
            <a:r>
              <a:t>Trauma exposure. Between 86 and 100% of journalists report witnessing a traumatic event on the job. Not covering one. Witnessing one. PTSD runs four to thirteen percent, and among war correspondents it's 28.6% lifetime — four to five times the general population. Feinstein also found war journalists self-report drinking more than other journalists. If you have foreign desks, crime desks, or anyone who handles graphic user-generated content for a living, that's your population.</a:t>
            </a:r>
          </a:p>
          <a:p/>
          <a:p>
            <a:r>
              <a:t>Burnout. Eight in ten US journalists report burnout or chronic stress in the past year. Thirty-eight percent say their mental health declined. Half have considered leaving.</a:t>
            </a:r>
          </a:p>
          <a:p/>
          <a:p>
            <a:r>
              <a:t>Irregular hours. Night-shift workers consume about 25% more alcohol than day-schedule workers, and rotating shifts are independently associated with binge drinking. News does not keep business hours. Neither do print plants or distribution.</a:t>
            </a:r>
          </a:p>
          <a:p/>
          <a:p>
            <a:r>
              <a:t>And then job insecurity underneath all of it — 17,163 media job cuts announced in 2025, up fifteen percent.</a:t>
            </a:r>
          </a:p>
          <a:p/>
          <a:p>
            <a:r>
              <a:t>I'm not telling you News Corp has a drinking problem. I'm telling you that you employ, at scale, almost every occupational risk factor the literature identifies for this condition. And the one benefit you have pointed at it is the one your people are least likely to call.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Jess</a:t>
            </a:r>
          </a:p>
          <a:p/>
          <a:p>
            <a:r>
              <a:t>Questions. And the two I expect, so let me pre-empt them.</a:t>
            </a:r>
          </a:p>
          <a:p/>
          <a:p>
            <a:r>
              <a:t>Coverage — we're scoped to your US entities, and SOBRPath's resource directory is built out for all fifty states, so that lines up cleanly. If anyone asks about extending to News UK or News Corp Australia later, say honestly that non-US resource coverage is work we would scope before committing to a date. [Jess: don't volunteer international. If asked, that's the answer.]</a:t>
            </a:r>
          </a:p>
          <a:p/>
          <a:p>
            <a:r>
              <a:t>Privacy — anonymous by design. No names shared with HR, no claims filed, nothing hits the plan. That's also why utilization reporting comes back aggregated at the company level.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Jess</a:t>
            </a:r>
          </a:p>
          <a:p/>
          <a:p>
            <a:r>
              <a:t>Here's what I'm actually asking for, and it is deliberately small.</a:t>
            </a:r>
          </a:p>
          <a:p/>
          <a:p>
            <a:r>
              <a:t>Not a group-wide rollout. One operating company, ninety days.</a:t>
            </a:r>
          </a:p>
          <a:p/>
          <a:p>
            <a:r>
              <a:t>Pick the one US business where the case is clearest to you — the highest-risk workforce, or honestly just whichever HR leader in this room has the most appetite. One masthead, one business, one market.</a:t>
            </a:r>
          </a:p>
          <a:p/>
          <a:p>
            <a:r>
              <a:t>We run the whole activation. Communications, people-leader training, peer champions, the dedicated line with a code specific to that company. Your team's job is to give us your leaders for one session.</a:t>
            </a:r>
          </a:p>
          <a:p/>
          <a:p>
            <a:r>
              <a:t>Then you judge it on two numbers at day ninety: awareness and utilization. If it tracks what Gardner and Olympia saw, we have a conversation about the next company. If it doesn't, you have spent a quarter and learned something real about your own workforce.</a:t>
            </a:r>
          </a:p>
          <a:p/>
          <a:p>
            <a:r>
              <a:t>I'd rather earn the second company than be handed all of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1280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9/14/26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1.sv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2.png"/><Relationship Id="rId6"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9.sv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0.sv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9468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9" y="419090"/>
            <a:ext cx="2184356" cy="764481"/>
          </a:xfrm>
          <a:prstGeom prst="rect">
            <a:avLst/>
          </a:prstGeom>
        </p:spPr>
      </p:pic>
      <p:pic>
        <p:nvPicPr>
          <p:cNvPr id="3" name="Image 1" descr="preencoded.png"/>
          <p:cNvPicPr>
            <a:picLocks noChangeAspect="1"/>
          </p:cNvPicPr>
          <p:nvPr/>
        </p:nvPicPr>
        <p:blipFill>
          <a:blip r:embed="rId4">
            <a:alphaModFix amt="16000"/>
          </a:blip>
          <a:stretch>
            <a:fillRect/>
          </a:stretch>
        </p:blipFill>
        <p:spPr>
          <a:xfrm>
            <a:off x="7683500" y="838179"/>
            <a:ext cx="3810000" cy="3453915"/>
          </a:xfrm>
          <a:prstGeom prst="rect">
            <a:avLst/>
          </a:prstGeom>
        </p:spPr>
      </p:pic>
      <p:sp>
        <p:nvSpPr>
          <p:cNvPr id="4" name="Text 0"/>
          <p:cNvSpPr/>
          <p:nvPr/>
        </p:nvSpPr>
        <p:spPr>
          <a:xfrm>
            <a:off x="609589" y="1793159"/>
            <a:ext cx="8110220" cy="1156163"/>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80539"/>
              </a:lnSpc>
              <a:buNone/>
            </a:pPr>
            <a:r>
              <a:rPr lang="en-US" sz="4200" b="1" kern="0" spc="-25">
                <a:solidFill>
                  <a:srgbClr val="FFFFFF"/>
                </a:solidFill>
                <a:latin typeface="Roboto Slab" pitchFamily="34" charset="0"/>
                <a:ea typeface="Roboto Slab" pitchFamily="34" charset="-122"/>
                <a:cs typeface="Roboto Slab" pitchFamily="34" charset="-120"/>
              </a:rPr>
              <a:t>A dedicated workplace benefit for substance use disorder.</a:t>
            </a:r>
            <a:endParaRPr lang="en-US" sz="4200"/>
          </a:p>
        </p:txBody>
      </p:sp>
      <p:sp>
        <p:nvSpPr>
          <p:cNvPr id="5" name="Text 1"/>
          <p:cNvSpPr/>
          <p:nvPr/>
        </p:nvSpPr>
        <p:spPr>
          <a:xfrm>
            <a:off x="609589" y="2962011"/>
            <a:ext cx="8661400" cy="59078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80539"/>
              </a:lnSpc>
              <a:buNone/>
            </a:pPr>
            <a:r>
              <a:rPr lang="en-US" sz="4200" b="1">
                <a:solidFill>
                  <a:srgbClr val="FFAD5B"/>
                </a:solidFill>
                <a:latin typeface="Roboto Slab" pitchFamily="34" charset="0"/>
                <a:ea typeface="Roboto Slab" pitchFamily="34" charset="-122"/>
                <a:cs typeface="Roboto Slab" pitchFamily="34" charset="-120"/>
              </a:rPr>
              <a:t>Finally.</a:t>
            </a:r>
            <a:endParaRPr lang="en-US" sz="4200"/>
          </a:p>
        </p:txBody>
      </p:sp>
      <p:sp>
        <p:nvSpPr>
          <p:cNvPr id="6" name="Text 2"/>
          <p:cNvSpPr/>
          <p:nvPr/>
        </p:nvSpPr>
        <p:spPr>
          <a:xfrm>
            <a:off x="609589" y="3806749"/>
            <a:ext cx="6903720" cy="9601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3632"/>
              </a:lnSpc>
              <a:buNone/>
            </a:pPr>
            <a:r>
              <a:rPr lang="en-US" sz="1800">
                <a:solidFill>
                  <a:srgbClr val="E8E3F2"/>
                </a:solidFill>
                <a:latin typeface="Roboto" pitchFamily="34" charset="0"/>
                <a:ea typeface="Roboto" pitchFamily="34" charset="-122"/>
                <a:cs typeface="Roboto" pitchFamily="34" charset="-120"/>
              </a:rPr>
              <a:t>24/7 peer recovery navigation for employees and their families — activated company by company, alongside the EAP and behavioral health benefits you already offer.</a:t>
            </a:r>
            <a:endParaRPr lang="en-US" sz="1800"/>
          </a:p>
        </p:txBody>
      </p:sp>
      <p:sp>
        <p:nvSpPr>
          <p:cNvPr id="7" name="Shape 3"/>
          <p:cNvSpPr/>
          <p:nvPr/>
        </p:nvSpPr>
        <p:spPr>
          <a:xfrm>
            <a:off x="609589" y="6041430"/>
            <a:ext cx="10972823" cy="6350"/>
          </a:xfrm>
          <a:prstGeom prst="rect">
            <a:avLst/>
          </a:prstGeom>
          <a:solidFill>
            <a:srgbClr val="40356B"/>
          </a:solidFill>
          <a:ln/>
        </p:spPr>
        <p:txBody>
          <a:bodyPr/>
          <a:lstStyle/>
          <a:p>
            <a:endParaRPr lang="en-US"/>
          </a:p>
        </p:txBody>
      </p:sp>
      <p:sp>
        <p:nvSpPr>
          <p:cNvPr id="8" name="Text 4"/>
          <p:cNvSpPr/>
          <p:nvPr/>
        </p:nvSpPr>
        <p:spPr>
          <a:xfrm>
            <a:off x="609590" y="6225536"/>
            <a:ext cx="4089857" cy="276865"/>
          </a:xfrm>
          <a:prstGeom prst="rect">
            <a:avLst/>
          </a:prstGeom>
          <a:noFill/>
          <a:ln/>
        </p:spPr>
        <p:txBody>
          <a:bodyPr wrap="non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a:solidFill>
                  <a:srgbClr val="ACA0CF"/>
                </a:solidFill>
                <a:latin typeface="Roboto" pitchFamily="34" charset="0"/>
                <a:ea typeface="Roboto" pitchFamily="34" charset="-122"/>
                <a:cs typeface="Roboto" pitchFamily="34" charset="-120"/>
              </a:rPr>
              <a:t>Choosing to be sober today · for self, at home, and at work.</a:t>
            </a:r>
            <a:endParaRPr lang="en-US" sz="1200"/>
          </a:p>
        </p:txBody>
      </p:sp>
      <p:sp>
        <p:nvSpPr>
          <p:cNvPr id="9" name="Text 5"/>
          <p:cNvSpPr/>
          <p:nvPr/>
        </p:nvSpPr>
        <p:spPr>
          <a:xfrm>
            <a:off x="10032450" y="6225536"/>
            <a:ext cx="1600762" cy="276865"/>
          </a:xfrm>
          <a:prstGeom prst="rect">
            <a:avLst/>
          </a:prstGeom>
          <a:noFill/>
          <a:ln/>
        </p:spPr>
        <p:txBody>
          <a:bodyPr wrap="non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a:solidFill>
                  <a:srgbClr val="ACA0CF"/>
                </a:solidFill>
                <a:latin typeface="Roboto" pitchFamily="34" charset="0"/>
                <a:ea typeface="Roboto" pitchFamily="34" charset="-122"/>
                <a:cs typeface="Roboto" pitchFamily="34" charset="-120"/>
              </a:rPr>
              <a:t>© sobrynth.com · 2026</a:t>
            </a:r>
            <a:endParaRPr lang="en-US" sz="1200"/>
          </a:p>
        </p:txBody>
      </p:sp>
      <p:sp>
        <p:nvSpPr>
          <p:cNvPr id="10" name="Audience Line"/>
          <p:cNvSpPr txBox="1"/>
          <p:nvPr/>
        </p:nvSpPr>
        <p:spPr>
          <a:xfrm>
            <a:off x="612648" y="4956048"/>
            <a:ext cx="8412480" cy="320040"/>
          </a:xfrm>
          <a:prstGeom prst="rect">
            <a:avLst/>
          </a:prstGeom>
          <a:noFill/>
        </p:spPr>
        <p:txBody>
          <a:bodyPr wrap="square">
            <a:spAutoFit/>
          </a:bodyPr>
          <a:lstStyle/>
          <a:p>
            <a:r>
              <a:rPr sz="1200" b="1">
                <a:solidFill>
                  <a:srgbClr val="FFAD5B"/>
                </a:solidFill>
                <a:latin typeface="Roboto"/>
              </a:rPr>
              <a:t>PREPARED FOR NEWS CORP  ·  HR LEADERSHIP BRIEFING  ·  FRIDAY, SEPTEMBER 18, 2026</a:t>
            </a:r>
          </a:p>
        </p:txBody>
      </p:sp>
    </p:spTree>
    <p:extLst>
      <p:ext uri="{BB962C8B-B14F-4D97-AF65-F5344CB8AC3E}">
        <p14:creationId xmlns:p14="http://schemas.microsoft.com/office/powerpoint/2010/main" val="1668997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9"/>
        </a:solidFill>
        <a:effectLst/>
      </p:bgPr>
    </p:bg>
    <p:spTree>
      <p:nvGrpSpPr>
        <p:cNvPr id="1" name=""/>
        <p:cNvGrpSpPr/>
        <p:nvPr/>
      </p:nvGrpSpPr>
      <p:grpSpPr>
        <a:xfrm>
          <a:off x="0" y="0"/>
          <a:ext cx="0" cy="0"/>
          <a:chOff x="0" y="0"/>
          <a:chExt cx="0" cy="0"/>
        </a:xfrm>
      </p:grpSpPr>
      <p:sp>
        <p:nvSpPr>
          <p:cNvPr id="3" name="Text 1"/>
          <p:cNvSpPr/>
          <p:nvPr/>
        </p:nvSpPr>
        <p:spPr>
          <a:xfrm>
            <a:off x="609589" y="975320"/>
            <a:ext cx="9810751" cy="86512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86873"/>
              </a:lnSpc>
              <a:buNone/>
            </a:pPr>
            <a:r>
              <a:rPr lang="en-US" sz="2900" b="1">
                <a:solidFill>
                  <a:srgbClr val="241D3B"/>
                </a:solidFill>
                <a:latin typeface="Roboto Slab" pitchFamily="34" charset="0"/>
                <a:ea typeface="Roboto Slab" pitchFamily="34" charset="-122"/>
                <a:cs typeface="Roboto Slab" pitchFamily="34" charset="-120"/>
              </a:rPr>
              <a:t>3 Common Misconceptions about SUD in the Workplace</a:t>
            </a:r>
            <a:endParaRPr lang="en-US" sz="2900"/>
          </a:p>
        </p:txBody>
      </p:sp>
      <p:sp>
        <p:nvSpPr>
          <p:cNvPr id="4" name="Shape 2"/>
          <p:cNvSpPr/>
          <p:nvPr/>
        </p:nvSpPr>
        <p:spPr>
          <a:xfrm>
            <a:off x="609590" y="2221398"/>
            <a:ext cx="3530589" cy="4255603"/>
          </a:xfrm>
          <a:prstGeom prst="roundRect">
            <a:avLst>
              <a:gd name="adj" fmla="val 4317"/>
            </a:avLst>
          </a:prstGeom>
          <a:solidFill>
            <a:srgbClr val="FFFFFF"/>
          </a:solidFill>
          <a:ln w="5292">
            <a:solidFill>
              <a:srgbClr val="E1DEE8"/>
            </a:solidFill>
            <a:prstDash val="solid"/>
          </a:ln>
        </p:spPr>
        <p:txBody>
          <a:bodyPr/>
          <a:lstStyle/>
          <a:p>
            <a:endParaRPr lang="en-US"/>
          </a:p>
        </p:txBody>
      </p:sp>
      <p:sp>
        <p:nvSpPr>
          <p:cNvPr id="5" name="Text 3"/>
          <p:cNvSpPr/>
          <p:nvPr/>
        </p:nvSpPr>
        <p:spPr>
          <a:xfrm>
            <a:off x="841707" y="2478926"/>
            <a:ext cx="3372991" cy="30481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6154"/>
              </a:lnSpc>
              <a:buNone/>
            </a:pPr>
            <a:r>
              <a:rPr lang="en-US" sz="2200" b="1">
                <a:solidFill>
                  <a:srgbClr val="59468D"/>
                </a:solidFill>
                <a:latin typeface="Roboto Slab" pitchFamily="34" charset="0"/>
                <a:ea typeface="Roboto Slab" pitchFamily="34" charset="-122"/>
                <a:cs typeface="Roboto Slab" pitchFamily="34" charset="-120"/>
              </a:rPr>
              <a:t>1</a:t>
            </a:r>
            <a:endParaRPr lang="en-US" sz="2200"/>
          </a:p>
        </p:txBody>
      </p:sp>
      <p:sp>
        <p:nvSpPr>
          <p:cNvPr id="6" name="Text 4"/>
          <p:cNvSpPr/>
          <p:nvPr/>
        </p:nvSpPr>
        <p:spPr>
          <a:xfrm>
            <a:off x="841706" y="2898015"/>
            <a:ext cx="3158346" cy="53329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94737"/>
              </a:lnSpc>
              <a:buNone/>
            </a:pPr>
            <a:r>
              <a:rPr lang="en-US" sz="1600" b="1">
                <a:solidFill>
                  <a:srgbClr val="241D3B"/>
                </a:solidFill>
                <a:latin typeface="Roboto Slab" pitchFamily="34" charset="0"/>
                <a:ea typeface="Roboto Slab" pitchFamily="34" charset="-122"/>
                <a:cs typeface="Roboto Slab" pitchFamily="34" charset="-120"/>
              </a:rPr>
              <a:t>“You can tell when someone has a substance use problem.”</a:t>
            </a:r>
            <a:endParaRPr lang="en-US" sz="1600"/>
          </a:p>
        </p:txBody>
      </p:sp>
      <p:sp>
        <p:nvSpPr>
          <p:cNvPr id="7" name="Text 5"/>
          <p:cNvSpPr/>
          <p:nvPr/>
        </p:nvSpPr>
        <p:spPr>
          <a:xfrm>
            <a:off x="841706" y="3545582"/>
            <a:ext cx="3158346" cy="116834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7059"/>
              </a:lnSpc>
              <a:buNone/>
            </a:pPr>
            <a:r>
              <a:rPr lang="en-US" sz="1200">
                <a:solidFill>
                  <a:srgbClr val="423F4B"/>
                </a:solidFill>
                <a:latin typeface="Roboto" pitchFamily="34" charset="0"/>
                <a:ea typeface="Roboto" pitchFamily="34" charset="-122"/>
                <a:cs typeface="Roboto" pitchFamily="34" charset="-120"/>
              </a:rPr>
              <a:t>Often, you can't. Many people with SUD are employed and high-performing — filing on deadline, hitting their numbers — and it stays invisible until an absence, a safety incident, a workers' comp claim, or a crisis.</a:t>
            </a:r>
            <a:endParaRPr lang="en-US" sz="1200"/>
          </a:p>
        </p:txBody>
      </p:sp>
      <p:sp>
        <p:nvSpPr>
          <p:cNvPr id="8" name="Shape 6"/>
          <p:cNvSpPr/>
          <p:nvPr/>
        </p:nvSpPr>
        <p:spPr>
          <a:xfrm>
            <a:off x="4330678" y="2221398"/>
            <a:ext cx="3530589" cy="4255603"/>
          </a:xfrm>
          <a:prstGeom prst="roundRect">
            <a:avLst>
              <a:gd name="adj" fmla="val 4317"/>
            </a:avLst>
          </a:prstGeom>
          <a:solidFill>
            <a:srgbClr val="FFFFFF"/>
          </a:solidFill>
          <a:ln w="5292">
            <a:solidFill>
              <a:srgbClr val="E1DEE8"/>
            </a:solidFill>
            <a:prstDash val="solid"/>
          </a:ln>
        </p:spPr>
        <p:txBody>
          <a:bodyPr/>
          <a:lstStyle/>
          <a:p>
            <a:endParaRPr lang="en-US"/>
          </a:p>
        </p:txBody>
      </p:sp>
      <p:sp>
        <p:nvSpPr>
          <p:cNvPr id="9" name="Text 7"/>
          <p:cNvSpPr/>
          <p:nvPr/>
        </p:nvSpPr>
        <p:spPr>
          <a:xfrm>
            <a:off x="4562795" y="2478926"/>
            <a:ext cx="3372991" cy="30481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6154"/>
              </a:lnSpc>
              <a:buNone/>
            </a:pPr>
            <a:r>
              <a:rPr lang="en-US" sz="2200" b="1">
                <a:solidFill>
                  <a:srgbClr val="E08A2E"/>
                </a:solidFill>
                <a:latin typeface="Roboto Slab" pitchFamily="34" charset="0"/>
                <a:ea typeface="Roboto Slab" pitchFamily="34" charset="-122"/>
                <a:cs typeface="Roboto Slab" pitchFamily="34" charset="-120"/>
              </a:rPr>
              <a:t>2</a:t>
            </a:r>
            <a:endParaRPr lang="en-US" sz="2200"/>
          </a:p>
        </p:txBody>
      </p:sp>
      <p:sp>
        <p:nvSpPr>
          <p:cNvPr id="10" name="Text 8"/>
          <p:cNvSpPr/>
          <p:nvPr/>
        </p:nvSpPr>
        <p:spPr>
          <a:xfrm>
            <a:off x="4562795" y="2898015"/>
            <a:ext cx="3158346" cy="53329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94737"/>
              </a:lnSpc>
              <a:buNone/>
            </a:pPr>
            <a:r>
              <a:rPr lang="en-US" sz="1600" b="1">
                <a:solidFill>
                  <a:srgbClr val="241D3B"/>
                </a:solidFill>
                <a:latin typeface="Roboto Slab" pitchFamily="34" charset="0"/>
                <a:ea typeface="Roboto Slab" pitchFamily="34" charset="-122"/>
                <a:cs typeface="Roboto Slab" pitchFamily="34" charset="-120"/>
              </a:rPr>
              <a:t>“If someone really wanted help, they’d just get treatment.”</a:t>
            </a:r>
            <a:endParaRPr lang="en-US" sz="1600"/>
          </a:p>
        </p:txBody>
      </p:sp>
      <p:sp>
        <p:nvSpPr>
          <p:cNvPr id="11" name="Text 9"/>
          <p:cNvSpPr/>
          <p:nvPr/>
        </p:nvSpPr>
        <p:spPr>
          <a:xfrm>
            <a:off x="4562795" y="3545582"/>
            <a:ext cx="3158346" cy="116834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7059"/>
              </a:lnSpc>
              <a:buNone/>
            </a:pPr>
            <a:r>
              <a:rPr lang="en-US" sz="1200">
                <a:solidFill>
                  <a:srgbClr val="423F4B"/>
                </a:solidFill>
                <a:latin typeface="Roboto" pitchFamily="34" charset="0"/>
                <a:ea typeface="Roboto" pitchFamily="34" charset="-122"/>
                <a:cs typeface="Roboto" pitchFamily="34" charset="-120"/>
              </a:rPr>
              <a:t>Fear of stigma, job consequences, cost, confidentiality concerns, and not being ready for formal treatment are huge barriers. Support often needs to start before someone is willing to enter treatment.</a:t>
            </a:r>
            <a:endParaRPr lang="en-US" sz="1200"/>
          </a:p>
        </p:txBody>
      </p:sp>
      <p:sp>
        <p:nvSpPr>
          <p:cNvPr id="12" name="Shape 10"/>
          <p:cNvSpPr/>
          <p:nvPr/>
        </p:nvSpPr>
        <p:spPr>
          <a:xfrm>
            <a:off x="8051768" y="2221398"/>
            <a:ext cx="3530589" cy="4255603"/>
          </a:xfrm>
          <a:prstGeom prst="roundRect">
            <a:avLst>
              <a:gd name="adj" fmla="val 4317"/>
            </a:avLst>
          </a:prstGeom>
          <a:solidFill>
            <a:srgbClr val="FFFFFF"/>
          </a:solidFill>
          <a:ln w="5292">
            <a:solidFill>
              <a:srgbClr val="E1DEE8"/>
            </a:solidFill>
            <a:prstDash val="solid"/>
          </a:ln>
        </p:spPr>
        <p:txBody>
          <a:bodyPr/>
          <a:lstStyle/>
          <a:p>
            <a:endParaRPr lang="en-US"/>
          </a:p>
        </p:txBody>
      </p:sp>
      <p:sp>
        <p:nvSpPr>
          <p:cNvPr id="13" name="Text 11"/>
          <p:cNvSpPr/>
          <p:nvPr/>
        </p:nvSpPr>
        <p:spPr>
          <a:xfrm>
            <a:off x="8283885" y="2478926"/>
            <a:ext cx="3372991" cy="30481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6154"/>
              </a:lnSpc>
              <a:buNone/>
            </a:pPr>
            <a:r>
              <a:rPr lang="en-US" sz="2200" b="1">
                <a:solidFill>
                  <a:srgbClr val="007788"/>
                </a:solidFill>
                <a:latin typeface="Roboto Slab" pitchFamily="34" charset="0"/>
                <a:ea typeface="Roboto Slab" pitchFamily="34" charset="-122"/>
                <a:cs typeface="Roboto Slab" pitchFamily="34" charset="-120"/>
              </a:rPr>
              <a:t>3</a:t>
            </a:r>
            <a:endParaRPr lang="en-US" sz="2200"/>
          </a:p>
        </p:txBody>
      </p:sp>
      <p:sp>
        <p:nvSpPr>
          <p:cNvPr id="14" name="Text 12"/>
          <p:cNvSpPr/>
          <p:nvPr/>
        </p:nvSpPr>
        <p:spPr>
          <a:xfrm>
            <a:off x="8283884" y="2898015"/>
            <a:ext cx="3158346" cy="53329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94737"/>
              </a:lnSpc>
              <a:buNone/>
            </a:pPr>
            <a:r>
              <a:rPr lang="en-US" sz="1600" b="1">
                <a:solidFill>
                  <a:srgbClr val="241D3B"/>
                </a:solidFill>
                <a:latin typeface="Roboto Slab" pitchFamily="34" charset="0"/>
                <a:ea typeface="Roboto Slab" pitchFamily="34" charset="-122"/>
                <a:cs typeface="Roboto Slab" pitchFamily="34" charset="-120"/>
              </a:rPr>
              <a:t>“Our EAP already handles substance use.”</a:t>
            </a:r>
            <a:endParaRPr lang="en-US" sz="1600"/>
          </a:p>
        </p:txBody>
      </p:sp>
      <p:sp>
        <p:nvSpPr>
          <p:cNvPr id="15" name="Text 13"/>
          <p:cNvSpPr/>
          <p:nvPr/>
        </p:nvSpPr>
        <p:spPr>
          <a:xfrm>
            <a:off x="8283884" y="3545582"/>
            <a:ext cx="3158346" cy="1625523"/>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7059"/>
              </a:lnSpc>
              <a:buNone/>
            </a:pPr>
            <a:r>
              <a:rPr lang="en-US" sz="1200">
                <a:solidFill>
                  <a:srgbClr val="423F4B"/>
                </a:solidFill>
                <a:latin typeface="Roboto" pitchFamily="34" charset="0"/>
                <a:ea typeface="Roboto" pitchFamily="34" charset="-122"/>
                <a:cs typeface="Roboto" pitchFamily="34" charset="-120"/>
              </a:rPr>
              <a:t>An EAP may technically cover SUD, but that doesn't mean employees will use it for SUD — or use it early. Whether these businesses sit on one EAP contract or several, the reporting comes back blended across all conditions. Substance use needs an engagement strategy built for each culture, and a number of its own.</a:t>
            </a:r>
            <a:endParaRPr lang="en-US" sz="1200"/>
          </a:p>
        </p:txBody>
      </p:sp>
      <p:sp>
        <p:nvSpPr>
          <p:cNvPr id="17" name="Text 0">
            <a:extLst>
              <a:ext uri="{FF2B5EF4-FFF2-40B4-BE49-F238E27FC236}">
                <a16:creationId xmlns:a16="http://schemas.microsoft.com/office/drawing/2014/main" id="{922DEAF5-8664-6CCD-114B-FE5DD1884293}"/>
              </a:ext>
            </a:extLst>
          </p:cNvPr>
          <p:cNvSpPr/>
          <p:nvPr/>
        </p:nvSpPr>
        <p:spPr>
          <a:xfrm>
            <a:off x="939591" y="558768"/>
            <a:ext cx="1097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570">
              <a:lnSpc>
                <a:spcPct val="139765"/>
              </a:lnSpc>
            </a:pPr>
            <a:r>
              <a:rPr lang="en-US" b="1" kern="0" spc="168">
                <a:solidFill>
                  <a:srgbClr val="FFAD5B"/>
                </a:solidFill>
                <a:latin typeface="Aptos" panose="02110004020202020204"/>
                <a:ea typeface="Roboto"/>
                <a:cs typeface="Roboto"/>
              </a:rPr>
              <a:t>SUD MISCONCEPTIONS</a:t>
            </a:r>
            <a:endParaRPr lang="en-US"/>
          </a:p>
        </p:txBody>
      </p:sp>
      <p:pic>
        <p:nvPicPr>
          <p:cNvPr id="19" name="Labyrinth Icon" descr="A black maze on an orange background&#10;&#10;AI-generated content may be incorrect.">
            <a:extLst>
              <a:ext uri="{FF2B5EF4-FFF2-40B4-BE49-F238E27FC236}">
                <a16:creationId xmlns:a16="http://schemas.microsoft.com/office/drawing/2014/main" id="{02FD5481-DACB-B5EB-AF57-95000D7E4927}"/>
              </a:ext>
            </a:extLst>
          </p:cNvPr>
          <p:cNvPicPr>
            <a:picLocks noChangeAspect="1"/>
          </p:cNvPicPr>
          <p:nvPr/>
        </p:nvPicPr>
        <p:blipFill>
          <a:blip r:embed="rId3"/>
          <a:stretch>
            <a:fillRect/>
          </a:stretch>
        </p:blipFill>
        <p:spPr>
          <a:xfrm>
            <a:off x="609590" y="597200"/>
            <a:ext cx="220000" cy="200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9"/>
        </a:solidFill>
        <a:effectLst/>
      </p:bgPr>
    </p:bg>
    <p:spTree>
      <p:nvGrpSpPr>
        <p:cNvPr id="1" name=""/>
        <p:cNvGrpSpPr/>
        <p:nvPr/>
      </p:nvGrpSpPr>
      <p:grpSpPr>
        <a:xfrm>
          <a:off x="0" y="0"/>
          <a:ext cx="0" cy="0"/>
          <a:chOff x="0" y="0"/>
          <a:chExt cx="0" cy="0"/>
        </a:xfrm>
      </p:grpSpPr>
      <p:sp>
        <p:nvSpPr>
          <p:cNvPr id="3" name="Text 1"/>
          <p:cNvSpPr/>
          <p:nvPr/>
        </p:nvSpPr>
        <p:spPr>
          <a:xfrm>
            <a:off x="609590" y="975320"/>
            <a:ext cx="11176001" cy="44526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86873"/>
              </a:lnSpc>
              <a:buNone/>
            </a:pPr>
            <a:r>
              <a:rPr lang="en-US" sz="2900" b="1">
                <a:solidFill>
                  <a:srgbClr val="241D3B"/>
                </a:solidFill>
                <a:latin typeface="Roboto Slab" pitchFamily="34" charset="0"/>
                <a:ea typeface="Roboto Slab" pitchFamily="34" charset="-122"/>
                <a:cs typeface="Roboto Slab" pitchFamily="34" charset="-120"/>
              </a:rPr>
              <a:t>What the Data Says About People Who Work in Media</a:t>
            </a:r>
            <a:endParaRPr lang="en-US" sz="2900"/>
          </a:p>
        </p:txBody>
      </p:sp>
      <p:sp>
        <p:nvSpPr>
          <p:cNvPr id="4" name="Shape 2"/>
          <p:cNvSpPr/>
          <p:nvPr/>
        </p:nvSpPr>
        <p:spPr>
          <a:xfrm>
            <a:off x="609590" y="1627632"/>
            <a:ext cx="3539078" cy="2103120"/>
          </a:xfrm>
          <a:prstGeom prst="roundRect">
            <a:avLst>
              <a:gd name="adj" fmla="val 8879"/>
            </a:avLst>
          </a:prstGeom>
          <a:solidFill>
            <a:srgbClr val="FFFFFF"/>
          </a:solidFill>
          <a:ln w="5292">
            <a:solidFill>
              <a:srgbClr val="E1DEE8"/>
            </a:solidFill>
            <a:prstDash val="solid"/>
          </a:ln>
        </p:spPr>
        <p:txBody>
          <a:bodyPr/>
          <a:lstStyle/>
          <a:p>
            <a:endParaRPr lang="en-US"/>
          </a:p>
        </p:txBody>
      </p:sp>
      <p:sp>
        <p:nvSpPr>
          <p:cNvPr id="5" name="Text 3"/>
          <p:cNvSpPr/>
          <p:nvPr/>
        </p:nvSpPr>
        <p:spPr>
          <a:xfrm>
            <a:off x="828973" y="1847088"/>
            <a:ext cx="3193320" cy="2743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20">
                <a:solidFill>
                  <a:srgbClr val="59468D"/>
                </a:solidFill>
                <a:latin typeface="Roboto" pitchFamily="34" charset="0"/>
                <a:ea typeface="Roboto" pitchFamily="34" charset="-122"/>
                <a:cs typeface="Roboto" pitchFamily="34" charset="-120"/>
              </a:rPr>
              <a:t>SAMHSA · BY INDUSTRY</a:t>
            </a:r>
            <a:endParaRPr lang="en-US" sz="1200"/>
          </a:p>
        </p:txBody>
      </p:sp>
      <p:sp>
        <p:nvSpPr>
          <p:cNvPr id="6" name="Text 4"/>
          <p:cNvSpPr/>
          <p:nvPr/>
        </p:nvSpPr>
        <p:spPr>
          <a:xfrm>
            <a:off x="828973" y="2176272"/>
            <a:ext cx="3410341" cy="5029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5789"/>
              </a:lnSpc>
              <a:buNone/>
            </a:pPr>
            <a:r>
              <a:rPr lang="en-US" sz="3200" b="1">
                <a:solidFill>
                  <a:srgbClr val="59468D"/>
                </a:solidFill>
                <a:latin typeface="Roboto Slab" pitchFamily="34" charset="0"/>
                <a:ea typeface="Roboto Slab" pitchFamily="34" charset="-122"/>
                <a:cs typeface="Roboto Slab" pitchFamily="34" charset="-120"/>
              </a:rPr>
              <a:t>3rd</a:t>
            </a:r>
            <a:endParaRPr lang="en-US" sz="3200"/>
          </a:p>
        </p:txBody>
      </p:sp>
      <p:sp>
        <p:nvSpPr>
          <p:cNvPr id="7" name="Text 5"/>
          <p:cNvSpPr/>
          <p:nvPr/>
        </p:nvSpPr>
        <p:spPr>
          <a:xfrm>
            <a:off x="828973" y="2743200"/>
            <a:ext cx="3193320" cy="82296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423F4B"/>
                </a:solidFill>
                <a:latin typeface="Roboto" pitchFamily="34" charset="0"/>
                <a:ea typeface="Roboto" pitchFamily="34" charset="-122"/>
                <a:cs typeface="Roboto" pitchFamily="34" charset="-120"/>
              </a:rPr>
              <a:t>Arts, entertainment and recreation ranks 3rd of 19 industries for substance use disorder — 12.9% against 9.5% across all full-time workers</a:t>
            </a:r>
            <a:endParaRPr lang="en-US" sz="1200"/>
          </a:p>
        </p:txBody>
      </p:sp>
      <p:sp>
        <p:nvSpPr>
          <p:cNvPr id="8" name="Shape 6"/>
          <p:cNvSpPr/>
          <p:nvPr/>
        </p:nvSpPr>
        <p:spPr>
          <a:xfrm>
            <a:off x="4326434" y="1627632"/>
            <a:ext cx="3539078" cy="2103120"/>
          </a:xfrm>
          <a:prstGeom prst="roundRect">
            <a:avLst>
              <a:gd name="adj" fmla="val 8879"/>
            </a:avLst>
          </a:prstGeom>
          <a:solidFill>
            <a:srgbClr val="FFFFFF"/>
          </a:solidFill>
          <a:ln w="5292">
            <a:solidFill>
              <a:srgbClr val="E1DEE8"/>
            </a:solidFill>
            <a:prstDash val="solid"/>
          </a:ln>
        </p:spPr>
        <p:txBody>
          <a:bodyPr/>
          <a:lstStyle/>
          <a:p>
            <a:endParaRPr lang="en-US"/>
          </a:p>
        </p:txBody>
      </p:sp>
      <p:sp>
        <p:nvSpPr>
          <p:cNvPr id="9" name="Text 7"/>
          <p:cNvSpPr/>
          <p:nvPr/>
        </p:nvSpPr>
        <p:spPr>
          <a:xfrm>
            <a:off x="4545817" y="1847088"/>
            <a:ext cx="3193320" cy="2743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20">
                <a:solidFill>
                  <a:srgbClr val="E08A2E"/>
                </a:solidFill>
                <a:latin typeface="Roboto" pitchFamily="34" charset="0"/>
                <a:ea typeface="Roboto" pitchFamily="34" charset="-122"/>
                <a:cs typeface="Roboto" pitchFamily="34" charset="-120"/>
              </a:rPr>
              <a:t>SAMHSA · BY INDUSTRY</a:t>
            </a:r>
            <a:endParaRPr lang="en-US" sz="1200"/>
          </a:p>
        </p:txBody>
      </p:sp>
      <p:sp>
        <p:nvSpPr>
          <p:cNvPr id="10" name="Text 8"/>
          <p:cNvSpPr/>
          <p:nvPr/>
        </p:nvSpPr>
        <p:spPr>
          <a:xfrm>
            <a:off x="4545818" y="2176272"/>
            <a:ext cx="3410341" cy="5029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90667"/>
              </a:lnSpc>
              <a:buNone/>
            </a:pPr>
            <a:r>
              <a:rPr lang="en-US" sz="3200" b="1">
                <a:solidFill>
                  <a:srgbClr val="E08A2E"/>
                </a:solidFill>
                <a:latin typeface="Roboto Slab" pitchFamily="34" charset="0"/>
                <a:ea typeface="Roboto Slab" pitchFamily="34" charset="-122"/>
                <a:cs typeface="Roboto Slab" pitchFamily="34" charset="-120"/>
              </a:rPr>
              <a:t>13.7%</a:t>
            </a:r>
            <a:endParaRPr lang="en-US" sz="1700"/>
          </a:p>
        </p:txBody>
      </p:sp>
      <p:sp>
        <p:nvSpPr>
          <p:cNvPr id="11" name="Text 9"/>
          <p:cNvSpPr/>
          <p:nvPr/>
        </p:nvSpPr>
        <p:spPr>
          <a:xfrm>
            <a:off x="4545817" y="2743200"/>
            <a:ext cx="3193320" cy="82296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423F4B"/>
                </a:solidFill>
                <a:latin typeface="Roboto" pitchFamily="34" charset="0"/>
                <a:ea typeface="Roboto" pitchFamily="34" charset="-122"/>
                <a:cs typeface="Roboto" pitchFamily="34" charset="-120"/>
              </a:rPr>
              <a:t>Past-month illicit drug use in arts and entertainment — second highest of any industry, against an 8.6% all-industry average</a:t>
            </a:r>
            <a:endParaRPr lang="en-US" sz="1200"/>
          </a:p>
        </p:txBody>
      </p:sp>
      <p:sp>
        <p:nvSpPr>
          <p:cNvPr id="12" name="Shape 10"/>
          <p:cNvSpPr/>
          <p:nvPr/>
        </p:nvSpPr>
        <p:spPr>
          <a:xfrm>
            <a:off x="8043279" y="1627632"/>
            <a:ext cx="3539078" cy="2103120"/>
          </a:xfrm>
          <a:prstGeom prst="roundRect">
            <a:avLst>
              <a:gd name="adj" fmla="val 8879"/>
            </a:avLst>
          </a:prstGeom>
          <a:solidFill>
            <a:srgbClr val="FFFFFF"/>
          </a:solidFill>
          <a:ln w="5292">
            <a:solidFill>
              <a:srgbClr val="E1DEE8"/>
            </a:solidFill>
            <a:prstDash val="solid"/>
          </a:ln>
        </p:spPr>
        <p:txBody>
          <a:bodyPr/>
          <a:lstStyle/>
          <a:p>
            <a:endParaRPr lang="en-US"/>
          </a:p>
        </p:txBody>
      </p:sp>
      <p:sp>
        <p:nvSpPr>
          <p:cNvPr id="13" name="Text 11"/>
          <p:cNvSpPr/>
          <p:nvPr/>
        </p:nvSpPr>
        <p:spPr>
          <a:xfrm>
            <a:off x="8262662" y="1847088"/>
            <a:ext cx="3193320" cy="2743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20">
                <a:solidFill>
                  <a:srgbClr val="C85F5F"/>
                </a:solidFill>
                <a:latin typeface="Roboto" pitchFamily="34" charset="0"/>
                <a:ea typeface="Roboto" pitchFamily="34" charset="-122"/>
                <a:cs typeface="Roboto" pitchFamily="34" charset="-120"/>
              </a:rPr>
              <a:t>TRAUMA EXPOSURE</a:t>
            </a:r>
            <a:endParaRPr lang="en-US" sz="1200"/>
          </a:p>
        </p:txBody>
      </p:sp>
      <p:sp>
        <p:nvSpPr>
          <p:cNvPr id="14" name="Text 12"/>
          <p:cNvSpPr/>
          <p:nvPr/>
        </p:nvSpPr>
        <p:spPr>
          <a:xfrm>
            <a:off x="8262662" y="2176272"/>
            <a:ext cx="3410341" cy="5029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5789"/>
              </a:lnSpc>
              <a:buNone/>
            </a:pPr>
            <a:r>
              <a:rPr lang="en-US" sz="3200" b="1">
                <a:solidFill>
                  <a:srgbClr val="C85F5F"/>
                </a:solidFill>
                <a:latin typeface="Roboto Slab" pitchFamily="34" charset="0"/>
                <a:ea typeface="Roboto Slab" pitchFamily="34" charset="-122"/>
                <a:cs typeface="Roboto Slab" pitchFamily="34" charset="-120"/>
              </a:rPr>
              <a:t>86–100%</a:t>
            </a:r>
            <a:endParaRPr lang="en-US" sz="3200"/>
          </a:p>
        </p:txBody>
      </p:sp>
      <p:sp>
        <p:nvSpPr>
          <p:cNvPr id="15" name="Text 13"/>
          <p:cNvSpPr/>
          <p:nvPr/>
        </p:nvSpPr>
        <p:spPr>
          <a:xfrm>
            <a:off x="8262662" y="2743200"/>
            <a:ext cx="3193320" cy="82296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423F4B"/>
                </a:solidFill>
                <a:latin typeface="Roboto" pitchFamily="34" charset="0"/>
                <a:ea typeface="Roboto" pitchFamily="34" charset="-122"/>
                <a:cs typeface="Roboto" pitchFamily="34" charset="-120"/>
              </a:rPr>
              <a:t>Of journalists report witnessing a traumatic event on the job. PTSD runs 4–13%, and 28.6% lifetime among war correspondents</a:t>
            </a:r>
            <a:endParaRPr lang="en-US" sz="1200"/>
          </a:p>
        </p:txBody>
      </p:sp>
      <p:sp>
        <p:nvSpPr>
          <p:cNvPr id="16" name="Shape 14"/>
          <p:cNvSpPr/>
          <p:nvPr/>
        </p:nvSpPr>
        <p:spPr>
          <a:xfrm>
            <a:off x="609590" y="3877056"/>
            <a:ext cx="3539078" cy="2103120"/>
          </a:xfrm>
          <a:prstGeom prst="roundRect">
            <a:avLst>
              <a:gd name="adj" fmla="val 8879"/>
            </a:avLst>
          </a:prstGeom>
          <a:solidFill>
            <a:srgbClr val="FFFFFF"/>
          </a:solidFill>
          <a:ln w="5292">
            <a:solidFill>
              <a:srgbClr val="E1DEE8"/>
            </a:solidFill>
            <a:prstDash val="solid"/>
          </a:ln>
        </p:spPr>
        <p:txBody>
          <a:bodyPr/>
          <a:lstStyle/>
          <a:p>
            <a:endParaRPr lang="en-US"/>
          </a:p>
        </p:txBody>
      </p:sp>
      <p:sp>
        <p:nvSpPr>
          <p:cNvPr id="17" name="Text 15"/>
          <p:cNvSpPr/>
          <p:nvPr/>
        </p:nvSpPr>
        <p:spPr>
          <a:xfrm>
            <a:off x="828973" y="4096512"/>
            <a:ext cx="3193320" cy="2743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20">
                <a:solidFill>
                  <a:srgbClr val="9E483F"/>
                </a:solidFill>
                <a:latin typeface="Roboto" pitchFamily="34" charset="0"/>
                <a:ea typeface="Roboto" pitchFamily="34" charset="-122"/>
                <a:cs typeface="Roboto" pitchFamily="34" charset="-120"/>
              </a:rPr>
              <a:t>BURNOUT</a:t>
            </a:r>
            <a:endParaRPr lang="en-US" sz="1200"/>
          </a:p>
        </p:txBody>
      </p:sp>
      <p:sp>
        <p:nvSpPr>
          <p:cNvPr id="18" name="Text 16"/>
          <p:cNvSpPr/>
          <p:nvPr/>
        </p:nvSpPr>
        <p:spPr>
          <a:xfrm>
            <a:off x="828973" y="4425696"/>
            <a:ext cx="3410341" cy="5029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90667"/>
              </a:lnSpc>
              <a:buNone/>
            </a:pPr>
            <a:r>
              <a:rPr lang="en-US" sz="3200" b="1">
                <a:solidFill>
                  <a:srgbClr val="9E483F"/>
                </a:solidFill>
                <a:latin typeface="Roboto Slab" pitchFamily="34" charset="0"/>
                <a:ea typeface="Roboto Slab" pitchFamily="34" charset="-122"/>
                <a:cs typeface="Roboto Slab" pitchFamily="34" charset="-120"/>
              </a:rPr>
              <a:t>8 in 10</a:t>
            </a:r>
            <a:endParaRPr lang="en-US" sz="1700"/>
          </a:p>
        </p:txBody>
      </p:sp>
      <p:sp>
        <p:nvSpPr>
          <p:cNvPr id="19" name="Text 17"/>
          <p:cNvSpPr/>
          <p:nvPr/>
        </p:nvSpPr>
        <p:spPr>
          <a:xfrm>
            <a:off x="828973" y="4992624"/>
            <a:ext cx="3193320" cy="82296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423F4B"/>
                </a:solidFill>
                <a:latin typeface="Roboto" pitchFamily="34" charset="0"/>
                <a:ea typeface="Roboto" pitchFamily="34" charset="-122"/>
                <a:cs typeface="Roboto" pitchFamily="34" charset="-120"/>
              </a:rPr>
              <a:t>US journalists report burnout or chronic stress in the past year. 38% say their mental health declined; half considered leaving</a:t>
            </a:r>
            <a:endParaRPr lang="en-US" sz="1200"/>
          </a:p>
        </p:txBody>
      </p:sp>
      <p:sp>
        <p:nvSpPr>
          <p:cNvPr id="20" name="Shape 18"/>
          <p:cNvSpPr/>
          <p:nvPr/>
        </p:nvSpPr>
        <p:spPr>
          <a:xfrm>
            <a:off x="4326434" y="3877056"/>
            <a:ext cx="3539078" cy="2103120"/>
          </a:xfrm>
          <a:prstGeom prst="roundRect">
            <a:avLst>
              <a:gd name="adj" fmla="val 8879"/>
            </a:avLst>
          </a:prstGeom>
          <a:solidFill>
            <a:srgbClr val="FFFFFF"/>
          </a:solidFill>
          <a:ln w="5292">
            <a:solidFill>
              <a:srgbClr val="E1DEE8"/>
            </a:solidFill>
            <a:prstDash val="solid"/>
          </a:ln>
        </p:spPr>
        <p:txBody>
          <a:bodyPr/>
          <a:lstStyle/>
          <a:p>
            <a:endParaRPr lang="en-US"/>
          </a:p>
        </p:txBody>
      </p:sp>
      <p:sp>
        <p:nvSpPr>
          <p:cNvPr id="21" name="Text 19"/>
          <p:cNvSpPr/>
          <p:nvPr/>
        </p:nvSpPr>
        <p:spPr>
          <a:xfrm>
            <a:off x="4545817" y="4096512"/>
            <a:ext cx="3193320" cy="2743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20">
                <a:solidFill>
                  <a:srgbClr val="007788"/>
                </a:solidFill>
                <a:latin typeface="Roboto" pitchFamily="34" charset="0"/>
                <a:ea typeface="Roboto" pitchFamily="34" charset="-122"/>
                <a:cs typeface="Roboto" pitchFamily="34" charset="-120"/>
              </a:rPr>
              <a:t>IRREGULAR HOURS</a:t>
            </a:r>
            <a:endParaRPr lang="en-US" sz="1200"/>
          </a:p>
        </p:txBody>
      </p:sp>
      <p:sp>
        <p:nvSpPr>
          <p:cNvPr id="22" name="Text 20"/>
          <p:cNvSpPr/>
          <p:nvPr/>
        </p:nvSpPr>
        <p:spPr>
          <a:xfrm>
            <a:off x="4545818" y="4425696"/>
            <a:ext cx="3410341" cy="5029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90667"/>
              </a:lnSpc>
              <a:buNone/>
            </a:pPr>
            <a:r>
              <a:rPr lang="en-US" sz="3200" b="1">
                <a:solidFill>
                  <a:srgbClr val="007788"/>
                </a:solidFill>
                <a:latin typeface="Roboto Slab" pitchFamily="34" charset="0"/>
                <a:ea typeface="Roboto Slab" pitchFamily="34" charset="-122"/>
                <a:cs typeface="Roboto Slab" pitchFamily="34" charset="-120"/>
              </a:rPr>
              <a:t>25%</a:t>
            </a:r>
            <a:endParaRPr lang="en-US" sz="1700"/>
          </a:p>
        </p:txBody>
      </p:sp>
      <p:sp>
        <p:nvSpPr>
          <p:cNvPr id="23" name="Text 21"/>
          <p:cNvSpPr/>
          <p:nvPr/>
        </p:nvSpPr>
        <p:spPr>
          <a:xfrm>
            <a:off x="4545817" y="4992624"/>
            <a:ext cx="3193320" cy="82296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423F4B"/>
                </a:solidFill>
                <a:latin typeface="Roboto" pitchFamily="34" charset="0"/>
                <a:ea typeface="Roboto" pitchFamily="34" charset="-122"/>
                <a:cs typeface="Roboto" pitchFamily="34" charset="-120"/>
              </a:rPr>
              <a:t>More alcohol consumed by night-shift workers than day-schedule workers. Rotating and night work is linked to binge drinking</a:t>
            </a:r>
            <a:endParaRPr lang="en-US" sz="1200"/>
          </a:p>
        </p:txBody>
      </p:sp>
      <p:sp>
        <p:nvSpPr>
          <p:cNvPr id="24" name="Shape 22"/>
          <p:cNvSpPr/>
          <p:nvPr/>
        </p:nvSpPr>
        <p:spPr>
          <a:xfrm>
            <a:off x="8043279" y="3877056"/>
            <a:ext cx="3539078" cy="2103120"/>
          </a:xfrm>
          <a:prstGeom prst="roundRect">
            <a:avLst>
              <a:gd name="adj" fmla="val 8879"/>
            </a:avLst>
          </a:prstGeom>
          <a:solidFill>
            <a:srgbClr val="FFFFFF"/>
          </a:solidFill>
          <a:ln w="5292">
            <a:solidFill>
              <a:srgbClr val="E1DEE8"/>
            </a:solidFill>
            <a:prstDash val="solid"/>
          </a:ln>
        </p:spPr>
        <p:txBody>
          <a:bodyPr/>
          <a:lstStyle/>
          <a:p>
            <a:endParaRPr lang="en-US"/>
          </a:p>
        </p:txBody>
      </p:sp>
      <p:sp>
        <p:nvSpPr>
          <p:cNvPr id="25" name="Text 23"/>
          <p:cNvSpPr/>
          <p:nvPr/>
        </p:nvSpPr>
        <p:spPr>
          <a:xfrm>
            <a:off x="8262662" y="4096512"/>
            <a:ext cx="3193320" cy="2743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20">
                <a:solidFill>
                  <a:srgbClr val="59468D"/>
                </a:solidFill>
                <a:latin typeface="Roboto" pitchFamily="34" charset="0"/>
                <a:ea typeface="Roboto" pitchFamily="34" charset="-122"/>
                <a:cs typeface="Roboto" pitchFamily="34" charset="-120"/>
              </a:rPr>
              <a:t>JOB INSECURITY</a:t>
            </a:r>
            <a:endParaRPr lang="en-US" sz="1200"/>
          </a:p>
        </p:txBody>
      </p:sp>
      <p:sp>
        <p:nvSpPr>
          <p:cNvPr id="26" name="Text 24"/>
          <p:cNvSpPr/>
          <p:nvPr/>
        </p:nvSpPr>
        <p:spPr>
          <a:xfrm>
            <a:off x="8262662" y="4425696"/>
            <a:ext cx="3410341" cy="5029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90667"/>
              </a:lnSpc>
              <a:buNone/>
            </a:pPr>
            <a:r>
              <a:rPr lang="en-US" sz="3200" b="1">
                <a:solidFill>
                  <a:srgbClr val="59468D"/>
                </a:solidFill>
                <a:latin typeface="Roboto Slab" pitchFamily="34" charset="0"/>
                <a:ea typeface="Roboto Slab" pitchFamily="34" charset="-122"/>
                <a:cs typeface="Roboto Slab" pitchFamily="34" charset="-120"/>
              </a:rPr>
              <a:t>17,163</a:t>
            </a:r>
            <a:endParaRPr lang="en-US" sz="1700"/>
          </a:p>
        </p:txBody>
      </p:sp>
      <p:sp>
        <p:nvSpPr>
          <p:cNvPr id="27" name="Text 25"/>
          <p:cNvSpPr/>
          <p:nvPr/>
        </p:nvSpPr>
        <p:spPr>
          <a:xfrm>
            <a:off x="8262662" y="4992624"/>
            <a:ext cx="3193320" cy="82296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423F4B"/>
                </a:solidFill>
                <a:latin typeface="Roboto" pitchFamily="34" charset="0"/>
                <a:ea typeface="Roboto" pitchFamily="34" charset="-122"/>
                <a:cs typeface="Roboto" pitchFamily="34" charset="-120"/>
              </a:rPr>
              <a:t>Media job cuts announced in 2025, up 15% year over year. Sustained job insecurity is a documented driver of substance use</a:t>
            </a:r>
            <a:endParaRPr lang="en-US" sz="1200"/>
          </a:p>
        </p:txBody>
      </p:sp>
      <p:sp>
        <p:nvSpPr>
          <p:cNvPr id="28" name="Text 26"/>
          <p:cNvSpPr/>
          <p:nvPr/>
        </p:nvSpPr>
        <p:spPr>
          <a:xfrm>
            <a:off x="609590" y="6108192"/>
            <a:ext cx="11301984" cy="5029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000">
                <a:solidFill>
                  <a:srgbClr val="7C7788"/>
                </a:solidFill>
                <a:latin typeface="Roboto" pitchFamily="34" charset="0"/>
                <a:ea typeface="Roboto" pitchFamily="34" charset="-122"/>
                <a:cs typeface="Roboto" pitchFamily="34" charset="-120"/>
              </a:rPr>
              <a:t>Sources: SAMHSA NSDUH, Substance Use and Substance Use Disorder by Industry · Feinstein et al. 2002 · Dart Center for Journalism and Trauma · Muck Rack State of Journalism 2025 · Media Resilience Network 2026 · European Addiction Research, shiftwork systematic review · Challenger, Gray &amp; Christmas 2025</a:t>
            </a:r>
            <a:endParaRPr lang="en-US" sz="1200"/>
          </a:p>
        </p:txBody>
      </p:sp>
      <p:sp>
        <p:nvSpPr>
          <p:cNvPr id="30" name="Text 0">
            <a:extLst>
              <a:ext uri="{FF2B5EF4-FFF2-40B4-BE49-F238E27FC236}">
                <a16:creationId xmlns:a16="http://schemas.microsoft.com/office/drawing/2014/main" id="{74FDD92B-CB73-356E-A58B-A4B93808F993}"/>
              </a:ext>
            </a:extLst>
          </p:cNvPr>
          <p:cNvSpPr/>
          <p:nvPr/>
        </p:nvSpPr>
        <p:spPr>
          <a:xfrm>
            <a:off x="939591" y="558768"/>
            <a:ext cx="1097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570">
              <a:lnSpc>
                <a:spcPct val="139765"/>
              </a:lnSpc>
            </a:pPr>
            <a:r>
              <a:rPr lang="en-US" b="1" kern="0" spc="168">
                <a:solidFill>
                  <a:srgbClr val="FFAD5B"/>
                </a:solidFill>
                <a:latin typeface="Aptos" panose="02110004020202020204"/>
                <a:ea typeface="Roboto"/>
                <a:cs typeface="Roboto"/>
              </a:rPr>
              <a:t>THE MEDIA WORKFORCE</a:t>
            </a:r>
            <a:endParaRPr lang="en-US"/>
          </a:p>
        </p:txBody>
      </p:sp>
      <p:pic>
        <p:nvPicPr>
          <p:cNvPr id="32" name="Labyrinth Icon" descr="A black maze on an orange background&#10;&#10;AI-generated content may be incorrect.">
            <a:extLst>
              <a:ext uri="{FF2B5EF4-FFF2-40B4-BE49-F238E27FC236}">
                <a16:creationId xmlns:a16="http://schemas.microsoft.com/office/drawing/2014/main" id="{AF326653-CAB0-24E8-C6A5-821CCF3CBA46}"/>
              </a:ext>
            </a:extLst>
          </p:cNvPr>
          <p:cNvPicPr>
            <a:picLocks noChangeAspect="1"/>
          </p:cNvPicPr>
          <p:nvPr/>
        </p:nvPicPr>
        <p:blipFill>
          <a:blip r:embed="rId3"/>
          <a:stretch>
            <a:fillRect/>
          </a:stretch>
        </p:blipFill>
        <p:spPr>
          <a:xfrm>
            <a:off x="609590" y="597200"/>
            <a:ext cx="220000" cy="200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7F6F9"/>
        </a:solidFill>
        <a:effectLst/>
      </p:bgPr>
    </p:bg>
    <p:spTree>
      <p:nvGrpSpPr>
        <p:cNvPr id="1" name=""/>
        <p:cNvGrpSpPr/>
        <p:nvPr/>
      </p:nvGrpSpPr>
      <p:grpSpPr>
        <a:xfrm>
          <a:off x="0" y="0"/>
          <a:ext cx="0" cy="0"/>
          <a:chOff x="0" y="0"/>
          <a:chExt cx="0" cy="0"/>
        </a:xfrm>
      </p:grpSpPr>
      <p:sp>
        <p:nvSpPr>
          <p:cNvPr id="3" name="Text 1"/>
          <p:cNvSpPr/>
          <p:nvPr/>
        </p:nvSpPr>
        <p:spPr>
          <a:xfrm>
            <a:off x="609590" y="975320"/>
            <a:ext cx="11176001" cy="44526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86873"/>
              </a:lnSpc>
              <a:buNone/>
            </a:pPr>
            <a:r>
              <a:rPr lang="en-US" sz="2900" b="1">
                <a:solidFill>
                  <a:srgbClr val="241D3B"/>
                </a:solidFill>
                <a:latin typeface="Roboto Slab" pitchFamily="34" charset="0"/>
                <a:ea typeface="Roboto Slab" pitchFamily="34" charset="-122"/>
                <a:cs typeface="Roboto Slab" pitchFamily="34" charset="-120"/>
              </a:rPr>
              <a:t>What Americans Know About Substance Use Disorder</a:t>
            </a:r>
            <a:endParaRPr lang="en-US" sz="2900"/>
          </a:p>
        </p:txBody>
      </p:sp>
      <p:sp>
        <p:nvSpPr>
          <p:cNvPr id="4" name="Shape 2"/>
          <p:cNvSpPr/>
          <p:nvPr/>
        </p:nvSpPr>
        <p:spPr>
          <a:xfrm>
            <a:off x="609590" y="1699949"/>
            <a:ext cx="3539078" cy="1716319"/>
          </a:xfrm>
          <a:prstGeom prst="roundRect">
            <a:avLst>
              <a:gd name="adj" fmla="val 8879"/>
            </a:avLst>
          </a:prstGeom>
          <a:solidFill>
            <a:srgbClr val="FFFFFF"/>
          </a:solidFill>
          <a:ln w="5292">
            <a:solidFill>
              <a:srgbClr val="E1DEE8"/>
            </a:solidFill>
            <a:prstDash val="solid"/>
          </a:ln>
        </p:spPr>
        <p:txBody>
          <a:bodyPr/>
          <a:lstStyle/>
          <a:p>
            <a:endParaRPr lang="en-US"/>
          </a:p>
        </p:txBody>
      </p:sp>
      <p:sp>
        <p:nvSpPr>
          <p:cNvPr id="5" name="Text 3"/>
          <p:cNvSpPr/>
          <p:nvPr/>
        </p:nvSpPr>
        <p:spPr>
          <a:xfrm>
            <a:off x="828973" y="1919332"/>
            <a:ext cx="3193320"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20">
                <a:solidFill>
                  <a:srgbClr val="59468D"/>
                </a:solidFill>
                <a:latin typeface="Roboto" pitchFamily="34" charset="0"/>
                <a:ea typeface="Roboto" pitchFamily="34" charset="-122"/>
                <a:cs typeface="Roboto" pitchFamily="34" charset="-120"/>
              </a:rPr>
              <a:t>GALLUP FINDING</a:t>
            </a:r>
            <a:endParaRPr lang="en-US" sz="1200"/>
          </a:p>
        </p:txBody>
      </p:sp>
      <p:sp>
        <p:nvSpPr>
          <p:cNvPr id="6" name="Text 4"/>
          <p:cNvSpPr/>
          <p:nvPr/>
        </p:nvSpPr>
        <p:spPr>
          <a:xfrm>
            <a:off x="828973" y="2259653"/>
            <a:ext cx="3410341" cy="43181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5789"/>
              </a:lnSpc>
              <a:buNone/>
            </a:pPr>
            <a:r>
              <a:rPr lang="en-US" sz="3200" b="1">
                <a:solidFill>
                  <a:srgbClr val="59468D"/>
                </a:solidFill>
                <a:latin typeface="Roboto Slab" pitchFamily="34" charset="0"/>
                <a:ea typeface="Roboto Slab" pitchFamily="34" charset="-122"/>
                <a:cs typeface="Roboto Slab" pitchFamily="34" charset="-120"/>
              </a:rPr>
              <a:t>30%</a:t>
            </a:r>
            <a:endParaRPr lang="en-US" sz="3200"/>
          </a:p>
        </p:txBody>
      </p:sp>
      <p:sp>
        <p:nvSpPr>
          <p:cNvPr id="7" name="Text 5"/>
          <p:cNvSpPr/>
          <p:nvPr/>
        </p:nvSpPr>
        <p:spPr>
          <a:xfrm>
            <a:off x="828973" y="2754920"/>
            <a:ext cx="3193320" cy="4673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423F4B"/>
                </a:solidFill>
                <a:latin typeface="Roboto" pitchFamily="34" charset="0"/>
                <a:ea typeface="Roboto" pitchFamily="34" charset="-122"/>
                <a:cs typeface="Roboto" pitchFamily="34" charset="-120"/>
              </a:rPr>
              <a:t>Americans who don't know where to find accurate SUD information</a:t>
            </a:r>
            <a:endParaRPr lang="en-US" sz="1200"/>
          </a:p>
        </p:txBody>
      </p:sp>
      <p:sp>
        <p:nvSpPr>
          <p:cNvPr id="8" name="Shape 6"/>
          <p:cNvSpPr/>
          <p:nvPr/>
        </p:nvSpPr>
        <p:spPr>
          <a:xfrm>
            <a:off x="4326434" y="1699949"/>
            <a:ext cx="3539078" cy="1716319"/>
          </a:xfrm>
          <a:prstGeom prst="roundRect">
            <a:avLst>
              <a:gd name="adj" fmla="val 8879"/>
            </a:avLst>
          </a:prstGeom>
          <a:solidFill>
            <a:srgbClr val="FFFFFF"/>
          </a:solidFill>
          <a:ln w="5292">
            <a:solidFill>
              <a:srgbClr val="E1DEE8"/>
            </a:solidFill>
            <a:prstDash val="solid"/>
          </a:ln>
        </p:spPr>
        <p:txBody>
          <a:bodyPr/>
          <a:lstStyle/>
          <a:p>
            <a:endParaRPr lang="en-US"/>
          </a:p>
        </p:txBody>
      </p:sp>
      <p:sp>
        <p:nvSpPr>
          <p:cNvPr id="9" name="Text 7"/>
          <p:cNvSpPr/>
          <p:nvPr/>
        </p:nvSpPr>
        <p:spPr>
          <a:xfrm>
            <a:off x="4545817" y="1919332"/>
            <a:ext cx="3193320"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20">
                <a:solidFill>
                  <a:srgbClr val="E08A2E"/>
                </a:solidFill>
                <a:latin typeface="Roboto" pitchFamily="34" charset="0"/>
                <a:ea typeface="Roboto" pitchFamily="34" charset="-122"/>
                <a:cs typeface="Roboto" pitchFamily="34" charset="-120"/>
              </a:rPr>
              <a:t>GALLUP FINDING</a:t>
            </a:r>
            <a:endParaRPr lang="en-US" sz="1200"/>
          </a:p>
        </p:txBody>
      </p:sp>
      <p:sp>
        <p:nvSpPr>
          <p:cNvPr id="10" name="Text 8"/>
          <p:cNvSpPr/>
          <p:nvPr/>
        </p:nvSpPr>
        <p:spPr>
          <a:xfrm>
            <a:off x="4545818" y="2259653"/>
            <a:ext cx="3410341" cy="28447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90667"/>
              </a:lnSpc>
              <a:buNone/>
            </a:pPr>
            <a:r>
              <a:rPr lang="en-US" sz="1700" b="1">
                <a:solidFill>
                  <a:srgbClr val="241D3B"/>
                </a:solidFill>
                <a:latin typeface="Roboto Slab" pitchFamily="34" charset="0"/>
                <a:ea typeface="Roboto Slab" pitchFamily="34" charset="-122"/>
                <a:cs typeface="Roboto Slab" pitchFamily="34" charset="-120"/>
              </a:rPr>
              <a:t>Knowledge Reduces Stigma</a:t>
            </a:r>
            <a:endParaRPr lang="en-US" sz="1700"/>
          </a:p>
        </p:txBody>
      </p:sp>
      <p:sp>
        <p:nvSpPr>
          <p:cNvPr id="11" name="Text 9"/>
          <p:cNvSpPr/>
          <p:nvPr/>
        </p:nvSpPr>
        <p:spPr>
          <a:xfrm>
            <a:off x="4545817" y="2607580"/>
            <a:ext cx="3193320" cy="4673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423F4B"/>
                </a:solidFill>
                <a:latin typeface="Roboto" pitchFamily="34" charset="0"/>
                <a:ea typeface="Roboto" pitchFamily="34" charset="-122"/>
                <a:cs typeface="Roboto" pitchFamily="34" charset="-120"/>
              </a:rPr>
              <a:t>Most employers have no mechanism to address stigma</a:t>
            </a:r>
            <a:endParaRPr lang="en-US" sz="1200"/>
          </a:p>
        </p:txBody>
      </p:sp>
      <p:sp>
        <p:nvSpPr>
          <p:cNvPr id="12" name="Shape 10"/>
          <p:cNvSpPr/>
          <p:nvPr/>
        </p:nvSpPr>
        <p:spPr>
          <a:xfrm>
            <a:off x="8043279" y="1699949"/>
            <a:ext cx="3539078" cy="1716319"/>
          </a:xfrm>
          <a:prstGeom prst="roundRect">
            <a:avLst>
              <a:gd name="adj" fmla="val 8879"/>
            </a:avLst>
          </a:prstGeom>
          <a:solidFill>
            <a:srgbClr val="FFFFFF"/>
          </a:solidFill>
          <a:ln w="5292">
            <a:solidFill>
              <a:srgbClr val="E1DEE8"/>
            </a:solidFill>
            <a:prstDash val="solid"/>
          </a:ln>
        </p:spPr>
        <p:txBody>
          <a:bodyPr/>
          <a:lstStyle/>
          <a:p>
            <a:endParaRPr lang="en-US"/>
          </a:p>
        </p:txBody>
      </p:sp>
      <p:sp>
        <p:nvSpPr>
          <p:cNvPr id="13" name="Text 11"/>
          <p:cNvSpPr/>
          <p:nvPr/>
        </p:nvSpPr>
        <p:spPr>
          <a:xfrm>
            <a:off x="8262662" y="1919332"/>
            <a:ext cx="3193320"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20">
                <a:solidFill>
                  <a:srgbClr val="C85F5F"/>
                </a:solidFill>
                <a:latin typeface="Roboto" pitchFamily="34" charset="0"/>
                <a:ea typeface="Roboto" pitchFamily="34" charset="-122"/>
                <a:cs typeface="Roboto" pitchFamily="34" charset="-120"/>
              </a:rPr>
              <a:t>GALLUP FINDING</a:t>
            </a:r>
            <a:endParaRPr lang="en-US" sz="1200"/>
          </a:p>
        </p:txBody>
      </p:sp>
      <p:sp>
        <p:nvSpPr>
          <p:cNvPr id="14" name="Text 12"/>
          <p:cNvSpPr/>
          <p:nvPr/>
        </p:nvSpPr>
        <p:spPr>
          <a:xfrm>
            <a:off x="8262662" y="2259653"/>
            <a:ext cx="3410341" cy="43181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5789"/>
              </a:lnSpc>
              <a:buNone/>
            </a:pPr>
            <a:r>
              <a:rPr lang="en-US" sz="3200" b="1">
                <a:solidFill>
                  <a:srgbClr val="C85F5F"/>
                </a:solidFill>
                <a:latin typeface="Roboto Slab" pitchFamily="34" charset="0"/>
                <a:ea typeface="Roboto Slab" pitchFamily="34" charset="-122"/>
                <a:cs typeface="Roboto Slab" pitchFamily="34" charset="-120"/>
              </a:rPr>
              <a:t>56%</a:t>
            </a:r>
            <a:endParaRPr lang="en-US" sz="3200"/>
          </a:p>
        </p:txBody>
      </p:sp>
      <p:sp>
        <p:nvSpPr>
          <p:cNvPr id="15" name="Text 13"/>
          <p:cNvSpPr/>
          <p:nvPr/>
        </p:nvSpPr>
        <p:spPr>
          <a:xfrm>
            <a:off x="8262662" y="2754920"/>
            <a:ext cx="3193320" cy="4673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423F4B"/>
                </a:solidFill>
                <a:latin typeface="Roboto" pitchFamily="34" charset="0"/>
                <a:ea typeface="Roboto" pitchFamily="34" charset="-122"/>
                <a:cs typeface="Roboto" pitchFamily="34" charset="-120"/>
              </a:rPr>
              <a:t>Would help a struggling colleague. 31% simply don't know what to do</a:t>
            </a:r>
            <a:endParaRPr lang="en-US" sz="1200"/>
          </a:p>
        </p:txBody>
      </p:sp>
      <p:sp>
        <p:nvSpPr>
          <p:cNvPr id="16" name="Shape 14"/>
          <p:cNvSpPr/>
          <p:nvPr/>
        </p:nvSpPr>
        <p:spPr>
          <a:xfrm>
            <a:off x="609590" y="3594035"/>
            <a:ext cx="3539078" cy="1716319"/>
          </a:xfrm>
          <a:prstGeom prst="roundRect">
            <a:avLst>
              <a:gd name="adj" fmla="val 8879"/>
            </a:avLst>
          </a:prstGeom>
          <a:solidFill>
            <a:srgbClr val="FFFFFF"/>
          </a:solidFill>
          <a:ln w="5292">
            <a:solidFill>
              <a:srgbClr val="E1DEE8"/>
            </a:solidFill>
            <a:prstDash val="solid"/>
          </a:ln>
        </p:spPr>
        <p:txBody>
          <a:bodyPr/>
          <a:lstStyle/>
          <a:p>
            <a:endParaRPr lang="en-US"/>
          </a:p>
        </p:txBody>
      </p:sp>
      <p:sp>
        <p:nvSpPr>
          <p:cNvPr id="17" name="Text 15"/>
          <p:cNvSpPr/>
          <p:nvPr/>
        </p:nvSpPr>
        <p:spPr>
          <a:xfrm>
            <a:off x="828973" y="3813418"/>
            <a:ext cx="3193320"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20">
                <a:solidFill>
                  <a:srgbClr val="9E483F"/>
                </a:solidFill>
                <a:latin typeface="Roboto" pitchFamily="34" charset="0"/>
                <a:ea typeface="Roboto" pitchFamily="34" charset="-122"/>
                <a:cs typeface="Roboto" pitchFamily="34" charset="-120"/>
              </a:rPr>
              <a:t>GALLUP FINDING</a:t>
            </a:r>
            <a:endParaRPr lang="en-US" sz="1200"/>
          </a:p>
        </p:txBody>
      </p:sp>
      <p:sp>
        <p:nvSpPr>
          <p:cNvPr id="18" name="Text 16"/>
          <p:cNvSpPr/>
          <p:nvPr/>
        </p:nvSpPr>
        <p:spPr>
          <a:xfrm>
            <a:off x="828973" y="4153739"/>
            <a:ext cx="3410341" cy="28447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90667"/>
              </a:lnSpc>
              <a:buNone/>
            </a:pPr>
            <a:r>
              <a:rPr lang="en-US" sz="1700" b="1">
                <a:solidFill>
                  <a:srgbClr val="241D3B"/>
                </a:solidFill>
                <a:latin typeface="Roboto Slab" pitchFamily="34" charset="0"/>
                <a:ea typeface="Roboto Slab" pitchFamily="34" charset="-122"/>
                <a:cs typeface="Roboto Slab" pitchFamily="34" charset="-120"/>
              </a:rPr>
              <a:t>Fear Stops People</a:t>
            </a:r>
            <a:endParaRPr lang="en-US" sz="1700"/>
          </a:p>
        </p:txBody>
      </p:sp>
      <p:sp>
        <p:nvSpPr>
          <p:cNvPr id="19" name="Text 17"/>
          <p:cNvSpPr/>
          <p:nvPr/>
        </p:nvSpPr>
        <p:spPr>
          <a:xfrm>
            <a:off x="828973" y="4501666"/>
            <a:ext cx="3193320" cy="4673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423F4B"/>
                </a:solidFill>
                <a:latin typeface="Roboto" pitchFamily="34" charset="0"/>
                <a:ea typeface="Roboto" pitchFamily="34" charset="-122"/>
                <a:cs typeface="Roboto" pitchFamily="34" charset="-120"/>
              </a:rPr>
              <a:t>Stigma and employment fears are documented barriers to seeking help</a:t>
            </a:r>
            <a:endParaRPr lang="en-US" sz="1200"/>
          </a:p>
        </p:txBody>
      </p:sp>
      <p:sp>
        <p:nvSpPr>
          <p:cNvPr id="20" name="Shape 18"/>
          <p:cNvSpPr/>
          <p:nvPr/>
        </p:nvSpPr>
        <p:spPr>
          <a:xfrm>
            <a:off x="4326434" y="3594035"/>
            <a:ext cx="3539078" cy="1716319"/>
          </a:xfrm>
          <a:prstGeom prst="roundRect">
            <a:avLst>
              <a:gd name="adj" fmla="val 8879"/>
            </a:avLst>
          </a:prstGeom>
          <a:solidFill>
            <a:srgbClr val="FFFFFF"/>
          </a:solidFill>
          <a:ln w="5292">
            <a:solidFill>
              <a:srgbClr val="E1DEE8"/>
            </a:solidFill>
            <a:prstDash val="solid"/>
          </a:ln>
        </p:spPr>
        <p:txBody>
          <a:bodyPr/>
          <a:lstStyle/>
          <a:p>
            <a:endParaRPr lang="en-US"/>
          </a:p>
        </p:txBody>
      </p:sp>
      <p:sp>
        <p:nvSpPr>
          <p:cNvPr id="21" name="Text 19"/>
          <p:cNvSpPr/>
          <p:nvPr/>
        </p:nvSpPr>
        <p:spPr>
          <a:xfrm>
            <a:off x="4545817" y="3813418"/>
            <a:ext cx="3193320"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20">
                <a:solidFill>
                  <a:srgbClr val="007788"/>
                </a:solidFill>
                <a:latin typeface="Roboto" pitchFamily="34" charset="0"/>
                <a:ea typeface="Roboto" pitchFamily="34" charset="-122"/>
                <a:cs typeface="Roboto" pitchFamily="34" charset="-120"/>
              </a:rPr>
              <a:t>GALLUP FINDING</a:t>
            </a:r>
            <a:endParaRPr lang="en-US" sz="1200"/>
          </a:p>
        </p:txBody>
      </p:sp>
      <p:sp>
        <p:nvSpPr>
          <p:cNvPr id="22" name="Text 20"/>
          <p:cNvSpPr/>
          <p:nvPr/>
        </p:nvSpPr>
        <p:spPr>
          <a:xfrm>
            <a:off x="4545818" y="4153739"/>
            <a:ext cx="3410341" cy="28447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90667"/>
              </a:lnSpc>
              <a:buNone/>
            </a:pPr>
            <a:r>
              <a:rPr lang="en-US" sz="1700" b="1">
                <a:solidFill>
                  <a:srgbClr val="241D3B"/>
                </a:solidFill>
                <a:latin typeface="Roboto Slab" pitchFamily="34" charset="0"/>
                <a:ea typeface="Roboto Slab" pitchFamily="34" charset="-122"/>
                <a:cs typeface="Roboto Slab" pitchFamily="34" charset="-120"/>
              </a:rPr>
              <a:t>No Policy Infrastructure</a:t>
            </a:r>
            <a:endParaRPr lang="en-US" sz="1700"/>
          </a:p>
        </p:txBody>
      </p:sp>
      <p:sp>
        <p:nvSpPr>
          <p:cNvPr id="23" name="Text 21"/>
          <p:cNvSpPr/>
          <p:nvPr/>
        </p:nvSpPr>
        <p:spPr>
          <a:xfrm>
            <a:off x="4545817" y="4501666"/>
            <a:ext cx="3193320" cy="4673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423F4B"/>
                </a:solidFill>
                <a:latin typeface="Roboto" pitchFamily="34" charset="0"/>
                <a:ea typeface="Roboto" pitchFamily="34" charset="-122"/>
                <a:cs typeface="Roboto" pitchFamily="34" charset="-120"/>
              </a:rPr>
              <a:t>Exists for most employers, recovery-friendly intent stays unscalable</a:t>
            </a:r>
            <a:endParaRPr lang="en-US" sz="1200"/>
          </a:p>
        </p:txBody>
      </p:sp>
      <p:sp>
        <p:nvSpPr>
          <p:cNvPr id="24" name="Shape 22"/>
          <p:cNvSpPr/>
          <p:nvPr/>
        </p:nvSpPr>
        <p:spPr>
          <a:xfrm>
            <a:off x="8043279" y="3594035"/>
            <a:ext cx="3539078" cy="1716319"/>
          </a:xfrm>
          <a:prstGeom prst="roundRect">
            <a:avLst>
              <a:gd name="adj" fmla="val 8879"/>
            </a:avLst>
          </a:prstGeom>
          <a:solidFill>
            <a:srgbClr val="FFFFFF"/>
          </a:solidFill>
          <a:ln w="5292">
            <a:solidFill>
              <a:srgbClr val="E1DEE8"/>
            </a:solidFill>
            <a:prstDash val="solid"/>
          </a:ln>
        </p:spPr>
        <p:txBody>
          <a:bodyPr/>
          <a:lstStyle/>
          <a:p>
            <a:endParaRPr lang="en-US"/>
          </a:p>
        </p:txBody>
      </p:sp>
      <p:sp>
        <p:nvSpPr>
          <p:cNvPr id="25" name="Text 23"/>
          <p:cNvSpPr/>
          <p:nvPr/>
        </p:nvSpPr>
        <p:spPr>
          <a:xfrm>
            <a:off x="8262662" y="3813418"/>
            <a:ext cx="3193320"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20">
                <a:solidFill>
                  <a:srgbClr val="59468D"/>
                </a:solidFill>
                <a:latin typeface="Roboto" pitchFamily="34" charset="0"/>
                <a:ea typeface="Roboto" pitchFamily="34" charset="-122"/>
                <a:cs typeface="Roboto" pitchFamily="34" charset="-120"/>
              </a:rPr>
              <a:t>GALLUP FINDING</a:t>
            </a:r>
            <a:endParaRPr lang="en-US" sz="1200"/>
          </a:p>
        </p:txBody>
      </p:sp>
      <p:sp>
        <p:nvSpPr>
          <p:cNvPr id="26" name="Text 24"/>
          <p:cNvSpPr/>
          <p:nvPr/>
        </p:nvSpPr>
        <p:spPr>
          <a:xfrm>
            <a:off x="8262662" y="4153739"/>
            <a:ext cx="3410341" cy="28447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90667"/>
              </a:lnSpc>
              <a:buNone/>
            </a:pPr>
            <a:r>
              <a:rPr lang="en-US" sz="1700" b="1">
                <a:solidFill>
                  <a:srgbClr val="241D3B"/>
                </a:solidFill>
                <a:latin typeface="Roboto Slab" pitchFamily="34" charset="0"/>
                <a:ea typeface="Roboto Slab" pitchFamily="34" charset="-122"/>
                <a:cs typeface="Roboto Slab" pitchFamily="34" charset="-120"/>
              </a:rPr>
              <a:t>Families Carry Stigma</a:t>
            </a:r>
            <a:endParaRPr lang="en-US" sz="1700"/>
          </a:p>
        </p:txBody>
      </p:sp>
      <p:sp>
        <p:nvSpPr>
          <p:cNvPr id="27" name="Text 25"/>
          <p:cNvSpPr/>
          <p:nvPr/>
        </p:nvSpPr>
        <p:spPr>
          <a:xfrm>
            <a:off x="8262662" y="4501666"/>
            <a:ext cx="3193320" cy="4673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423F4B"/>
                </a:solidFill>
                <a:latin typeface="Roboto" pitchFamily="34" charset="0"/>
                <a:ea typeface="Roboto" pitchFamily="34" charset="-122"/>
                <a:cs typeface="Roboto" pitchFamily="34" charset="-120"/>
              </a:rPr>
              <a:t>They're often first to recognize SUD, but face their own shame and knowledge gaps</a:t>
            </a:r>
            <a:endParaRPr lang="en-US" sz="1200"/>
          </a:p>
        </p:txBody>
      </p:sp>
      <p:sp>
        <p:nvSpPr>
          <p:cNvPr id="28" name="Text 26"/>
          <p:cNvSpPr/>
          <p:nvPr/>
        </p:nvSpPr>
        <p:spPr>
          <a:xfrm>
            <a:off x="609590" y="6225536"/>
            <a:ext cx="1130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a:solidFill>
                  <a:srgbClr val="7C7788"/>
                </a:solidFill>
                <a:latin typeface="Roboto" pitchFamily="34" charset="0"/>
                <a:ea typeface="Roboto" pitchFamily="34" charset="-122"/>
                <a:cs typeface="Roboto" pitchFamily="34" charset="-120"/>
              </a:rPr>
              <a:t>Sources: Addiction Policy Forum &amp; Gallup - Addiction Stigma in America, May 2026 · SAMHSA NSDUH</a:t>
            </a:r>
            <a:endParaRPr lang="en-US" sz="1200"/>
          </a:p>
        </p:txBody>
      </p:sp>
      <p:sp>
        <p:nvSpPr>
          <p:cNvPr id="30" name="Text 0">
            <a:extLst>
              <a:ext uri="{FF2B5EF4-FFF2-40B4-BE49-F238E27FC236}">
                <a16:creationId xmlns:a16="http://schemas.microsoft.com/office/drawing/2014/main" id="{74FDD92B-CB73-356E-A58B-A4B93808F993}"/>
              </a:ext>
            </a:extLst>
          </p:cNvPr>
          <p:cNvSpPr/>
          <p:nvPr/>
        </p:nvSpPr>
        <p:spPr>
          <a:xfrm>
            <a:off x="939591" y="558768"/>
            <a:ext cx="1097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570">
              <a:lnSpc>
                <a:spcPct val="139765"/>
              </a:lnSpc>
            </a:pPr>
            <a:r>
              <a:rPr lang="en-US" b="1" kern="0" spc="168">
                <a:solidFill>
                  <a:srgbClr val="FFAD5B"/>
                </a:solidFill>
                <a:latin typeface="Aptos" panose="02110004020202020204"/>
                <a:ea typeface="Roboto"/>
                <a:cs typeface="Roboto"/>
              </a:rPr>
              <a:t>GALLUP STUDY MAY 2026</a:t>
            </a:r>
            <a:endParaRPr lang="en-US"/>
          </a:p>
        </p:txBody>
      </p:sp>
      <p:pic>
        <p:nvPicPr>
          <p:cNvPr id="32" name="Labyrinth Icon" descr="A black maze on an orange background&#10;&#10;AI-generated content may be incorrect.">
            <a:extLst>
              <a:ext uri="{FF2B5EF4-FFF2-40B4-BE49-F238E27FC236}">
                <a16:creationId xmlns:a16="http://schemas.microsoft.com/office/drawing/2014/main" id="{AF326653-CAB0-24E8-C6A5-821CCF3CBA46}"/>
              </a:ext>
            </a:extLst>
          </p:cNvPr>
          <p:cNvPicPr>
            <a:picLocks noChangeAspect="1"/>
          </p:cNvPicPr>
          <p:nvPr/>
        </p:nvPicPr>
        <p:blipFill>
          <a:blip r:embed="rId3"/>
          <a:stretch>
            <a:fillRect/>
          </a:stretch>
        </p:blipFill>
        <p:spPr>
          <a:xfrm>
            <a:off x="609590" y="597200"/>
            <a:ext cx="220000" cy="20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548640" y="1161757"/>
            <a:ext cx="5318608" cy="2169939"/>
          </a:xfrm>
          <a:prstGeom prst="roundRect">
            <a:avLst>
              <a:gd name="adj" fmla="val 4528"/>
            </a:avLst>
          </a:prstGeom>
          <a:solidFill>
            <a:srgbClr val="FFFFFF"/>
          </a:solidFill>
          <a:ln w="12700">
            <a:solidFill>
              <a:srgbClr val="E6E4EA"/>
            </a:solidFill>
            <a:prstDash val="solid"/>
          </a:ln>
          <a:effectLst>
            <a:outerShdw blurRad="101600" dist="25400" dir="5400000" algn="bl" rotWithShape="0">
              <a:srgbClr val="1A1A1A">
                <a:alpha val="8000"/>
              </a:srgbClr>
            </a:outerShdw>
          </a:effectLst>
        </p:spPr>
        <p:txBody>
          <a:bodyPr/>
          <a:lstStyle/>
          <a:p>
            <a:endParaRPr lang="en-US"/>
          </a:p>
        </p:txBody>
      </p:sp>
      <p:pic>
        <p:nvPicPr>
          <p:cNvPr id="4" name="Image 0" descr="/home/claude/pptx_work/row_1in10.png"/>
          <p:cNvPicPr>
            <a:picLocks noChangeAspect="1"/>
          </p:cNvPicPr>
          <p:nvPr/>
        </p:nvPicPr>
        <p:blipFill>
          <a:blip r:embed="rId3"/>
          <a:stretch>
            <a:fillRect/>
          </a:stretch>
        </p:blipFill>
        <p:spPr>
          <a:xfrm>
            <a:off x="914400" y="1201143"/>
            <a:ext cx="2880360" cy="288036"/>
          </a:xfrm>
          <a:prstGeom prst="rect">
            <a:avLst/>
          </a:prstGeom>
        </p:spPr>
      </p:pic>
      <p:sp>
        <p:nvSpPr>
          <p:cNvPr id="5" name="Text 2"/>
          <p:cNvSpPr/>
          <p:nvPr/>
        </p:nvSpPr>
        <p:spPr>
          <a:xfrm>
            <a:off x="886968" y="1653771"/>
            <a:ext cx="4587088" cy="868680"/>
          </a:xfrm>
          <a:prstGeom prst="rect">
            <a:avLst/>
          </a:prstGeom>
          <a:noFill/>
          <a:ln/>
        </p:spPr>
        <p:txBody>
          <a:bodyPr wrap="square" lIns="0" tIns="0" rIns="0" bIns="0" rtlCol="0" anchor="ctr"/>
          <a:lstStyle/>
          <a:p>
            <a:r>
              <a:rPr lang="en-US" sz="6400" b="1">
                <a:solidFill>
                  <a:srgbClr val="007788"/>
                </a:solidFill>
                <a:latin typeface="Roboto Slab" pitchFamily="2" charset="0"/>
                <a:ea typeface="Roboto Slab" pitchFamily="2" charset="0"/>
                <a:cs typeface="Roboto Slab" pitchFamily="2" charset="0"/>
              </a:rPr>
              <a:t>1 in 10</a:t>
            </a:r>
            <a:endParaRPr lang="en-US" sz="6400">
              <a:latin typeface="Roboto Slab" pitchFamily="2" charset="0"/>
              <a:ea typeface="Roboto Slab" pitchFamily="2" charset="0"/>
              <a:cs typeface="Roboto Slab" pitchFamily="2" charset="0"/>
            </a:endParaRPr>
          </a:p>
        </p:txBody>
      </p:sp>
      <p:sp>
        <p:nvSpPr>
          <p:cNvPr id="6" name="Text 3"/>
          <p:cNvSpPr/>
          <p:nvPr/>
        </p:nvSpPr>
        <p:spPr>
          <a:xfrm>
            <a:off x="914400" y="2764767"/>
            <a:ext cx="4587088" cy="320040"/>
          </a:xfrm>
          <a:prstGeom prst="rect">
            <a:avLst/>
          </a:prstGeom>
          <a:noFill/>
          <a:ln/>
        </p:spPr>
        <p:txBody>
          <a:bodyPr wrap="square" lIns="0" tIns="0" rIns="0" bIns="0" rtlCol="0" anchor="ctr"/>
          <a:lstStyle/>
          <a:p>
            <a:r>
              <a:rPr lang="en-US" sz="1500" kern="0" spc="100">
                <a:solidFill>
                  <a:srgbClr val="5B5766"/>
                </a:solidFill>
                <a:latin typeface="Roboto" panose="02000000000000000000" pitchFamily="2" charset="0"/>
                <a:ea typeface="Roboto" panose="02000000000000000000" pitchFamily="2" charset="0"/>
                <a:cs typeface="Roboto" panose="02000000000000000000" pitchFamily="2" charset="0"/>
              </a:rPr>
              <a:t>EMPLOYEES WITH UNTREATED SUD</a:t>
            </a:r>
            <a:endParaRPr lang="en-US" sz="1500">
              <a:latin typeface="Roboto" panose="02000000000000000000" pitchFamily="2" charset="0"/>
              <a:ea typeface="Roboto" panose="02000000000000000000" pitchFamily="2" charset="0"/>
              <a:cs typeface="Roboto" panose="02000000000000000000" pitchFamily="2" charset="0"/>
            </a:endParaRPr>
          </a:p>
        </p:txBody>
      </p:sp>
      <p:sp>
        <p:nvSpPr>
          <p:cNvPr id="7" name="Shape 4"/>
          <p:cNvSpPr/>
          <p:nvPr/>
        </p:nvSpPr>
        <p:spPr>
          <a:xfrm>
            <a:off x="6324448" y="1161757"/>
            <a:ext cx="5318608" cy="2169939"/>
          </a:xfrm>
          <a:prstGeom prst="roundRect">
            <a:avLst>
              <a:gd name="adj" fmla="val 4528"/>
            </a:avLst>
          </a:prstGeom>
          <a:solidFill>
            <a:srgbClr val="FFFFFF"/>
          </a:solidFill>
          <a:ln w="12700">
            <a:solidFill>
              <a:srgbClr val="E6E4EA"/>
            </a:solidFill>
            <a:prstDash val="solid"/>
          </a:ln>
          <a:effectLst>
            <a:outerShdw blurRad="101600" dist="25400" dir="5400000" algn="bl" rotWithShape="0">
              <a:srgbClr val="1A1A1A">
                <a:alpha val="8000"/>
              </a:srgbClr>
            </a:outerShdw>
          </a:effectLst>
        </p:spPr>
        <p:txBody>
          <a:bodyPr/>
          <a:lstStyle/>
          <a:p>
            <a:endParaRPr lang="en-US"/>
          </a:p>
        </p:txBody>
      </p:sp>
      <p:pic>
        <p:nvPicPr>
          <p:cNvPr id="8" name="Image 1" descr="/home/claude/pptx_work/row_5in6.png"/>
          <p:cNvPicPr>
            <a:picLocks noChangeAspect="1"/>
          </p:cNvPicPr>
          <p:nvPr/>
        </p:nvPicPr>
        <p:blipFill>
          <a:blip r:embed="rId4"/>
          <a:srcRect l="14789" b="-20067"/>
          <a:stretch>
            <a:fillRect/>
          </a:stretch>
        </p:blipFill>
        <p:spPr>
          <a:xfrm>
            <a:off x="6717100" y="1201144"/>
            <a:ext cx="1480429" cy="345837"/>
          </a:xfrm>
          <a:prstGeom prst="rect">
            <a:avLst/>
          </a:prstGeom>
        </p:spPr>
      </p:pic>
      <p:sp>
        <p:nvSpPr>
          <p:cNvPr id="9" name="Text 5"/>
          <p:cNvSpPr/>
          <p:nvPr/>
        </p:nvSpPr>
        <p:spPr>
          <a:xfrm>
            <a:off x="6671852" y="1653771"/>
            <a:ext cx="4587088" cy="868680"/>
          </a:xfrm>
          <a:prstGeom prst="rect">
            <a:avLst/>
          </a:prstGeom>
          <a:noFill/>
          <a:ln/>
        </p:spPr>
        <p:txBody>
          <a:bodyPr wrap="square" lIns="0" tIns="0" rIns="0" bIns="0" rtlCol="0" anchor="ctr"/>
          <a:lstStyle/>
          <a:p>
            <a:r>
              <a:rPr lang="en-US" sz="6400" b="1">
                <a:solidFill>
                  <a:srgbClr val="FFAD5B"/>
                </a:solidFill>
                <a:latin typeface="Roboto Slab" pitchFamily="2" charset="0"/>
                <a:ea typeface="Roboto Slab" pitchFamily="2" charset="0"/>
                <a:cs typeface="Roboto Slab" pitchFamily="2" charset="0"/>
              </a:rPr>
              <a:t>4 in 5</a:t>
            </a:r>
            <a:endParaRPr lang="en-US" sz="6400">
              <a:latin typeface="Roboto Slab" pitchFamily="2" charset="0"/>
              <a:ea typeface="Roboto Slab" pitchFamily="2" charset="0"/>
              <a:cs typeface="Roboto Slab" pitchFamily="2" charset="0"/>
            </a:endParaRPr>
          </a:p>
        </p:txBody>
      </p:sp>
      <p:sp>
        <p:nvSpPr>
          <p:cNvPr id="10" name="Text 6"/>
          <p:cNvSpPr/>
          <p:nvPr/>
        </p:nvSpPr>
        <p:spPr>
          <a:xfrm>
            <a:off x="6690208" y="2764767"/>
            <a:ext cx="4587088" cy="320040"/>
          </a:xfrm>
          <a:prstGeom prst="rect">
            <a:avLst/>
          </a:prstGeom>
          <a:noFill/>
          <a:ln/>
        </p:spPr>
        <p:txBody>
          <a:bodyPr wrap="square" lIns="0" tIns="0" rIns="0" bIns="0" rtlCol="0" anchor="ctr"/>
          <a:lstStyle/>
          <a:p>
            <a:r>
              <a:rPr lang="en-US" sz="1500" kern="0" spc="100">
                <a:solidFill>
                  <a:srgbClr val="5B5766"/>
                </a:solidFill>
                <a:latin typeface="Roboto" panose="02000000000000000000" pitchFamily="2" charset="0"/>
                <a:ea typeface="Roboto" panose="02000000000000000000" pitchFamily="2" charset="0"/>
                <a:cs typeface="Roboto" panose="02000000000000000000" pitchFamily="2" charset="0"/>
              </a:rPr>
              <a:t>IMPACTED ARE NEVER TREATED</a:t>
            </a:r>
            <a:endParaRPr lang="en-US" sz="1500">
              <a:latin typeface="Roboto" panose="02000000000000000000" pitchFamily="2" charset="0"/>
              <a:ea typeface="Roboto" panose="02000000000000000000" pitchFamily="2" charset="0"/>
              <a:cs typeface="Roboto" panose="02000000000000000000" pitchFamily="2" charset="0"/>
            </a:endParaRPr>
          </a:p>
        </p:txBody>
      </p:sp>
      <p:sp>
        <p:nvSpPr>
          <p:cNvPr id="11" name="Shape 7"/>
          <p:cNvSpPr/>
          <p:nvPr/>
        </p:nvSpPr>
        <p:spPr>
          <a:xfrm>
            <a:off x="548640" y="3387968"/>
            <a:ext cx="5318608" cy="2169939"/>
          </a:xfrm>
          <a:prstGeom prst="roundRect">
            <a:avLst>
              <a:gd name="adj" fmla="val 4528"/>
            </a:avLst>
          </a:prstGeom>
          <a:solidFill>
            <a:srgbClr val="FFFFFF"/>
          </a:solidFill>
          <a:ln w="12700">
            <a:solidFill>
              <a:srgbClr val="E6E4EA"/>
            </a:solidFill>
            <a:prstDash val="solid"/>
          </a:ln>
          <a:effectLst>
            <a:outerShdw blurRad="101600" dist="25400" dir="5400000" algn="bl" rotWithShape="0">
              <a:srgbClr val="1A1A1A">
                <a:alpha val="8000"/>
              </a:srgbClr>
            </a:outerShdw>
          </a:effectLst>
        </p:spPr>
        <p:txBody>
          <a:bodyPr/>
          <a:lstStyle/>
          <a:p>
            <a:endParaRPr lang="en-US"/>
          </a:p>
        </p:txBody>
      </p:sp>
      <p:sp>
        <p:nvSpPr>
          <p:cNvPr id="12" name="Text 8"/>
          <p:cNvSpPr/>
          <p:nvPr/>
        </p:nvSpPr>
        <p:spPr>
          <a:xfrm>
            <a:off x="886968" y="3637667"/>
            <a:ext cx="4587088" cy="868680"/>
          </a:xfrm>
          <a:prstGeom prst="rect">
            <a:avLst/>
          </a:prstGeom>
          <a:noFill/>
          <a:ln/>
        </p:spPr>
        <p:txBody>
          <a:bodyPr wrap="square" lIns="0" tIns="0" rIns="0" bIns="0" rtlCol="0" anchor="ctr"/>
          <a:lstStyle/>
          <a:p>
            <a:r>
              <a:rPr lang="en-US" sz="6400" b="1">
                <a:solidFill>
                  <a:srgbClr val="DB7D7B"/>
                </a:solidFill>
                <a:latin typeface="Roboto Slab" pitchFamily="2" charset="0"/>
                <a:ea typeface="Roboto Slab" pitchFamily="2" charset="0"/>
                <a:cs typeface="Roboto Slab" pitchFamily="2" charset="0"/>
              </a:rPr>
              <a:t>$8,817</a:t>
            </a:r>
            <a:endParaRPr lang="en-US" sz="6400">
              <a:latin typeface="Roboto Slab" pitchFamily="2" charset="0"/>
              <a:ea typeface="Roboto Slab" pitchFamily="2" charset="0"/>
              <a:cs typeface="Roboto Slab" pitchFamily="2" charset="0"/>
            </a:endParaRPr>
          </a:p>
        </p:txBody>
      </p:sp>
      <p:sp>
        <p:nvSpPr>
          <p:cNvPr id="13" name="Text 9"/>
          <p:cNvSpPr/>
          <p:nvPr/>
        </p:nvSpPr>
        <p:spPr>
          <a:xfrm>
            <a:off x="914400" y="4990979"/>
            <a:ext cx="4587088" cy="320040"/>
          </a:xfrm>
          <a:prstGeom prst="rect">
            <a:avLst/>
          </a:prstGeom>
          <a:noFill/>
          <a:ln/>
        </p:spPr>
        <p:txBody>
          <a:bodyPr wrap="square" lIns="0" tIns="0" rIns="0" bIns="0" rtlCol="0" anchor="ctr"/>
          <a:lstStyle/>
          <a:p>
            <a:r>
              <a:rPr lang="en-US" sz="1500" kern="0" spc="100">
                <a:solidFill>
                  <a:srgbClr val="5B5766"/>
                </a:solidFill>
                <a:latin typeface="Roboto" panose="02000000000000000000" pitchFamily="2" charset="0"/>
                <a:ea typeface="Roboto" panose="02000000000000000000" pitchFamily="2" charset="0"/>
                <a:cs typeface="Roboto" panose="02000000000000000000" pitchFamily="2" charset="0"/>
              </a:rPr>
              <a:t>ANNUAL COST PER IMPACTED EMPLOYEE</a:t>
            </a:r>
            <a:endParaRPr lang="en-US" sz="1500">
              <a:latin typeface="Roboto" panose="02000000000000000000" pitchFamily="2" charset="0"/>
              <a:ea typeface="Roboto" panose="02000000000000000000" pitchFamily="2" charset="0"/>
              <a:cs typeface="Roboto" panose="02000000000000000000" pitchFamily="2" charset="0"/>
            </a:endParaRPr>
          </a:p>
        </p:txBody>
      </p:sp>
      <p:sp>
        <p:nvSpPr>
          <p:cNvPr id="14" name="Shape 10"/>
          <p:cNvSpPr/>
          <p:nvPr/>
        </p:nvSpPr>
        <p:spPr>
          <a:xfrm>
            <a:off x="6324448" y="3387968"/>
            <a:ext cx="5318608" cy="2169939"/>
          </a:xfrm>
          <a:prstGeom prst="roundRect">
            <a:avLst>
              <a:gd name="adj" fmla="val 4528"/>
            </a:avLst>
          </a:prstGeom>
          <a:solidFill>
            <a:srgbClr val="FFFFFF"/>
          </a:solidFill>
          <a:ln w="12700">
            <a:solidFill>
              <a:srgbClr val="E6E4EA"/>
            </a:solidFill>
            <a:prstDash val="solid"/>
          </a:ln>
          <a:effectLst>
            <a:outerShdw blurRad="101600" dist="25400" dir="5400000" algn="bl" rotWithShape="0">
              <a:srgbClr val="1A1A1A">
                <a:alpha val="8000"/>
              </a:srgbClr>
            </a:outerShdw>
          </a:effectLst>
        </p:spPr>
        <p:txBody>
          <a:bodyPr/>
          <a:lstStyle/>
          <a:p>
            <a:endParaRPr lang="en-US"/>
          </a:p>
        </p:txBody>
      </p:sp>
      <p:sp>
        <p:nvSpPr>
          <p:cNvPr id="15" name="Text 11"/>
          <p:cNvSpPr/>
          <p:nvPr/>
        </p:nvSpPr>
        <p:spPr>
          <a:xfrm>
            <a:off x="6662776" y="3637667"/>
            <a:ext cx="4587088" cy="868680"/>
          </a:xfrm>
          <a:prstGeom prst="rect">
            <a:avLst/>
          </a:prstGeom>
          <a:noFill/>
          <a:ln/>
        </p:spPr>
        <p:txBody>
          <a:bodyPr wrap="square" lIns="0" tIns="0" rIns="0" bIns="0" rtlCol="0" anchor="ctr"/>
          <a:lstStyle/>
          <a:p>
            <a:r>
              <a:rPr lang="en-US" sz="6400" b="1">
                <a:solidFill>
                  <a:srgbClr val="9E483F"/>
                </a:solidFill>
                <a:latin typeface="Roboto Slab" pitchFamily="2" charset="0"/>
                <a:ea typeface="Roboto Slab" pitchFamily="2" charset="0"/>
                <a:cs typeface="Roboto Slab" pitchFamily="2" charset="0"/>
              </a:rPr>
              <a:t>30%</a:t>
            </a:r>
            <a:endParaRPr lang="en-US" sz="6400">
              <a:latin typeface="Roboto Slab" pitchFamily="2" charset="0"/>
              <a:ea typeface="Roboto Slab" pitchFamily="2" charset="0"/>
              <a:cs typeface="Roboto Slab" pitchFamily="2" charset="0"/>
            </a:endParaRPr>
          </a:p>
        </p:txBody>
      </p:sp>
      <p:sp>
        <p:nvSpPr>
          <p:cNvPr id="16" name="Text 12"/>
          <p:cNvSpPr/>
          <p:nvPr/>
        </p:nvSpPr>
        <p:spPr>
          <a:xfrm>
            <a:off x="6690208" y="4990979"/>
            <a:ext cx="4587088" cy="320040"/>
          </a:xfrm>
          <a:prstGeom prst="rect">
            <a:avLst/>
          </a:prstGeom>
          <a:noFill/>
          <a:ln/>
        </p:spPr>
        <p:txBody>
          <a:bodyPr wrap="square" lIns="0" tIns="0" rIns="0" bIns="0" rtlCol="0" anchor="ctr"/>
          <a:lstStyle/>
          <a:p>
            <a:r>
              <a:rPr lang="en-US" sz="1500" kern="0" spc="100">
                <a:solidFill>
                  <a:srgbClr val="5B5766"/>
                </a:solidFill>
                <a:latin typeface="Roboto" panose="02000000000000000000" pitchFamily="2" charset="0"/>
                <a:ea typeface="Roboto" panose="02000000000000000000" pitchFamily="2" charset="0"/>
                <a:cs typeface="Roboto" panose="02000000000000000000" pitchFamily="2" charset="0"/>
              </a:rPr>
              <a:t>INCREASED SUD COST IN 3 YEARS</a:t>
            </a:r>
            <a:endParaRPr lang="en-US" sz="1500">
              <a:latin typeface="Roboto" panose="02000000000000000000" pitchFamily="2" charset="0"/>
              <a:ea typeface="Roboto" panose="02000000000000000000" pitchFamily="2" charset="0"/>
              <a:cs typeface="Roboto" panose="02000000000000000000" pitchFamily="2" charset="0"/>
            </a:endParaRPr>
          </a:p>
        </p:txBody>
      </p:sp>
      <p:sp>
        <p:nvSpPr>
          <p:cNvPr id="17" name="Text 13"/>
          <p:cNvSpPr/>
          <p:nvPr/>
        </p:nvSpPr>
        <p:spPr>
          <a:xfrm>
            <a:off x="548640" y="6510528"/>
            <a:ext cx="7315200" cy="274320"/>
          </a:xfrm>
          <a:prstGeom prst="rect">
            <a:avLst/>
          </a:prstGeom>
          <a:noFill/>
          <a:ln/>
        </p:spPr>
        <p:txBody>
          <a:bodyPr wrap="square" lIns="0" tIns="0" rIns="0" bIns="0" rtlCol="0" anchor="ctr"/>
          <a:lstStyle/>
          <a:p>
            <a:r>
              <a:rPr lang="en-US" sz="900">
                <a:solidFill>
                  <a:srgbClr val="A39EB0"/>
                </a:solidFill>
                <a:latin typeface="Calibri" pitchFamily="34" charset="0"/>
                <a:ea typeface="Calibri" pitchFamily="34" charset="-122"/>
                <a:cs typeface="Calibri" pitchFamily="34" charset="-120"/>
              </a:rPr>
              <a:t>Sources: SAMHSA NSDUH, NSC/NORC 2025, U.S. Department of Labor</a:t>
            </a:r>
            <a:endParaRPr lang="en-US" sz="900"/>
          </a:p>
        </p:txBody>
      </p:sp>
      <p:sp>
        <p:nvSpPr>
          <p:cNvPr id="18" name="Text 31">
            <a:extLst>
              <a:ext uri="{FF2B5EF4-FFF2-40B4-BE49-F238E27FC236}">
                <a16:creationId xmlns:a16="http://schemas.microsoft.com/office/drawing/2014/main" id="{E3918F71-C3B1-81CC-0F39-C2EEF2EF195A}"/>
              </a:ext>
            </a:extLst>
          </p:cNvPr>
          <p:cNvSpPr/>
          <p:nvPr/>
        </p:nvSpPr>
        <p:spPr>
          <a:xfrm>
            <a:off x="502920" y="5719754"/>
            <a:ext cx="11201400" cy="640080"/>
          </a:xfrm>
          <a:prstGeom prst="rect">
            <a:avLst/>
          </a:prstGeom>
          <a:noFill/>
          <a:ln/>
        </p:spPr>
        <p:txBody>
          <a:bodyPr wrap="square" lIns="0" tIns="0" rIns="0" bIns="0" rtlCol="0" anchor="ctr"/>
          <a:lstStyle/>
          <a:p>
            <a:pPr algn="ctr"/>
            <a:r>
              <a:rPr lang="en-US" sz="3200" b="1">
                <a:solidFill>
                  <a:srgbClr val="59468D"/>
                </a:solidFill>
                <a:latin typeface="Roboto Slab" pitchFamily="2" charset="0"/>
                <a:ea typeface="Roboto Slab" pitchFamily="2" charset="0"/>
                <a:cs typeface="Roboto Slab" pitchFamily="2" charset="0"/>
              </a:rPr>
              <a:t>Per 1,000 employees: 100 untreated. 80 getting nothing.</a:t>
            </a:r>
            <a:endParaRPr lang="en-US" sz="3200">
              <a:latin typeface="Roboto Slab" pitchFamily="2" charset="0"/>
              <a:ea typeface="Roboto Slab" pitchFamily="2" charset="0"/>
              <a:cs typeface="Roboto Slab" pitchFamily="2" charset="0"/>
            </a:endParaRPr>
          </a:p>
        </p:txBody>
      </p:sp>
      <p:sp>
        <p:nvSpPr>
          <p:cNvPr id="19" name="Text 0">
            <a:extLst>
              <a:ext uri="{FF2B5EF4-FFF2-40B4-BE49-F238E27FC236}">
                <a16:creationId xmlns:a16="http://schemas.microsoft.com/office/drawing/2014/main" id="{59774D5D-B4F0-8C29-235F-51968681A694}"/>
              </a:ext>
            </a:extLst>
          </p:cNvPr>
          <p:cNvSpPr/>
          <p:nvPr/>
        </p:nvSpPr>
        <p:spPr>
          <a:xfrm>
            <a:off x="939591" y="558768"/>
            <a:ext cx="1097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570">
              <a:lnSpc>
                <a:spcPct val="139765"/>
              </a:lnSpc>
            </a:pPr>
            <a:r>
              <a:rPr lang="en-US" b="1" kern="0" spc="168">
                <a:solidFill>
                  <a:srgbClr val="FFAD5B"/>
                </a:solidFill>
                <a:latin typeface="Aptos" panose="02110004020202020204"/>
                <a:ea typeface="Roboto"/>
                <a:cs typeface="Roboto"/>
              </a:rPr>
              <a:t>SUD IMPACT IN THE WORKPLACE</a:t>
            </a:r>
            <a:endParaRPr lang="en-US">
              <a:solidFill>
                <a:srgbClr val="FFAD5B"/>
              </a:solidFill>
              <a:latin typeface="Roboto"/>
              <a:ea typeface="Roboto"/>
              <a:cs typeface="Roboto"/>
            </a:endParaRPr>
          </a:p>
        </p:txBody>
      </p:sp>
      <p:pic>
        <p:nvPicPr>
          <p:cNvPr id="20" name="Labyrinth Icon">
            <a:extLst>
              <a:ext uri="{FF2B5EF4-FFF2-40B4-BE49-F238E27FC236}">
                <a16:creationId xmlns:a16="http://schemas.microsoft.com/office/drawing/2014/main" id="{11684BD9-2B9A-C71B-6F16-AA9F057598C5}"/>
              </a:ext>
            </a:extLst>
          </p:cNvPr>
          <p:cNvPicPr>
            <a:picLocks noChangeAspect="1"/>
          </p:cNvPicPr>
          <p:nvPr/>
        </p:nvPicPr>
        <p:blipFill>
          <a:blip r:embed="rId5"/>
          <a:stretch>
            <a:fillRect/>
          </a:stretch>
        </p:blipFill>
        <p:spPr>
          <a:xfrm>
            <a:off x="609590" y="597200"/>
            <a:ext cx="220000" cy="200000"/>
          </a:xfrm>
          <a:prstGeom prst="rect">
            <a:avLst/>
          </a:prstGeom>
        </p:spPr>
      </p:pic>
    </p:spTree>
    <p:extLst>
      <p:ext uri="{BB962C8B-B14F-4D97-AF65-F5344CB8AC3E}">
        <p14:creationId xmlns:p14="http://schemas.microsoft.com/office/powerpoint/2010/main" val="1832926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F5F5F7"/>
        </a:solidFill>
        <a:effectLst/>
      </p:bgPr>
    </p:bg>
    <p:spTree>
      <p:nvGrpSpPr>
        <p:cNvPr id="1" name=""/>
        <p:cNvGrpSpPr/>
        <p:nvPr/>
      </p:nvGrpSpPr>
      <p:grpSpPr>
        <a:xfrm>
          <a:off x="0" y="0"/>
          <a:ext cx="0" cy="0"/>
          <a:chOff x="0" y="0"/>
          <a:chExt cx="0" cy="0"/>
        </a:xfrm>
      </p:grpSpPr>
      <p:sp>
        <p:nvSpPr>
          <p:cNvPr id="2" name="Text 0"/>
          <p:cNvSpPr/>
          <p:nvPr/>
        </p:nvSpPr>
        <p:spPr>
          <a:xfrm>
            <a:off x="939590" y="558767"/>
            <a:ext cx="10972007" cy="276865"/>
          </a:xfrm>
          <a:prstGeom prst="rect">
            <a:avLst/>
          </a:prstGeom>
          <a:noFill/>
          <a:ln/>
        </p:spPr>
        <p:txBody>
          <a:bodyPr wrap="square" lIns="0" tIns="0" rIns="0" bIns="0" rtlCol="0" anchor="ctr"/>
          <a:lstStyle/>
          <a:p>
            <a:pPr marL="0" indent="0">
              <a:buNone/>
            </a:pPr>
            <a:r>
              <a:rPr lang="en-US" sz="1200" b="1" kern="0" spc="168">
                <a:solidFill>
                  <a:srgbClr val="FFAD5B"/>
                </a:solidFill>
                <a:latin typeface="+mn-lt" pitchFamily="34" charset="0"/>
                <a:ea typeface="Calibri" pitchFamily="34" charset="-122"/>
                <a:cs typeface="Calibri" pitchFamily="34" charset="-120"/>
              </a:rPr>
              <a:t>THE CHAIN OF UNTREATED SUD</a:t>
            </a:r>
            <a:endParaRPr lang="en-US" sz="1500"/>
          </a:p>
        </p:txBody>
      </p:sp>
      <p:pic>
        <p:nvPicPr>
          <p:cNvPr id="3" name="Image 0" descr="/home/claude/squiggle.png"/>
          <p:cNvPicPr>
            <a:picLocks noChangeAspect="1"/>
          </p:cNvPicPr>
          <p:nvPr/>
        </p:nvPicPr>
        <p:blipFill>
          <a:blip r:embed="rId3"/>
          <a:stretch>
            <a:fillRect/>
          </a:stretch>
        </p:blipFill>
        <p:spPr>
          <a:xfrm>
            <a:off x="502920" y="808522"/>
            <a:ext cx="11201400" cy="777240"/>
          </a:xfrm>
          <a:prstGeom prst="rect">
            <a:avLst/>
          </a:prstGeom>
        </p:spPr>
      </p:pic>
      <p:pic>
        <p:nvPicPr>
          <p:cNvPr id="4" name="Image 1" descr="/home/claude/icon_clock.png"/>
          <p:cNvPicPr>
            <a:picLocks noChangeAspect="1"/>
          </p:cNvPicPr>
          <p:nvPr/>
        </p:nvPicPr>
        <p:blipFill>
          <a:blip r:embed="rId4"/>
          <a:stretch>
            <a:fillRect/>
          </a:stretch>
        </p:blipFill>
        <p:spPr>
          <a:xfrm>
            <a:off x="1115568" y="1417320"/>
            <a:ext cx="868680" cy="868680"/>
          </a:xfrm>
          <a:prstGeom prst="rect">
            <a:avLst/>
          </a:prstGeom>
        </p:spPr>
      </p:pic>
      <p:sp>
        <p:nvSpPr>
          <p:cNvPr id="5" name="Text 1"/>
          <p:cNvSpPr/>
          <p:nvPr/>
        </p:nvSpPr>
        <p:spPr>
          <a:xfrm>
            <a:off x="502920" y="2395728"/>
            <a:ext cx="2093976" cy="256032"/>
          </a:xfrm>
          <a:prstGeom prst="rect">
            <a:avLst/>
          </a:prstGeom>
          <a:noFill/>
          <a:ln/>
        </p:spPr>
        <p:txBody>
          <a:bodyPr wrap="square" lIns="0" tIns="0" rIns="0" bIns="0" rtlCol="0" anchor="ctr"/>
          <a:lstStyle/>
          <a:p>
            <a:pPr marL="0" indent="0" algn="ctr">
              <a:buNone/>
            </a:pPr>
            <a:r>
              <a:rPr lang="en-US" sz="1150" b="1" kern="0" spc="150">
                <a:solidFill>
                  <a:srgbClr val="007788"/>
                </a:solidFill>
                <a:latin typeface="Calibri" pitchFamily="34" charset="0"/>
                <a:ea typeface="Calibri" pitchFamily="34" charset="-122"/>
                <a:cs typeface="Calibri" pitchFamily="34" charset="-120"/>
              </a:rPr>
              <a:t>STAGE 1</a:t>
            </a:r>
            <a:endParaRPr lang="en-US" sz="1150"/>
          </a:p>
        </p:txBody>
      </p:sp>
      <p:sp>
        <p:nvSpPr>
          <p:cNvPr id="6" name="Text 2"/>
          <p:cNvSpPr/>
          <p:nvPr/>
        </p:nvSpPr>
        <p:spPr>
          <a:xfrm>
            <a:off x="502920" y="2670048"/>
            <a:ext cx="2093976" cy="777240"/>
          </a:xfrm>
          <a:prstGeom prst="rect">
            <a:avLst/>
          </a:prstGeom>
          <a:noFill/>
          <a:ln/>
        </p:spPr>
        <p:txBody>
          <a:bodyPr wrap="square" lIns="0" tIns="0" rIns="0" bIns="0" rtlCol="0" anchor="t"/>
          <a:lstStyle/>
          <a:p>
            <a:pPr marL="0" indent="0" algn="ctr">
              <a:lnSpc>
                <a:spcPct val="108000"/>
              </a:lnSpc>
              <a:buNone/>
            </a:pPr>
            <a:r>
              <a:rPr lang="en-US" sz="1550" b="1">
                <a:solidFill>
                  <a:srgbClr val="26232E"/>
                </a:solidFill>
                <a:latin typeface="Roboto Slab"/>
                <a:ea typeface="Roboto Slab"/>
                <a:cs typeface="Roboto Slab"/>
              </a:rPr>
              <a:t>A missed deadline</a:t>
            </a:r>
            <a:endParaRPr lang="en-US" sz="1550">
              <a:latin typeface="Roboto Slab"/>
              <a:ea typeface="Roboto Slab"/>
              <a:cs typeface="Roboto Slab"/>
            </a:endParaRPr>
          </a:p>
        </p:txBody>
      </p:sp>
      <p:sp>
        <p:nvSpPr>
          <p:cNvPr id="7" name="Shape 3"/>
          <p:cNvSpPr/>
          <p:nvPr/>
        </p:nvSpPr>
        <p:spPr>
          <a:xfrm>
            <a:off x="502920" y="3547872"/>
            <a:ext cx="2093976" cy="1691640"/>
          </a:xfrm>
          <a:prstGeom prst="roundRect">
            <a:avLst>
              <a:gd name="adj" fmla="val 4324"/>
            </a:avLst>
          </a:prstGeom>
          <a:solidFill>
            <a:srgbClr val="FFFFFF"/>
          </a:solidFill>
          <a:ln w="12700">
            <a:solidFill>
              <a:srgbClr val="FFFFFF"/>
            </a:solidFill>
            <a:prstDash val="solid"/>
          </a:ln>
          <a:effectLst>
            <a:outerShdw blurRad="76200" dist="25400" dir="5400000" algn="bl" rotWithShape="0">
              <a:srgbClr val="26232E">
                <a:alpha val="18000"/>
              </a:srgbClr>
            </a:outerShdw>
          </a:effectLst>
        </p:spPr>
        <p:txBody>
          <a:bodyPr/>
          <a:lstStyle/>
          <a:p>
            <a:endParaRPr lang="en-US"/>
          </a:p>
        </p:txBody>
      </p:sp>
      <p:sp>
        <p:nvSpPr>
          <p:cNvPr id="8" name="Text 4"/>
          <p:cNvSpPr/>
          <p:nvPr/>
        </p:nvSpPr>
        <p:spPr>
          <a:xfrm>
            <a:off x="594360" y="3657600"/>
            <a:ext cx="1911096" cy="411480"/>
          </a:xfrm>
          <a:prstGeom prst="rect">
            <a:avLst/>
          </a:prstGeom>
          <a:noFill/>
          <a:ln/>
        </p:spPr>
        <p:txBody>
          <a:bodyPr wrap="square" lIns="0" tIns="0" rIns="0" bIns="0" rtlCol="0" anchor="ctr"/>
          <a:lstStyle/>
          <a:p>
            <a:pPr marL="0" indent="0" algn="ctr">
              <a:buNone/>
            </a:pPr>
            <a:r>
              <a:rPr lang="en-US" sz="2000" b="1">
                <a:solidFill>
                  <a:srgbClr val="007788"/>
                </a:solidFill>
                <a:latin typeface="Roboto Slab"/>
                <a:ea typeface="Roboto Slab"/>
                <a:cs typeface="Roboto Slab"/>
              </a:rPr>
              <a:t>$15,000+</a:t>
            </a:r>
            <a:endParaRPr lang="en-US" sz="2000">
              <a:latin typeface="Roboto Slab"/>
              <a:ea typeface="Roboto Slab"/>
              <a:cs typeface="Roboto Slab"/>
            </a:endParaRPr>
          </a:p>
        </p:txBody>
      </p:sp>
      <p:sp>
        <p:nvSpPr>
          <p:cNvPr id="9" name="Text 5"/>
          <p:cNvSpPr/>
          <p:nvPr/>
        </p:nvSpPr>
        <p:spPr>
          <a:xfrm>
            <a:off x="594360" y="4041648"/>
            <a:ext cx="1911096" cy="274320"/>
          </a:xfrm>
          <a:prstGeom prst="rect">
            <a:avLst/>
          </a:prstGeom>
          <a:noFill/>
          <a:ln/>
        </p:spPr>
        <p:txBody>
          <a:bodyPr wrap="square" lIns="0" tIns="0" rIns="0" bIns="0" rtlCol="0" anchor="ctr"/>
          <a:lstStyle/>
          <a:p>
            <a:pPr marL="0" indent="0" algn="ctr">
              <a:buNone/>
            </a:pPr>
            <a:r>
              <a:rPr lang="en-US" sz="1050" b="1">
                <a:solidFill>
                  <a:srgbClr val="26232E"/>
                </a:solidFill>
                <a:latin typeface="Calibri" pitchFamily="34" charset="0"/>
                <a:ea typeface="Calibri" pitchFamily="34" charset="-122"/>
                <a:cs typeface="Calibri" pitchFamily="34" charset="-120"/>
              </a:rPr>
              <a:t>in lost output, per year</a:t>
            </a:r>
            <a:endParaRPr lang="en-US" sz="1050"/>
          </a:p>
        </p:txBody>
      </p:sp>
      <p:sp>
        <p:nvSpPr>
          <p:cNvPr id="10" name="Text 6"/>
          <p:cNvSpPr/>
          <p:nvPr/>
        </p:nvSpPr>
        <p:spPr>
          <a:xfrm>
            <a:off x="612648" y="4334256"/>
            <a:ext cx="1874520" cy="841248"/>
          </a:xfrm>
          <a:prstGeom prst="rect">
            <a:avLst/>
          </a:prstGeom>
          <a:noFill/>
          <a:ln/>
        </p:spPr>
        <p:txBody>
          <a:bodyPr wrap="square" lIns="0" tIns="0" rIns="0" bIns="0" rtlCol="0" anchor="t"/>
          <a:lstStyle/>
          <a:p>
            <a:pPr marL="0" indent="0" algn="ctr">
              <a:lnSpc>
                <a:spcPct val="115000"/>
              </a:lnSpc>
              <a:buNone/>
            </a:pPr>
            <a:r>
              <a:rPr lang="en-US" sz="1000">
                <a:solidFill>
                  <a:srgbClr val="7A7784"/>
                </a:solidFill>
                <a:latin typeface="Calibri"/>
                <a:ea typeface="Calibri"/>
                <a:cs typeface="Calibri"/>
              </a:rPr>
              <a:t>≈8 </a:t>
            </a:r>
            <a:r>
              <a:rPr lang="en-US" sz="1000" err="1">
                <a:solidFill>
                  <a:srgbClr val="7A7784"/>
                </a:solidFill>
                <a:latin typeface="Calibri"/>
                <a:ea typeface="Calibri"/>
                <a:cs typeface="Calibri"/>
              </a:rPr>
              <a:t>hrs</a:t>
            </a:r>
            <a:r>
              <a:rPr lang="en-US" sz="1000">
                <a:solidFill>
                  <a:srgbClr val="7A7784"/>
                </a:solidFill>
                <a:latin typeface="Calibri"/>
                <a:ea typeface="Calibri"/>
                <a:cs typeface="Calibri"/>
              </a:rPr>
              <a:t>/week of reduced output × avg. U.S. hourly wage (BLS, 2026), annualized</a:t>
            </a:r>
            <a:endParaRPr lang="en-US" sz="1000">
              <a:latin typeface="Calibri"/>
              <a:ea typeface="Calibri"/>
              <a:cs typeface="Calibri"/>
            </a:endParaRPr>
          </a:p>
        </p:txBody>
      </p:sp>
      <p:pic>
        <p:nvPicPr>
          <p:cNvPr id="11" name="Image 2" descr="/home/claude/icon_heart.png"/>
          <p:cNvPicPr>
            <a:picLocks noChangeAspect="1"/>
          </p:cNvPicPr>
          <p:nvPr/>
        </p:nvPicPr>
        <p:blipFill>
          <a:blip r:embed="rId5"/>
          <a:stretch>
            <a:fillRect/>
          </a:stretch>
        </p:blipFill>
        <p:spPr>
          <a:xfrm>
            <a:off x="3392424" y="1417320"/>
            <a:ext cx="868680" cy="868680"/>
          </a:xfrm>
          <a:prstGeom prst="rect">
            <a:avLst/>
          </a:prstGeom>
        </p:spPr>
      </p:pic>
      <p:sp>
        <p:nvSpPr>
          <p:cNvPr id="12" name="Text 7"/>
          <p:cNvSpPr/>
          <p:nvPr/>
        </p:nvSpPr>
        <p:spPr>
          <a:xfrm>
            <a:off x="2779776" y="2395728"/>
            <a:ext cx="2093976" cy="256032"/>
          </a:xfrm>
          <a:prstGeom prst="rect">
            <a:avLst/>
          </a:prstGeom>
          <a:noFill/>
          <a:ln/>
        </p:spPr>
        <p:txBody>
          <a:bodyPr wrap="square" lIns="0" tIns="0" rIns="0" bIns="0" rtlCol="0" anchor="ctr"/>
          <a:lstStyle/>
          <a:p>
            <a:pPr marL="0" indent="0" algn="ctr">
              <a:buNone/>
            </a:pPr>
            <a:r>
              <a:rPr lang="en-US" sz="1150" b="1" kern="0" spc="150">
                <a:solidFill>
                  <a:srgbClr val="FFAD5B"/>
                </a:solidFill>
                <a:latin typeface="Calibri" pitchFamily="34" charset="0"/>
                <a:ea typeface="Calibri" pitchFamily="34" charset="-122"/>
                <a:cs typeface="Calibri" pitchFamily="34" charset="-120"/>
              </a:rPr>
              <a:t>STAGE 2</a:t>
            </a:r>
            <a:endParaRPr lang="en-US" sz="1150"/>
          </a:p>
        </p:txBody>
      </p:sp>
      <p:sp>
        <p:nvSpPr>
          <p:cNvPr id="13" name="Text 8"/>
          <p:cNvSpPr/>
          <p:nvPr/>
        </p:nvSpPr>
        <p:spPr>
          <a:xfrm>
            <a:off x="2779776" y="2670048"/>
            <a:ext cx="2093976" cy="777240"/>
          </a:xfrm>
          <a:prstGeom prst="rect">
            <a:avLst/>
          </a:prstGeom>
          <a:noFill/>
          <a:ln/>
        </p:spPr>
        <p:txBody>
          <a:bodyPr wrap="square" lIns="0" tIns="0" rIns="0" bIns="0" rtlCol="0" anchor="t"/>
          <a:lstStyle/>
          <a:p>
            <a:pPr marL="0" indent="0" algn="ctr">
              <a:lnSpc>
                <a:spcPct val="108000"/>
              </a:lnSpc>
              <a:buNone/>
            </a:pPr>
            <a:r>
              <a:rPr lang="en-US" sz="1550" b="1">
                <a:solidFill>
                  <a:srgbClr val="26232E"/>
                </a:solidFill>
                <a:latin typeface="Roboto Slab"/>
                <a:ea typeface="Roboto Slab"/>
                <a:cs typeface="Roboto Slab"/>
              </a:rPr>
              <a:t>A relationship, quietly strained</a:t>
            </a:r>
            <a:endParaRPr lang="en-US" sz="1550">
              <a:latin typeface="Roboto Slab"/>
              <a:ea typeface="Roboto Slab"/>
              <a:cs typeface="Roboto Slab"/>
            </a:endParaRPr>
          </a:p>
        </p:txBody>
      </p:sp>
      <p:sp>
        <p:nvSpPr>
          <p:cNvPr id="14" name="Shape 9"/>
          <p:cNvSpPr/>
          <p:nvPr/>
        </p:nvSpPr>
        <p:spPr>
          <a:xfrm>
            <a:off x="2779776" y="3547872"/>
            <a:ext cx="2093976" cy="1691640"/>
          </a:xfrm>
          <a:prstGeom prst="roundRect">
            <a:avLst>
              <a:gd name="adj" fmla="val 4324"/>
            </a:avLst>
          </a:prstGeom>
          <a:solidFill>
            <a:srgbClr val="FFFFFF"/>
          </a:solidFill>
          <a:ln w="12700">
            <a:solidFill>
              <a:srgbClr val="FFFFFF"/>
            </a:solidFill>
            <a:prstDash val="solid"/>
          </a:ln>
          <a:effectLst>
            <a:outerShdw blurRad="76200" dist="25400" dir="5400000" algn="bl" rotWithShape="0">
              <a:srgbClr val="26232E">
                <a:alpha val="18000"/>
              </a:srgbClr>
            </a:outerShdw>
          </a:effectLst>
        </p:spPr>
        <p:txBody>
          <a:bodyPr/>
          <a:lstStyle/>
          <a:p>
            <a:endParaRPr lang="en-US"/>
          </a:p>
        </p:txBody>
      </p:sp>
      <p:sp>
        <p:nvSpPr>
          <p:cNvPr id="15" name="Text 10"/>
          <p:cNvSpPr/>
          <p:nvPr/>
        </p:nvSpPr>
        <p:spPr>
          <a:xfrm>
            <a:off x="2871216" y="3657600"/>
            <a:ext cx="1911096" cy="411480"/>
          </a:xfrm>
          <a:prstGeom prst="rect">
            <a:avLst/>
          </a:prstGeom>
          <a:noFill/>
          <a:ln/>
        </p:spPr>
        <p:txBody>
          <a:bodyPr wrap="square" lIns="0" tIns="0" rIns="0" bIns="0" rtlCol="0" anchor="ctr"/>
          <a:lstStyle/>
          <a:p>
            <a:pPr marL="0" indent="0" algn="ctr">
              <a:buNone/>
            </a:pPr>
            <a:r>
              <a:rPr lang="en-US" sz="2000" b="1">
                <a:solidFill>
                  <a:srgbClr val="FFAD5B"/>
                </a:solidFill>
                <a:latin typeface="Roboto Slab"/>
                <a:ea typeface="Roboto Slab"/>
                <a:cs typeface="Roboto Slab"/>
              </a:rPr>
              <a:t>$20,000+</a:t>
            </a:r>
            <a:endParaRPr lang="en-US" sz="2000">
              <a:latin typeface="Roboto Slab"/>
              <a:ea typeface="Roboto Slab"/>
              <a:cs typeface="Roboto Slab"/>
            </a:endParaRPr>
          </a:p>
        </p:txBody>
      </p:sp>
      <p:sp>
        <p:nvSpPr>
          <p:cNvPr id="16" name="Text 11"/>
          <p:cNvSpPr/>
          <p:nvPr/>
        </p:nvSpPr>
        <p:spPr>
          <a:xfrm>
            <a:off x="2871216" y="4041648"/>
            <a:ext cx="1911096" cy="274320"/>
          </a:xfrm>
          <a:prstGeom prst="rect">
            <a:avLst/>
          </a:prstGeom>
          <a:noFill/>
          <a:ln/>
        </p:spPr>
        <p:txBody>
          <a:bodyPr wrap="square" lIns="0" tIns="0" rIns="0" bIns="0" rtlCol="0" anchor="ctr"/>
          <a:lstStyle/>
          <a:p>
            <a:pPr marL="0" indent="0" algn="ctr">
              <a:buNone/>
            </a:pPr>
            <a:r>
              <a:rPr lang="en-US" sz="1050" b="1">
                <a:solidFill>
                  <a:srgbClr val="26232E"/>
                </a:solidFill>
                <a:latin typeface="Calibri" pitchFamily="34" charset="0"/>
                <a:ea typeface="Calibri" pitchFamily="34" charset="-122"/>
                <a:cs typeface="Calibri" pitchFamily="34" charset="-120"/>
              </a:rPr>
              <a:t>per leave event</a:t>
            </a:r>
            <a:endParaRPr lang="en-US" sz="1050"/>
          </a:p>
        </p:txBody>
      </p:sp>
      <p:sp>
        <p:nvSpPr>
          <p:cNvPr id="17" name="Text 12"/>
          <p:cNvSpPr/>
          <p:nvPr/>
        </p:nvSpPr>
        <p:spPr>
          <a:xfrm>
            <a:off x="2889504" y="4334256"/>
            <a:ext cx="1874520" cy="841248"/>
          </a:xfrm>
          <a:prstGeom prst="rect">
            <a:avLst/>
          </a:prstGeom>
          <a:noFill/>
          <a:ln/>
        </p:spPr>
        <p:txBody>
          <a:bodyPr wrap="square" lIns="0" tIns="0" rIns="0" bIns="0" rtlCol="0" anchor="t"/>
          <a:lstStyle/>
          <a:p>
            <a:pPr marL="0" indent="0" algn="ctr">
              <a:lnSpc>
                <a:spcPct val="115000"/>
              </a:lnSpc>
              <a:buNone/>
            </a:pPr>
            <a:r>
              <a:rPr lang="en-US" sz="1000">
                <a:solidFill>
                  <a:srgbClr val="7A7784"/>
                </a:solidFill>
                <a:latin typeface="Calibri"/>
                <a:ea typeface="Calibri"/>
                <a:cs typeface="Calibri"/>
              </a:rPr>
              <a:t>12-week FMLA leave: continued health premium (KFF, 2025) + backfill coverage (BLS, 2026)</a:t>
            </a:r>
            <a:endParaRPr lang="en-US" sz="1000">
              <a:latin typeface="Calibri"/>
              <a:ea typeface="Calibri"/>
              <a:cs typeface="Calibri"/>
            </a:endParaRPr>
          </a:p>
        </p:txBody>
      </p:sp>
      <p:pic>
        <p:nvPicPr>
          <p:cNvPr id="18" name="Image 3" descr="/home/claude/icon_clipboard.png"/>
          <p:cNvPicPr>
            <a:picLocks noChangeAspect="1"/>
          </p:cNvPicPr>
          <p:nvPr/>
        </p:nvPicPr>
        <p:blipFill>
          <a:blip r:embed="rId6"/>
          <a:stretch>
            <a:fillRect/>
          </a:stretch>
        </p:blipFill>
        <p:spPr>
          <a:xfrm>
            <a:off x="5669280" y="1417320"/>
            <a:ext cx="868680" cy="868680"/>
          </a:xfrm>
          <a:prstGeom prst="rect">
            <a:avLst/>
          </a:prstGeom>
        </p:spPr>
      </p:pic>
      <p:sp>
        <p:nvSpPr>
          <p:cNvPr id="19" name="Text 13"/>
          <p:cNvSpPr/>
          <p:nvPr/>
        </p:nvSpPr>
        <p:spPr>
          <a:xfrm>
            <a:off x="5056632" y="2395728"/>
            <a:ext cx="2093976" cy="256032"/>
          </a:xfrm>
          <a:prstGeom prst="rect">
            <a:avLst/>
          </a:prstGeom>
          <a:noFill/>
          <a:ln/>
        </p:spPr>
        <p:txBody>
          <a:bodyPr wrap="square" lIns="0" tIns="0" rIns="0" bIns="0" rtlCol="0" anchor="ctr"/>
          <a:lstStyle/>
          <a:p>
            <a:pPr marL="0" indent="0" algn="ctr">
              <a:buNone/>
            </a:pPr>
            <a:r>
              <a:rPr lang="en-US" sz="1150" b="1" kern="0" spc="150">
                <a:solidFill>
                  <a:srgbClr val="DB7D7B"/>
                </a:solidFill>
                <a:latin typeface="Calibri" pitchFamily="34" charset="0"/>
                <a:ea typeface="Calibri" pitchFamily="34" charset="-122"/>
                <a:cs typeface="Calibri" pitchFamily="34" charset="-120"/>
              </a:rPr>
              <a:t>STAGE 3</a:t>
            </a:r>
            <a:endParaRPr lang="en-US" sz="1150"/>
          </a:p>
        </p:txBody>
      </p:sp>
      <p:sp>
        <p:nvSpPr>
          <p:cNvPr id="20" name="Text 14"/>
          <p:cNvSpPr/>
          <p:nvPr/>
        </p:nvSpPr>
        <p:spPr>
          <a:xfrm>
            <a:off x="5056632" y="2670048"/>
            <a:ext cx="2093976" cy="777240"/>
          </a:xfrm>
          <a:prstGeom prst="rect">
            <a:avLst/>
          </a:prstGeom>
          <a:noFill/>
          <a:ln/>
        </p:spPr>
        <p:txBody>
          <a:bodyPr wrap="square" lIns="0" tIns="0" rIns="0" bIns="0" rtlCol="0" anchor="t"/>
          <a:lstStyle/>
          <a:p>
            <a:pPr marL="0" indent="0" algn="ctr">
              <a:lnSpc>
                <a:spcPct val="108000"/>
              </a:lnSpc>
              <a:buNone/>
            </a:pPr>
            <a:r>
              <a:rPr lang="en-US" sz="1550" b="1">
                <a:solidFill>
                  <a:srgbClr val="26232E"/>
                </a:solidFill>
                <a:latin typeface="Roboto Slab"/>
                <a:ea typeface="Roboto Slab"/>
                <a:cs typeface="Roboto Slab"/>
              </a:rPr>
              <a:t>A resignation no one probed</a:t>
            </a:r>
            <a:endParaRPr lang="en-US" sz="1550">
              <a:latin typeface="Roboto Slab"/>
              <a:ea typeface="Roboto Slab"/>
              <a:cs typeface="Roboto Slab"/>
            </a:endParaRPr>
          </a:p>
        </p:txBody>
      </p:sp>
      <p:sp>
        <p:nvSpPr>
          <p:cNvPr id="21" name="Shape 15"/>
          <p:cNvSpPr/>
          <p:nvPr/>
        </p:nvSpPr>
        <p:spPr>
          <a:xfrm>
            <a:off x="5056632" y="3547872"/>
            <a:ext cx="2093976" cy="1691640"/>
          </a:xfrm>
          <a:prstGeom prst="roundRect">
            <a:avLst>
              <a:gd name="adj" fmla="val 4324"/>
            </a:avLst>
          </a:prstGeom>
          <a:solidFill>
            <a:srgbClr val="FFFFFF"/>
          </a:solidFill>
          <a:ln w="12700">
            <a:solidFill>
              <a:srgbClr val="FFFFFF"/>
            </a:solidFill>
            <a:prstDash val="solid"/>
          </a:ln>
          <a:effectLst>
            <a:outerShdw blurRad="76200" dist="25400" dir="5400000" algn="bl" rotWithShape="0">
              <a:srgbClr val="26232E">
                <a:alpha val="18000"/>
              </a:srgbClr>
            </a:outerShdw>
          </a:effectLst>
        </p:spPr>
        <p:txBody>
          <a:bodyPr/>
          <a:lstStyle/>
          <a:p>
            <a:endParaRPr lang="en-US"/>
          </a:p>
        </p:txBody>
      </p:sp>
      <p:sp>
        <p:nvSpPr>
          <p:cNvPr id="22" name="Text 16"/>
          <p:cNvSpPr/>
          <p:nvPr/>
        </p:nvSpPr>
        <p:spPr>
          <a:xfrm>
            <a:off x="5148072" y="3657600"/>
            <a:ext cx="1911096" cy="411480"/>
          </a:xfrm>
          <a:prstGeom prst="rect">
            <a:avLst/>
          </a:prstGeom>
          <a:noFill/>
          <a:ln/>
        </p:spPr>
        <p:txBody>
          <a:bodyPr wrap="square" lIns="0" tIns="0" rIns="0" bIns="0" rtlCol="0" anchor="ctr"/>
          <a:lstStyle/>
          <a:p>
            <a:pPr marL="0" indent="0" algn="ctr">
              <a:buNone/>
            </a:pPr>
            <a:r>
              <a:rPr lang="en-US" sz="2000" b="1">
                <a:solidFill>
                  <a:srgbClr val="DB7D7B"/>
                </a:solidFill>
                <a:latin typeface="Roboto Slab"/>
                <a:ea typeface="Roboto Slab"/>
                <a:cs typeface="Roboto Slab"/>
              </a:rPr>
              <a:t>$30K–$45K</a:t>
            </a:r>
            <a:endParaRPr lang="en-US" sz="2000">
              <a:latin typeface="Roboto Slab"/>
              <a:ea typeface="Roboto Slab"/>
              <a:cs typeface="Roboto Slab"/>
            </a:endParaRPr>
          </a:p>
        </p:txBody>
      </p:sp>
      <p:sp>
        <p:nvSpPr>
          <p:cNvPr id="23" name="Text 17"/>
          <p:cNvSpPr/>
          <p:nvPr/>
        </p:nvSpPr>
        <p:spPr>
          <a:xfrm>
            <a:off x="5148072" y="4041648"/>
            <a:ext cx="1911096" cy="274320"/>
          </a:xfrm>
          <a:prstGeom prst="rect">
            <a:avLst/>
          </a:prstGeom>
          <a:noFill/>
          <a:ln/>
        </p:spPr>
        <p:txBody>
          <a:bodyPr wrap="square" lIns="0" tIns="0" rIns="0" bIns="0" rtlCol="0" anchor="ctr"/>
          <a:lstStyle/>
          <a:p>
            <a:pPr marL="0" indent="0" algn="ctr">
              <a:buNone/>
            </a:pPr>
            <a:r>
              <a:rPr lang="en-US" sz="1050" b="1">
                <a:solidFill>
                  <a:srgbClr val="26232E"/>
                </a:solidFill>
                <a:latin typeface="Calibri" pitchFamily="34" charset="0"/>
                <a:ea typeface="Calibri" pitchFamily="34" charset="-122"/>
                <a:cs typeface="Calibri" pitchFamily="34" charset="-120"/>
              </a:rPr>
              <a:t>to replace one employee</a:t>
            </a:r>
            <a:endParaRPr lang="en-US" sz="1050"/>
          </a:p>
        </p:txBody>
      </p:sp>
      <p:sp>
        <p:nvSpPr>
          <p:cNvPr id="24" name="Text 18"/>
          <p:cNvSpPr/>
          <p:nvPr/>
        </p:nvSpPr>
        <p:spPr>
          <a:xfrm>
            <a:off x="5166360" y="4334256"/>
            <a:ext cx="1874520" cy="841248"/>
          </a:xfrm>
          <a:prstGeom prst="rect">
            <a:avLst/>
          </a:prstGeom>
          <a:noFill/>
          <a:ln/>
        </p:spPr>
        <p:txBody>
          <a:bodyPr wrap="square" lIns="0" tIns="0" rIns="0" bIns="0" rtlCol="0" anchor="t"/>
          <a:lstStyle/>
          <a:p>
            <a:pPr marL="0" indent="0" algn="ctr">
              <a:lnSpc>
                <a:spcPct val="115000"/>
              </a:lnSpc>
              <a:buNone/>
            </a:pPr>
            <a:r>
              <a:rPr lang="en-US" sz="1000">
                <a:solidFill>
                  <a:srgbClr val="7A7784"/>
                </a:solidFill>
                <a:latin typeface="Calibri"/>
                <a:ea typeface="Calibri"/>
                <a:cs typeface="Calibri"/>
              </a:rPr>
              <a:t>6–9 months of salary: recruiting, onboarding, ramp-up to full productivity (SHRM)</a:t>
            </a:r>
            <a:endParaRPr lang="en-US" sz="1000">
              <a:latin typeface="Calibri"/>
              <a:ea typeface="Calibri"/>
              <a:cs typeface="Calibri"/>
            </a:endParaRPr>
          </a:p>
        </p:txBody>
      </p:sp>
      <p:pic>
        <p:nvPicPr>
          <p:cNvPr id="25" name="Image 4" descr="/home/claude/icon_warning.png"/>
          <p:cNvPicPr>
            <a:picLocks noChangeAspect="1"/>
          </p:cNvPicPr>
          <p:nvPr/>
        </p:nvPicPr>
        <p:blipFill>
          <a:blip r:embed="rId7"/>
          <a:stretch>
            <a:fillRect/>
          </a:stretch>
        </p:blipFill>
        <p:spPr>
          <a:xfrm>
            <a:off x="7946136" y="1417320"/>
            <a:ext cx="868680" cy="868680"/>
          </a:xfrm>
          <a:prstGeom prst="rect">
            <a:avLst/>
          </a:prstGeom>
        </p:spPr>
      </p:pic>
      <p:sp>
        <p:nvSpPr>
          <p:cNvPr id="26" name="Text 19"/>
          <p:cNvSpPr/>
          <p:nvPr/>
        </p:nvSpPr>
        <p:spPr>
          <a:xfrm>
            <a:off x="7333488" y="2395728"/>
            <a:ext cx="2093976" cy="256032"/>
          </a:xfrm>
          <a:prstGeom prst="rect">
            <a:avLst/>
          </a:prstGeom>
          <a:noFill/>
          <a:ln/>
        </p:spPr>
        <p:txBody>
          <a:bodyPr wrap="square" lIns="0" tIns="0" rIns="0" bIns="0" rtlCol="0" anchor="ctr"/>
          <a:lstStyle/>
          <a:p>
            <a:pPr marL="0" indent="0" algn="ctr">
              <a:buNone/>
            </a:pPr>
            <a:r>
              <a:rPr lang="en-US" sz="1150" b="1" kern="0" spc="150">
                <a:solidFill>
                  <a:srgbClr val="BA625D"/>
                </a:solidFill>
                <a:latin typeface="Calibri" pitchFamily="34" charset="0"/>
                <a:ea typeface="Calibri" pitchFamily="34" charset="-122"/>
                <a:cs typeface="Calibri" pitchFamily="34" charset="-120"/>
              </a:rPr>
              <a:t>STAGE 4</a:t>
            </a:r>
            <a:endParaRPr lang="en-US" sz="1150"/>
          </a:p>
        </p:txBody>
      </p:sp>
      <p:sp>
        <p:nvSpPr>
          <p:cNvPr id="27" name="Text 20"/>
          <p:cNvSpPr/>
          <p:nvPr/>
        </p:nvSpPr>
        <p:spPr>
          <a:xfrm>
            <a:off x="7333488" y="2670048"/>
            <a:ext cx="2093976" cy="777240"/>
          </a:xfrm>
          <a:prstGeom prst="rect">
            <a:avLst/>
          </a:prstGeom>
          <a:noFill/>
          <a:ln/>
        </p:spPr>
        <p:txBody>
          <a:bodyPr wrap="square" lIns="0" tIns="0" rIns="0" bIns="0" rtlCol="0" anchor="t"/>
          <a:lstStyle/>
          <a:p>
            <a:pPr marL="0" indent="0" algn="ctr">
              <a:lnSpc>
                <a:spcPct val="108000"/>
              </a:lnSpc>
              <a:buNone/>
            </a:pPr>
            <a:r>
              <a:rPr lang="en-US" sz="1550" b="1">
                <a:solidFill>
                  <a:srgbClr val="26232E"/>
                </a:solidFill>
                <a:latin typeface="Roboto Slab"/>
                <a:ea typeface="Roboto Slab"/>
                <a:cs typeface="Roboto Slab"/>
              </a:rPr>
              <a:t>An incident in the plant or the field</a:t>
            </a:r>
            <a:endParaRPr lang="en-US" sz="1550">
              <a:latin typeface="Roboto Slab"/>
              <a:ea typeface="Roboto Slab"/>
              <a:cs typeface="Roboto Slab"/>
            </a:endParaRPr>
          </a:p>
        </p:txBody>
      </p:sp>
      <p:sp>
        <p:nvSpPr>
          <p:cNvPr id="28" name="Shape 21"/>
          <p:cNvSpPr/>
          <p:nvPr/>
        </p:nvSpPr>
        <p:spPr>
          <a:xfrm>
            <a:off x="7333488" y="3547872"/>
            <a:ext cx="2093976" cy="1691640"/>
          </a:xfrm>
          <a:prstGeom prst="roundRect">
            <a:avLst>
              <a:gd name="adj" fmla="val 4324"/>
            </a:avLst>
          </a:prstGeom>
          <a:solidFill>
            <a:srgbClr val="FFFFFF"/>
          </a:solidFill>
          <a:ln w="12700">
            <a:solidFill>
              <a:srgbClr val="FFFFFF"/>
            </a:solidFill>
            <a:prstDash val="solid"/>
          </a:ln>
          <a:effectLst>
            <a:outerShdw blurRad="76200" dist="25400" dir="5400000" algn="bl" rotWithShape="0">
              <a:srgbClr val="26232E">
                <a:alpha val="18000"/>
              </a:srgbClr>
            </a:outerShdw>
          </a:effectLst>
        </p:spPr>
        <p:txBody>
          <a:bodyPr/>
          <a:lstStyle/>
          <a:p>
            <a:endParaRPr lang="en-US"/>
          </a:p>
        </p:txBody>
      </p:sp>
      <p:sp>
        <p:nvSpPr>
          <p:cNvPr id="29" name="Text 22"/>
          <p:cNvSpPr/>
          <p:nvPr/>
        </p:nvSpPr>
        <p:spPr>
          <a:xfrm>
            <a:off x="7424928" y="3657600"/>
            <a:ext cx="1911096" cy="411480"/>
          </a:xfrm>
          <a:prstGeom prst="rect">
            <a:avLst/>
          </a:prstGeom>
          <a:noFill/>
          <a:ln/>
        </p:spPr>
        <p:txBody>
          <a:bodyPr wrap="square" lIns="0" tIns="0" rIns="0" bIns="0" rtlCol="0" anchor="ctr"/>
          <a:lstStyle/>
          <a:p>
            <a:pPr marL="0" indent="0" algn="ctr">
              <a:buNone/>
            </a:pPr>
            <a:r>
              <a:rPr lang="en-US" sz="2000" b="1">
                <a:solidFill>
                  <a:srgbClr val="BA625D"/>
                </a:solidFill>
                <a:latin typeface="Roboto Slab"/>
                <a:ea typeface="Roboto Slab"/>
                <a:cs typeface="Roboto Slab"/>
              </a:rPr>
              <a:t>$47,316</a:t>
            </a:r>
            <a:endParaRPr lang="en-US" sz="2000">
              <a:latin typeface="Roboto Slab"/>
              <a:ea typeface="Roboto Slab"/>
              <a:cs typeface="Roboto Slab"/>
            </a:endParaRPr>
          </a:p>
        </p:txBody>
      </p:sp>
      <p:sp>
        <p:nvSpPr>
          <p:cNvPr id="30" name="Text 23"/>
          <p:cNvSpPr/>
          <p:nvPr/>
        </p:nvSpPr>
        <p:spPr>
          <a:xfrm>
            <a:off x="7424928" y="4041648"/>
            <a:ext cx="1911096" cy="274320"/>
          </a:xfrm>
          <a:prstGeom prst="rect">
            <a:avLst/>
          </a:prstGeom>
          <a:noFill/>
          <a:ln/>
        </p:spPr>
        <p:txBody>
          <a:bodyPr wrap="square" lIns="0" tIns="0" rIns="0" bIns="0" rtlCol="0" anchor="ctr"/>
          <a:lstStyle/>
          <a:p>
            <a:pPr marL="0" indent="0" algn="ctr">
              <a:buNone/>
            </a:pPr>
            <a:r>
              <a:rPr lang="en-US" sz="1050" b="1">
                <a:solidFill>
                  <a:srgbClr val="26232E"/>
                </a:solidFill>
                <a:latin typeface="Calibri" pitchFamily="34" charset="0"/>
                <a:ea typeface="Calibri" pitchFamily="34" charset="-122"/>
                <a:cs typeface="Calibri" pitchFamily="34" charset="-120"/>
              </a:rPr>
              <a:t>average claim cost</a:t>
            </a:r>
            <a:endParaRPr lang="en-US" sz="1050"/>
          </a:p>
        </p:txBody>
      </p:sp>
      <p:sp>
        <p:nvSpPr>
          <p:cNvPr id="31" name="Text 24"/>
          <p:cNvSpPr/>
          <p:nvPr/>
        </p:nvSpPr>
        <p:spPr>
          <a:xfrm>
            <a:off x="7443216" y="4334256"/>
            <a:ext cx="1874520" cy="841248"/>
          </a:xfrm>
          <a:prstGeom prst="rect">
            <a:avLst/>
          </a:prstGeom>
          <a:noFill/>
          <a:ln/>
        </p:spPr>
        <p:txBody>
          <a:bodyPr wrap="square" lIns="0" tIns="0" rIns="0" bIns="0" rtlCol="0" anchor="t"/>
          <a:lstStyle/>
          <a:p>
            <a:pPr marL="0" indent="0" algn="ctr">
              <a:lnSpc>
                <a:spcPct val="115000"/>
              </a:lnSpc>
              <a:buNone/>
            </a:pPr>
            <a:r>
              <a:rPr lang="en-US" sz="1000">
                <a:solidFill>
                  <a:srgbClr val="7A7784"/>
                </a:solidFill>
                <a:latin typeface="Calibri" pitchFamily="34" charset="0"/>
                <a:ea typeface="Calibri" pitchFamily="34" charset="-122"/>
                <a:cs typeface="Calibri" pitchFamily="34" charset="-120"/>
              </a:rPr>
              <a:t>Average lost-time workers' comp claim (NCCI, via National Safety Council, 2025)</a:t>
            </a:r>
            <a:endParaRPr lang="en-US" sz="1000"/>
          </a:p>
        </p:txBody>
      </p:sp>
      <p:pic>
        <p:nvPicPr>
          <p:cNvPr id="32" name="Image 5" descr="/home/claude/icon_pulse.png"/>
          <p:cNvPicPr>
            <a:picLocks noChangeAspect="1"/>
          </p:cNvPicPr>
          <p:nvPr/>
        </p:nvPicPr>
        <p:blipFill>
          <a:blip r:embed="rId8"/>
          <a:stretch>
            <a:fillRect/>
          </a:stretch>
        </p:blipFill>
        <p:spPr>
          <a:xfrm>
            <a:off x="10222992" y="1417320"/>
            <a:ext cx="868680" cy="868680"/>
          </a:xfrm>
          <a:prstGeom prst="rect">
            <a:avLst/>
          </a:prstGeom>
        </p:spPr>
      </p:pic>
      <p:sp>
        <p:nvSpPr>
          <p:cNvPr id="33" name="Text 25"/>
          <p:cNvSpPr/>
          <p:nvPr/>
        </p:nvSpPr>
        <p:spPr>
          <a:xfrm>
            <a:off x="9610344" y="2395728"/>
            <a:ext cx="2093976" cy="256032"/>
          </a:xfrm>
          <a:prstGeom prst="rect">
            <a:avLst/>
          </a:prstGeom>
          <a:noFill/>
          <a:ln/>
        </p:spPr>
        <p:txBody>
          <a:bodyPr wrap="square" lIns="0" tIns="0" rIns="0" bIns="0" rtlCol="0" anchor="ctr"/>
          <a:lstStyle/>
          <a:p>
            <a:pPr marL="0" indent="0" algn="ctr">
              <a:buNone/>
            </a:pPr>
            <a:r>
              <a:rPr lang="en-US" sz="1150" b="1" kern="0" spc="150">
                <a:solidFill>
                  <a:srgbClr val="9E483F"/>
                </a:solidFill>
                <a:latin typeface="Calibri" pitchFamily="34" charset="0"/>
                <a:ea typeface="Calibri" pitchFamily="34" charset="-122"/>
                <a:cs typeface="Calibri" pitchFamily="34" charset="-120"/>
              </a:rPr>
              <a:t>STAGE 5</a:t>
            </a:r>
            <a:endParaRPr lang="en-US" sz="1150"/>
          </a:p>
        </p:txBody>
      </p:sp>
      <p:sp>
        <p:nvSpPr>
          <p:cNvPr id="34" name="Text 26"/>
          <p:cNvSpPr/>
          <p:nvPr/>
        </p:nvSpPr>
        <p:spPr>
          <a:xfrm>
            <a:off x="9610344" y="2670048"/>
            <a:ext cx="2093976" cy="777240"/>
          </a:xfrm>
          <a:prstGeom prst="rect">
            <a:avLst/>
          </a:prstGeom>
          <a:noFill/>
          <a:ln/>
        </p:spPr>
        <p:txBody>
          <a:bodyPr wrap="square" lIns="0" tIns="0" rIns="0" bIns="0" rtlCol="0" anchor="t"/>
          <a:lstStyle/>
          <a:p>
            <a:pPr marL="0" indent="0" algn="ctr">
              <a:lnSpc>
                <a:spcPct val="108000"/>
              </a:lnSpc>
              <a:buNone/>
            </a:pPr>
            <a:r>
              <a:rPr lang="en-US" sz="1550" b="1">
                <a:solidFill>
                  <a:srgbClr val="26232E"/>
                </a:solidFill>
                <a:latin typeface="Roboto Slab"/>
                <a:ea typeface="Roboto Slab"/>
                <a:cs typeface="Roboto Slab"/>
              </a:rPr>
              <a:t>A body that's had enough</a:t>
            </a:r>
            <a:endParaRPr lang="en-US" sz="1550">
              <a:latin typeface="Roboto Slab"/>
              <a:ea typeface="Roboto Slab"/>
              <a:cs typeface="Roboto Slab"/>
            </a:endParaRPr>
          </a:p>
        </p:txBody>
      </p:sp>
      <p:sp>
        <p:nvSpPr>
          <p:cNvPr id="35" name="Shape 27"/>
          <p:cNvSpPr/>
          <p:nvPr/>
        </p:nvSpPr>
        <p:spPr>
          <a:xfrm>
            <a:off x="9610344" y="3547872"/>
            <a:ext cx="2093976" cy="1691640"/>
          </a:xfrm>
          <a:prstGeom prst="roundRect">
            <a:avLst>
              <a:gd name="adj" fmla="val 4324"/>
            </a:avLst>
          </a:prstGeom>
          <a:solidFill>
            <a:srgbClr val="FFFFFF"/>
          </a:solidFill>
          <a:ln w="12700">
            <a:solidFill>
              <a:srgbClr val="FFFFFF"/>
            </a:solidFill>
            <a:prstDash val="solid"/>
          </a:ln>
          <a:effectLst>
            <a:outerShdw blurRad="76200" dist="25400" dir="5400000" algn="bl" rotWithShape="0">
              <a:srgbClr val="26232E">
                <a:alpha val="18000"/>
              </a:srgbClr>
            </a:outerShdw>
          </a:effectLst>
        </p:spPr>
        <p:txBody>
          <a:bodyPr/>
          <a:lstStyle/>
          <a:p>
            <a:endParaRPr lang="en-US"/>
          </a:p>
        </p:txBody>
      </p:sp>
      <p:sp>
        <p:nvSpPr>
          <p:cNvPr id="36" name="Text 28"/>
          <p:cNvSpPr/>
          <p:nvPr/>
        </p:nvSpPr>
        <p:spPr>
          <a:xfrm>
            <a:off x="9701784" y="3657600"/>
            <a:ext cx="1911096" cy="411480"/>
          </a:xfrm>
          <a:prstGeom prst="rect">
            <a:avLst/>
          </a:prstGeom>
          <a:noFill/>
          <a:ln/>
        </p:spPr>
        <p:txBody>
          <a:bodyPr wrap="square" lIns="0" tIns="0" rIns="0" bIns="0" rtlCol="0" anchor="ctr"/>
          <a:lstStyle/>
          <a:p>
            <a:pPr marL="0" indent="0" algn="ctr">
              <a:buNone/>
            </a:pPr>
            <a:r>
              <a:rPr lang="en-US" sz="2000" b="1">
                <a:solidFill>
                  <a:srgbClr val="9E483F"/>
                </a:solidFill>
                <a:latin typeface="Roboto Slab"/>
                <a:ea typeface="Roboto Slab"/>
                <a:cs typeface="Roboto Slab"/>
              </a:rPr>
              <a:t>$485,320</a:t>
            </a:r>
            <a:endParaRPr lang="en-US" sz="2000">
              <a:latin typeface="Roboto Slab"/>
              <a:ea typeface="Roboto Slab"/>
              <a:cs typeface="Roboto Slab"/>
            </a:endParaRPr>
          </a:p>
        </p:txBody>
      </p:sp>
      <p:sp>
        <p:nvSpPr>
          <p:cNvPr id="37" name="Text 29"/>
          <p:cNvSpPr/>
          <p:nvPr/>
        </p:nvSpPr>
        <p:spPr>
          <a:xfrm>
            <a:off x="9701784" y="4041648"/>
            <a:ext cx="1911096" cy="274320"/>
          </a:xfrm>
          <a:prstGeom prst="rect">
            <a:avLst/>
          </a:prstGeom>
          <a:noFill/>
          <a:ln/>
        </p:spPr>
        <p:txBody>
          <a:bodyPr wrap="square" lIns="0" tIns="0" rIns="0" bIns="0" rtlCol="0" anchor="ctr"/>
          <a:lstStyle/>
          <a:p>
            <a:pPr marL="0" indent="0" algn="ctr">
              <a:buNone/>
            </a:pPr>
            <a:r>
              <a:rPr lang="en-US" sz="1050" b="1">
                <a:solidFill>
                  <a:srgbClr val="26232E"/>
                </a:solidFill>
                <a:latin typeface="Calibri" pitchFamily="34" charset="0"/>
                <a:ea typeface="Calibri" pitchFamily="34" charset="-122"/>
                <a:cs typeface="Calibri" pitchFamily="34" charset="-120"/>
              </a:rPr>
              <a:t>average claim cost</a:t>
            </a:r>
            <a:endParaRPr lang="en-US" sz="1050"/>
          </a:p>
        </p:txBody>
      </p:sp>
      <p:sp>
        <p:nvSpPr>
          <p:cNvPr id="38" name="Text 30"/>
          <p:cNvSpPr/>
          <p:nvPr/>
        </p:nvSpPr>
        <p:spPr>
          <a:xfrm>
            <a:off x="9720072" y="4334256"/>
            <a:ext cx="1874520" cy="841248"/>
          </a:xfrm>
          <a:prstGeom prst="rect">
            <a:avLst/>
          </a:prstGeom>
          <a:noFill/>
          <a:ln/>
        </p:spPr>
        <p:txBody>
          <a:bodyPr wrap="square" lIns="0" tIns="0" rIns="0" bIns="0" rtlCol="0" anchor="t"/>
          <a:lstStyle/>
          <a:p>
            <a:pPr marL="0" indent="0" algn="ctr">
              <a:lnSpc>
                <a:spcPct val="115000"/>
              </a:lnSpc>
              <a:buNone/>
            </a:pPr>
            <a:r>
              <a:rPr lang="en-US" sz="1000">
                <a:solidFill>
                  <a:srgbClr val="7A7784"/>
                </a:solidFill>
                <a:latin typeface="Calibri"/>
                <a:ea typeface="Calibri"/>
                <a:cs typeface="Calibri"/>
              </a:rPr>
              <a:t>Average cost of a single cancer diagnosis to a self-funded health plan (Voya Stop-Loss Analysis, 2025)</a:t>
            </a:r>
            <a:endParaRPr lang="en-US" sz="1000">
              <a:latin typeface="Calibri"/>
              <a:ea typeface="Calibri"/>
              <a:cs typeface="Calibri"/>
            </a:endParaRPr>
          </a:p>
        </p:txBody>
      </p:sp>
      <p:sp>
        <p:nvSpPr>
          <p:cNvPr id="39" name="Text 31"/>
          <p:cNvSpPr/>
          <p:nvPr/>
        </p:nvSpPr>
        <p:spPr>
          <a:xfrm>
            <a:off x="502920" y="5486400"/>
            <a:ext cx="11201400" cy="640080"/>
          </a:xfrm>
          <a:prstGeom prst="rect">
            <a:avLst/>
          </a:prstGeom>
          <a:noFill/>
          <a:ln/>
        </p:spPr>
        <p:txBody>
          <a:bodyPr wrap="square" lIns="0" tIns="0" rIns="0" bIns="0" rtlCol="0" anchor="ctr"/>
          <a:lstStyle/>
          <a:p>
            <a:pPr marL="0" indent="0">
              <a:buNone/>
            </a:pPr>
            <a:r>
              <a:rPr lang="en-US" sz="3200" b="1">
                <a:solidFill>
                  <a:srgbClr val="59468D"/>
                </a:solidFill>
                <a:latin typeface="Roboto Slab"/>
                <a:ea typeface="Roboto Slab"/>
                <a:cs typeface="Roboto Slab"/>
              </a:rPr>
              <a:t>Someone just had to catch stage one.</a:t>
            </a:r>
            <a:endParaRPr lang="en-US" sz="3200">
              <a:latin typeface="Roboto Slab"/>
              <a:ea typeface="Roboto Slab"/>
              <a:cs typeface="Roboto Slab"/>
            </a:endParaRPr>
          </a:p>
        </p:txBody>
      </p:sp>
      <p:sp>
        <p:nvSpPr>
          <p:cNvPr id="40" name="Text 32"/>
          <p:cNvSpPr/>
          <p:nvPr/>
        </p:nvSpPr>
        <p:spPr>
          <a:xfrm>
            <a:off x="502920" y="6108192"/>
            <a:ext cx="10058400" cy="365760"/>
          </a:xfrm>
          <a:prstGeom prst="rect">
            <a:avLst/>
          </a:prstGeom>
          <a:noFill/>
          <a:ln/>
        </p:spPr>
        <p:txBody>
          <a:bodyPr wrap="square" lIns="0" tIns="0" rIns="0" bIns="0" rtlCol="0" anchor="ctr"/>
          <a:lstStyle/>
          <a:p>
            <a:pPr marL="0" indent="0">
              <a:buNone/>
            </a:pPr>
            <a:r>
              <a:rPr lang="en-US" sz="1350">
                <a:solidFill>
                  <a:srgbClr val="26232E"/>
                </a:solidFill>
                <a:latin typeface="Calibri" pitchFamily="34" charset="0"/>
                <a:ea typeface="Calibri" pitchFamily="34" charset="-122"/>
                <a:cs typeface="Calibri" pitchFamily="34" charset="-120"/>
              </a:rPr>
              <a:t>Every stage has a price tag. Sobrynth is built to interrupt the chain before it starts.</a:t>
            </a:r>
            <a:endParaRPr lang="en-US" sz="1350"/>
          </a:p>
        </p:txBody>
      </p:sp>
      <p:sp>
        <p:nvSpPr>
          <p:cNvPr id="9001" name="Sobrynth Trademark"/>
          <p:cNvSpPr/>
          <p:nvPr/>
        </p:nvSpPr>
        <p:spPr>
          <a:xfrm>
            <a:off x="7582410" y="6690000"/>
            <a:ext cx="4000000" cy="140000"/>
          </a:xfrm>
          <a:prstGeom prst="rect">
            <a:avLst/>
          </a:prstGeom>
          <a:noFill/>
          <a:ln/>
        </p:spPr>
        <p:txBody>
          <a:bodyPr wrap="square" lIns="0" tIns="0" rIns="0" bIns="0" anchor="b"/>
          <a:lstStyle/>
          <a:p>
            <a:pPr algn="r"/>
            <a:r>
              <a:rPr lang="en-US" sz="800" kern="0">
                <a:solidFill>
                  <a:srgbClr val="7A7784"/>
                </a:solidFill>
                <a:latin typeface="Calibri" pitchFamily="34" charset="0"/>
              </a:rPr>
              <a:t>Sobrynth®</a:t>
            </a:r>
          </a:p>
        </p:txBody>
      </p:sp>
      <p:pic>
        <p:nvPicPr>
          <p:cNvPr id="9003" name="Labyrinth Icon"/>
          <p:cNvPicPr>
            <a:picLocks noChangeAspect="1"/>
          </p:cNvPicPr>
          <p:nvPr/>
        </p:nvPicPr>
        <p:blipFill>
          <a:blip r:embed="rId9"/>
          <a:stretch>
            <a:fillRect/>
          </a:stretch>
        </p:blipFill>
        <p:spPr>
          <a:xfrm>
            <a:off x="609590" y="597200"/>
            <a:ext cx="220000" cy="200000"/>
          </a:xfrm>
          <a:prstGeom prst="rect">
            <a:avLst/>
          </a:prstGeom>
        </p:spPr>
      </p:pic>
    </p:spTree>
    <p:extLst>
      <p:ext uri="{BB962C8B-B14F-4D97-AF65-F5344CB8AC3E}">
        <p14:creationId xmlns:p14="http://schemas.microsoft.com/office/powerpoint/2010/main" val="2132115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591" y="911821"/>
            <a:ext cx="12070105" cy="43787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85349"/>
              </a:lnSpc>
            </a:pPr>
            <a:r>
              <a:rPr lang="en-US" sz="2900" b="1">
                <a:solidFill>
                  <a:srgbClr val="241D3B"/>
                </a:solidFill>
                <a:latin typeface="Roboto Slab" pitchFamily="34" charset="0"/>
                <a:ea typeface="Roboto Slab" pitchFamily="34" charset="-122"/>
                <a:cs typeface="Roboto Slab" pitchFamily="34" charset="-120"/>
              </a:rPr>
              <a:t>We’re only Solving for Stage 4 &amp; 5 Today</a:t>
            </a:r>
            <a:endParaRPr lang="en-US" sz="290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6200000">
            <a:off x="609589" y="2525889"/>
            <a:ext cx="2667000" cy="2667000"/>
          </a:xfrm>
          <a:prstGeom prst="rect">
            <a:avLst/>
          </a:prstGeom>
        </p:spPr>
      </p:pic>
      <p:sp>
        <p:nvSpPr>
          <p:cNvPr id="5" name="Text 2"/>
          <p:cNvSpPr/>
          <p:nvPr/>
        </p:nvSpPr>
        <p:spPr>
          <a:xfrm>
            <a:off x="1347631" y="3451778"/>
            <a:ext cx="1240292" cy="947418"/>
          </a:xfrm>
          <a:prstGeom prst="rect">
            <a:avLst/>
          </a:prstGeom>
          <a:noFill/>
          <a:ln/>
        </p:spPr>
        <p:txBody>
          <a:bodyPr wrap="square" lIns="16933" tIns="16933" rIns="16933" bIns="16933" rtlCol="0" anchor="t">
            <a:normAutofit fontScale="92500"/>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25053"/>
              </a:lnSpc>
            </a:pPr>
            <a:r>
              <a:rPr lang="en-US" sz="4400" b="1">
                <a:solidFill>
                  <a:srgbClr val="241D3B"/>
                </a:solidFill>
                <a:latin typeface="Roboto Slab" pitchFamily="34" charset="0"/>
                <a:ea typeface="Roboto Slab" pitchFamily="34" charset="-122"/>
                <a:cs typeface="Roboto Slab" pitchFamily="34" charset="-120"/>
              </a:rPr>
              <a:t>&gt;10%</a:t>
            </a:r>
            <a:endParaRPr lang="en-US" sz="4400"/>
          </a:p>
        </p:txBody>
      </p:sp>
      <p:sp>
        <p:nvSpPr>
          <p:cNvPr id="7" name="Shape 4"/>
          <p:cNvSpPr/>
          <p:nvPr/>
        </p:nvSpPr>
        <p:spPr>
          <a:xfrm>
            <a:off x="3784590" y="2580680"/>
            <a:ext cx="139678" cy="139678"/>
          </a:xfrm>
          <a:prstGeom prst="roundRect">
            <a:avLst>
              <a:gd name="adj" fmla="val 27277"/>
            </a:avLst>
          </a:prstGeom>
          <a:solidFill>
            <a:srgbClr val="59468D"/>
          </a:solidFill>
          <a:ln/>
        </p:spPr>
        <p:txBody>
          <a:bodyPr/>
          <a:lstStyle/>
          <a:p>
            <a:endParaRPr lang="en-US" sz="1200"/>
          </a:p>
        </p:txBody>
      </p:sp>
      <p:sp>
        <p:nvSpPr>
          <p:cNvPr id="8" name="Text 5"/>
          <p:cNvSpPr/>
          <p:nvPr/>
        </p:nvSpPr>
        <p:spPr>
          <a:xfrm>
            <a:off x="4025857" y="2503842"/>
            <a:ext cx="3195193" cy="31875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40949"/>
              </a:lnSpc>
            </a:pPr>
            <a:r>
              <a:rPr lang="en-US" sz="1400">
                <a:solidFill>
                  <a:srgbClr val="2B2932"/>
                </a:solidFill>
                <a:latin typeface="Roboto" pitchFamily="34" charset="0"/>
                <a:ea typeface="Roboto" pitchFamily="34" charset="-122"/>
                <a:cs typeface="Roboto" pitchFamily="34" charset="-120"/>
              </a:rPr>
              <a:t>Inpatient / Residential Treatment</a:t>
            </a:r>
            <a:endParaRPr lang="en-US" sz="1400"/>
          </a:p>
        </p:txBody>
      </p:sp>
      <p:sp>
        <p:nvSpPr>
          <p:cNvPr id="9" name="Shape 6"/>
          <p:cNvSpPr/>
          <p:nvPr/>
        </p:nvSpPr>
        <p:spPr>
          <a:xfrm>
            <a:off x="3784590" y="3026394"/>
            <a:ext cx="139678" cy="139678"/>
          </a:xfrm>
          <a:prstGeom prst="roundRect">
            <a:avLst>
              <a:gd name="adj" fmla="val 27277"/>
            </a:avLst>
          </a:prstGeom>
          <a:solidFill>
            <a:srgbClr val="FFAD5B"/>
          </a:solidFill>
          <a:ln/>
        </p:spPr>
        <p:txBody>
          <a:bodyPr/>
          <a:lstStyle/>
          <a:p>
            <a:endParaRPr lang="en-US" sz="1200"/>
          </a:p>
        </p:txBody>
      </p:sp>
      <p:sp>
        <p:nvSpPr>
          <p:cNvPr id="10" name="Text 7"/>
          <p:cNvSpPr/>
          <p:nvPr/>
        </p:nvSpPr>
        <p:spPr>
          <a:xfrm>
            <a:off x="4025857" y="2949555"/>
            <a:ext cx="2654013" cy="31875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40949"/>
              </a:lnSpc>
            </a:pPr>
            <a:r>
              <a:rPr lang="en-US" sz="1400">
                <a:solidFill>
                  <a:srgbClr val="2B2932"/>
                </a:solidFill>
                <a:latin typeface="Roboto" pitchFamily="34" charset="0"/>
                <a:ea typeface="Roboto" pitchFamily="34" charset="-122"/>
                <a:cs typeface="Roboto" pitchFamily="34" charset="-120"/>
              </a:rPr>
              <a:t>Medication for SUD / MAT</a:t>
            </a:r>
            <a:endParaRPr lang="en-US" sz="1400"/>
          </a:p>
        </p:txBody>
      </p:sp>
      <p:sp>
        <p:nvSpPr>
          <p:cNvPr id="11" name="Shape 8"/>
          <p:cNvSpPr/>
          <p:nvPr/>
        </p:nvSpPr>
        <p:spPr>
          <a:xfrm>
            <a:off x="3784590" y="3472106"/>
            <a:ext cx="139678" cy="139678"/>
          </a:xfrm>
          <a:prstGeom prst="roundRect">
            <a:avLst>
              <a:gd name="adj" fmla="val 27277"/>
            </a:avLst>
          </a:prstGeom>
          <a:solidFill>
            <a:srgbClr val="E1DEE8"/>
          </a:solidFill>
          <a:ln/>
        </p:spPr>
        <p:txBody>
          <a:bodyPr/>
          <a:lstStyle/>
          <a:p>
            <a:endParaRPr lang="en-US" sz="1200"/>
          </a:p>
        </p:txBody>
      </p:sp>
      <p:sp>
        <p:nvSpPr>
          <p:cNvPr id="12" name="Text 9"/>
          <p:cNvSpPr/>
          <p:nvPr/>
        </p:nvSpPr>
        <p:spPr>
          <a:xfrm>
            <a:off x="4025856" y="3395267"/>
            <a:ext cx="3123884" cy="31875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40949"/>
              </a:lnSpc>
            </a:pPr>
            <a:r>
              <a:rPr lang="en-US" sz="1400">
                <a:solidFill>
                  <a:srgbClr val="2B2932"/>
                </a:solidFill>
                <a:latin typeface="Roboto" pitchFamily="34" charset="0"/>
                <a:ea typeface="Roboto" pitchFamily="34" charset="-122"/>
                <a:cs typeface="Roboto" pitchFamily="34" charset="-120"/>
              </a:rPr>
              <a:t>All other pathways — Unreached</a:t>
            </a:r>
            <a:endParaRPr lang="en-US" sz="1400"/>
          </a:p>
        </p:txBody>
      </p:sp>
      <p:sp>
        <p:nvSpPr>
          <p:cNvPr id="13" name="Shape 10"/>
          <p:cNvSpPr/>
          <p:nvPr/>
        </p:nvSpPr>
        <p:spPr>
          <a:xfrm>
            <a:off x="3784590" y="3917156"/>
            <a:ext cx="7797823" cy="6350"/>
          </a:xfrm>
          <a:prstGeom prst="rect">
            <a:avLst/>
          </a:prstGeom>
          <a:solidFill>
            <a:srgbClr val="C9C5D3"/>
          </a:solidFill>
          <a:ln/>
        </p:spPr>
        <p:txBody>
          <a:bodyPr/>
          <a:lstStyle/>
          <a:p>
            <a:endParaRPr lang="en-US" sz="1200"/>
          </a:p>
        </p:txBody>
      </p:sp>
      <p:sp>
        <p:nvSpPr>
          <p:cNvPr id="14" name="Text 11"/>
          <p:cNvSpPr/>
          <p:nvPr/>
        </p:nvSpPr>
        <p:spPr>
          <a:xfrm>
            <a:off x="609589" y="1473565"/>
            <a:ext cx="9627090" cy="558866"/>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28136"/>
              </a:lnSpc>
            </a:pPr>
            <a:r>
              <a:rPr lang="en-US" sz="1400">
                <a:solidFill>
                  <a:srgbClr val="423F4B"/>
                </a:solidFill>
                <a:latin typeface="Roboto" pitchFamily="34" charset="0"/>
                <a:ea typeface="Roboto" pitchFamily="34" charset="-122"/>
                <a:cs typeface="Roboto" pitchFamily="34" charset="-120"/>
              </a:rPr>
              <a:t>Of 48.5M Americans with SUD, only 20% sought treatment last year. Support pathways are limited today.</a:t>
            </a:r>
            <a:endParaRPr lang="en-US" sz="1400"/>
          </a:p>
        </p:txBody>
      </p:sp>
      <p:sp>
        <p:nvSpPr>
          <p:cNvPr id="15" name="Text 12"/>
          <p:cNvSpPr/>
          <p:nvPr/>
        </p:nvSpPr>
        <p:spPr>
          <a:xfrm>
            <a:off x="587708" y="5586935"/>
            <a:ext cx="10071491" cy="402541"/>
          </a:xfrm>
          <a:prstGeom prst="rect">
            <a:avLst/>
          </a:prstGeom>
          <a:noFill/>
          <a:ln/>
        </p:spPr>
        <p:txBody>
          <a:bodyPr wrap="square" lIns="16933" tIns="16933" rIns="16933" bIns="16933" rtlCol="0" anchor="t">
            <a:normAutofit fontScale="70000" lnSpcReduction="20000"/>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24326"/>
              </a:lnSpc>
            </a:pPr>
            <a:r>
              <a:rPr lang="en-US" sz="3200" b="1">
                <a:solidFill>
                  <a:srgbClr val="59468D"/>
                </a:solidFill>
                <a:latin typeface="Roboto Slab" pitchFamily="2" charset="0"/>
                <a:ea typeface="Roboto Slab" pitchFamily="2" charset="0"/>
                <a:cs typeface="Roboto Slab" pitchFamily="2" charset="0"/>
              </a:rPr>
              <a:t>90% who need support cannot find the pathway they seek today.</a:t>
            </a:r>
          </a:p>
        </p:txBody>
      </p:sp>
      <p:sp>
        <p:nvSpPr>
          <p:cNvPr id="16" name="Text 13"/>
          <p:cNvSpPr/>
          <p:nvPr/>
        </p:nvSpPr>
        <p:spPr>
          <a:xfrm>
            <a:off x="609591" y="6242129"/>
            <a:ext cx="11302007" cy="23491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41429"/>
              </a:lnSpc>
            </a:pPr>
            <a:r>
              <a:rPr lang="en-US" sz="1000">
                <a:solidFill>
                  <a:srgbClr val="7C7788"/>
                </a:solidFill>
                <a:latin typeface="Roboto" pitchFamily="34" charset="0"/>
                <a:ea typeface="Roboto" pitchFamily="34" charset="-122"/>
                <a:cs typeface="Roboto" pitchFamily="34" charset="-120"/>
              </a:rPr>
              <a:t>Source: SAMHSA NSDUH 2024 | ©Sobrynth · Choosing to be sober today.</a:t>
            </a:r>
            <a:endParaRPr lang="en-US" sz="1000"/>
          </a:p>
        </p:txBody>
      </p:sp>
      <p:sp>
        <p:nvSpPr>
          <p:cNvPr id="17" name="Text 0">
            <a:extLst>
              <a:ext uri="{FF2B5EF4-FFF2-40B4-BE49-F238E27FC236}">
                <a16:creationId xmlns:a16="http://schemas.microsoft.com/office/drawing/2014/main" id="{9CE760B1-7E0A-102B-55F9-E537BEEE0EA8}"/>
              </a:ext>
            </a:extLst>
          </p:cNvPr>
          <p:cNvSpPr/>
          <p:nvPr/>
        </p:nvSpPr>
        <p:spPr>
          <a:xfrm>
            <a:off x="939591" y="558768"/>
            <a:ext cx="1097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570">
              <a:lnSpc>
                <a:spcPct val="139765"/>
              </a:lnSpc>
            </a:pPr>
            <a:r>
              <a:rPr lang="en-US" b="1" kern="0" spc="168">
                <a:solidFill>
                  <a:srgbClr val="FFAD5B"/>
                </a:solidFill>
                <a:ea typeface="Roboto"/>
                <a:cs typeface="Roboto"/>
              </a:rPr>
              <a:t>CURRENT STATE</a:t>
            </a:r>
          </a:p>
        </p:txBody>
      </p:sp>
      <p:pic>
        <p:nvPicPr>
          <p:cNvPr id="19" name="Labyrinth Icon" descr="A black maze on an orange background&#10;&#10;AI-generated content may be incorrect.">
            <a:extLst>
              <a:ext uri="{FF2B5EF4-FFF2-40B4-BE49-F238E27FC236}">
                <a16:creationId xmlns:a16="http://schemas.microsoft.com/office/drawing/2014/main" id="{DD4CB268-972A-35FF-45E0-F4D4D6460F77}"/>
              </a:ext>
            </a:extLst>
          </p:cNvPr>
          <p:cNvPicPr>
            <a:picLocks noChangeAspect="1"/>
          </p:cNvPicPr>
          <p:nvPr/>
        </p:nvPicPr>
        <p:blipFill>
          <a:blip r:embed="rId4"/>
          <a:stretch>
            <a:fillRect/>
          </a:stretch>
        </p:blipFill>
        <p:spPr>
          <a:xfrm>
            <a:off x="609590" y="597200"/>
            <a:ext cx="220000" cy="20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6AD3F0-38FC-7317-7771-03653293DEDC}"/>
              </a:ext>
            </a:extLst>
          </p:cNvPr>
          <p:cNvSpPr/>
          <p:nvPr/>
        </p:nvSpPr>
        <p:spPr>
          <a:xfrm>
            <a:off x="-10026" y="-20053"/>
            <a:ext cx="12232105" cy="6888078"/>
          </a:xfrm>
          <a:prstGeom prst="rect">
            <a:avLst/>
          </a:prstGeom>
          <a:solidFill>
            <a:srgbClr val="F6F5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4F1FA"/>
              </a:solidFill>
            </a:endParaRPr>
          </a:p>
        </p:txBody>
      </p:sp>
      <p:sp>
        <p:nvSpPr>
          <p:cNvPr id="200" name="title"/>
          <p:cNvSpPr/>
          <p:nvPr/>
        </p:nvSpPr>
        <p:spPr>
          <a:xfrm>
            <a:off x="172452" y="334879"/>
            <a:ext cx="11500000" cy="457200"/>
          </a:xfrm>
          <a:prstGeom prst="rect">
            <a:avLst/>
          </a:prstGeom>
          <a:noFill/>
        </p:spPr>
        <p:txBody>
          <a:bodyPr wrap="square" lIns="0" tIns="0" rIns="0" bIns="0" rtlCol="0" anchor="ctr"/>
          <a:lstStyle/>
          <a:p>
            <a:r>
              <a:rPr lang="en-US" sz="2200" b="1">
                <a:solidFill>
                  <a:srgbClr val="59468D"/>
                </a:solidFill>
                <a:latin typeface="Roboto Slab"/>
                <a:ea typeface="Roboto Slab"/>
                <a:cs typeface="Roboto Slab"/>
              </a:rPr>
              <a:t>SOBRYNTH SUPPORTS ALL PATHWAYS OF CARE.</a:t>
            </a:r>
          </a:p>
        </p:txBody>
      </p:sp>
      <p:sp>
        <p:nvSpPr>
          <p:cNvPr id="201" name="tx201"/>
          <p:cNvSpPr/>
          <p:nvPr/>
        </p:nvSpPr>
        <p:spPr>
          <a:xfrm>
            <a:off x="10500000" y="100000"/>
            <a:ext cx="1500000" cy="480000"/>
          </a:xfrm>
          <a:prstGeom prst="rect">
            <a:avLst/>
          </a:prstGeom>
          <a:noFill/>
        </p:spPr>
        <p:txBody>
          <a:bodyPr wrap="square" lIns="0" tIns="0" rIns="0" bIns="0" rtlCol="0" anchor="ctr"/>
          <a:lstStyle/>
          <a:p>
            <a:pPr algn="r">
              <a:spcBef>
                <a:spcPts val="200"/>
              </a:spcBef>
            </a:pPr>
            <a:endParaRPr lang="en-US" sz="1200" b="1">
              <a:solidFill>
                <a:srgbClr val="FAA95F"/>
              </a:solidFill>
            </a:endParaRPr>
          </a:p>
        </p:txBody>
      </p:sp>
      <p:sp>
        <p:nvSpPr>
          <p:cNvPr id="202" name="cat0"/>
          <p:cNvSpPr/>
          <p:nvPr/>
        </p:nvSpPr>
        <p:spPr>
          <a:xfrm>
            <a:off x="6047217" y="961707"/>
            <a:ext cx="763695" cy="1236321"/>
          </a:xfrm>
          <a:custGeom>
            <a:avLst/>
            <a:gdLst/>
            <a:ahLst/>
            <a:cxnLst/>
            <a:rect l="l" t="t" r="r" b="b"/>
            <a:pathLst>
              <a:path w="763695" h="1236321">
                <a:moveTo>
                  <a:pt x="40687" y="0"/>
                </a:moveTo>
                <a:lnTo>
                  <a:pt x="224405" y="12927"/>
                </a:lnTo>
                <a:lnTo>
                  <a:pt x="406751" y="38797"/>
                </a:lnTo>
                <a:lnTo>
                  <a:pt x="586814" y="77482"/>
                </a:lnTo>
                <a:lnTo>
                  <a:pt x="763695" y="128787"/>
                </a:lnTo>
                <a:lnTo>
                  <a:pt x="399556" y="1236321"/>
                </a:lnTo>
                <a:lnTo>
                  <a:pt x="301806" y="1207968"/>
                </a:lnTo>
                <a:lnTo>
                  <a:pt x="202298" y="1186590"/>
                </a:lnTo>
                <a:lnTo>
                  <a:pt x="101528" y="1172293"/>
                </a:lnTo>
                <a:lnTo>
                  <a:pt x="0" y="1165149"/>
                </a:lnTo>
                <a:close/>
              </a:path>
            </a:pathLst>
          </a:custGeom>
          <a:solidFill>
            <a:srgbClr val="FFAD5B"/>
          </a:solidFill>
          <a:ln w="9525">
            <a:solidFill>
              <a:srgbClr val="FFFFFF"/>
            </a:solidFill>
          </a:ln>
        </p:spPr>
        <p:txBody>
          <a:bodyPr/>
          <a:lstStyle/>
          <a:p>
            <a:endParaRPr lang="en-US"/>
          </a:p>
        </p:txBody>
      </p:sp>
      <p:sp>
        <p:nvSpPr>
          <p:cNvPr id="203" name="cat1"/>
          <p:cNvSpPr/>
          <p:nvPr/>
        </p:nvSpPr>
        <p:spPr>
          <a:xfrm>
            <a:off x="6470583" y="1105077"/>
            <a:ext cx="1036002" cy="1287151"/>
          </a:xfrm>
          <a:custGeom>
            <a:avLst/>
            <a:gdLst/>
            <a:ahLst/>
            <a:cxnLst/>
            <a:rect l="l" t="t" r="r" b="b"/>
            <a:pathLst>
              <a:path w="1036002" h="1287151">
                <a:moveTo>
                  <a:pt x="383412" y="0"/>
                </a:moveTo>
                <a:lnTo>
                  <a:pt x="555091" y="66675"/>
                </a:lnTo>
                <a:lnTo>
                  <a:pt x="721631" y="145310"/>
                </a:lnTo>
                <a:lnTo>
                  <a:pt x="882203" y="235511"/>
                </a:lnTo>
                <a:lnTo>
                  <a:pt x="1036002" y="336826"/>
                </a:lnTo>
                <a:lnTo>
                  <a:pt x="360641" y="1287151"/>
                </a:lnTo>
                <a:lnTo>
                  <a:pt x="275647" y="1231161"/>
                </a:lnTo>
                <a:lnTo>
                  <a:pt x="186910" y="1181313"/>
                </a:lnTo>
                <a:lnTo>
                  <a:pt x="94875" y="1137857"/>
                </a:lnTo>
                <a:lnTo>
                  <a:pt x="0" y="1101010"/>
                </a:lnTo>
                <a:close/>
              </a:path>
            </a:pathLst>
          </a:custGeom>
          <a:solidFill>
            <a:srgbClr val="FFAD5B"/>
          </a:solidFill>
          <a:ln w="9525">
            <a:solidFill>
              <a:srgbClr val="FFFFFF"/>
            </a:solidFill>
          </a:ln>
        </p:spPr>
        <p:txBody>
          <a:bodyPr/>
          <a:lstStyle/>
          <a:p>
            <a:endParaRPr lang="en-US"/>
          </a:p>
        </p:txBody>
      </p:sp>
      <p:sp>
        <p:nvSpPr>
          <p:cNvPr id="204" name="cat2"/>
          <p:cNvSpPr/>
          <p:nvPr/>
        </p:nvSpPr>
        <p:spPr>
          <a:xfrm>
            <a:off x="6851586" y="1468574"/>
            <a:ext cx="1215646" cy="1222854"/>
          </a:xfrm>
          <a:custGeom>
            <a:avLst/>
            <a:gdLst/>
            <a:ahLst/>
            <a:cxnLst/>
            <a:rect l="l" t="t" r="r" b="b"/>
            <a:pathLst>
              <a:path w="1215646" h="1222854">
                <a:moveTo>
                  <a:pt x="691843" y="0"/>
                </a:moveTo>
                <a:lnTo>
                  <a:pt x="836127" y="114460"/>
                </a:lnTo>
                <a:lnTo>
                  <a:pt x="971967" y="238826"/>
                </a:lnTo>
                <a:lnTo>
                  <a:pt x="1098684" y="372475"/>
                </a:lnTo>
                <a:lnTo>
                  <a:pt x="1215646" y="514739"/>
                </a:lnTo>
                <a:lnTo>
                  <a:pt x="289470" y="1222854"/>
                </a:lnTo>
                <a:lnTo>
                  <a:pt x="224833" y="1144234"/>
                </a:lnTo>
                <a:lnTo>
                  <a:pt x="154805" y="1070376"/>
                </a:lnTo>
                <a:lnTo>
                  <a:pt x="79736" y="1001648"/>
                </a:lnTo>
                <a:lnTo>
                  <a:pt x="0" y="938393"/>
                </a:lnTo>
                <a:close/>
              </a:path>
            </a:pathLst>
          </a:custGeom>
          <a:solidFill>
            <a:srgbClr val="FAA95F"/>
          </a:solidFill>
          <a:ln w="9525">
            <a:solidFill>
              <a:srgbClr val="FFFFFF"/>
            </a:solidFill>
          </a:ln>
        </p:spPr>
        <p:txBody>
          <a:bodyPr/>
          <a:lstStyle/>
          <a:p>
            <a:endParaRPr lang="en-US"/>
          </a:p>
        </p:txBody>
      </p:sp>
      <p:sp>
        <p:nvSpPr>
          <p:cNvPr id="205" name="cat3"/>
          <p:cNvSpPr/>
          <p:nvPr/>
        </p:nvSpPr>
        <p:spPr>
          <a:xfrm>
            <a:off x="7156147" y="2019686"/>
            <a:ext cx="1286558" cy="1049181"/>
          </a:xfrm>
          <a:custGeom>
            <a:avLst/>
            <a:gdLst/>
            <a:ahLst/>
            <a:cxnLst/>
            <a:rect l="l" t="t" r="r" b="b"/>
            <a:pathLst>
              <a:path w="1286558" h="1049181">
                <a:moveTo>
                  <a:pt x="938393" y="0"/>
                </a:moveTo>
                <a:lnTo>
                  <a:pt x="1042378" y="152007"/>
                </a:lnTo>
                <a:lnTo>
                  <a:pt x="1135367" y="310980"/>
                </a:lnTo>
                <a:lnTo>
                  <a:pt x="1216896" y="476123"/>
                </a:lnTo>
                <a:lnTo>
                  <a:pt x="1286558" y="646612"/>
                </a:lnTo>
                <a:lnTo>
                  <a:pt x="192406" y="1049181"/>
                </a:lnTo>
                <a:lnTo>
                  <a:pt x="153909" y="954964"/>
                </a:lnTo>
                <a:lnTo>
                  <a:pt x="108853" y="863700"/>
                </a:lnTo>
                <a:lnTo>
                  <a:pt x="57465" y="775847"/>
                </a:lnTo>
                <a:lnTo>
                  <a:pt x="0" y="691843"/>
                </a:lnTo>
                <a:close/>
              </a:path>
            </a:pathLst>
          </a:custGeom>
          <a:solidFill>
            <a:srgbClr val="FAA95F"/>
          </a:solidFill>
          <a:ln w="9525">
            <a:solidFill>
              <a:srgbClr val="FFFFFF"/>
            </a:solidFill>
          </a:ln>
        </p:spPr>
        <p:txBody>
          <a:bodyPr/>
          <a:lstStyle/>
          <a:p>
            <a:endParaRPr lang="en-US"/>
          </a:p>
        </p:txBody>
      </p:sp>
      <p:sp>
        <p:nvSpPr>
          <p:cNvPr id="206" name="cat4"/>
          <p:cNvSpPr/>
          <p:nvPr/>
        </p:nvSpPr>
        <p:spPr>
          <a:xfrm>
            <a:off x="7357027" y="2709120"/>
            <a:ext cx="1242396" cy="781666"/>
          </a:xfrm>
          <a:custGeom>
            <a:avLst/>
            <a:gdLst/>
            <a:ahLst/>
            <a:cxnLst/>
            <a:rect l="l" t="t" r="r" b="b"/>
            <a:pathLst>
              <a:path w="1242396" h="781666">
                <a:moveTo>
                  <a:pt x="1101010" y="0"/>
                </a:moveTo>
                <a:lnTo>
                  <a:pt x="1155394" y="175959"/>
                </a:lnTo>
                <a:lnTo>
                  <a:pt x="1197215" y="355319"/>
                </a:lnTo>
                <a:lnTo>
                  <a:pt x="1226264" y="537186"/>
                </a:lnTo>
                <a:lnTo>
                  <a:pt x="1242396" y="720650"/>
                </a:lnTo>
                <a:lnTo>
                  <a:pt x="78134" y="781666"/>
                </a:lnTo>
                <a:lnTo>
                  <a:pt x="69219" y="680278"/>
                </a:lnTo>
                <a:lnTo>
                  <a:pt x="53166" y="579773"/>
                </a:lnTo>
                <a:lnTo>
                  <a:pt x="30054" y="480652"/>
                </a:lnTo>
                <a:lnTo>
                  <a:pt x="0" y="383412"/>
                </a:lnTo>
                <a:close/>
              </a:path>
            </a:pathLst>
          </a:custGeom>
          <a:solidFill>
            <a:srgbClr val="FAA95F"/>
          </a:solidFill>
          <a:ln w="9525">
            <a:solidFill>
              <a:srgbClr val="FFFFFF"/>
            </a:solidFill>
          </a:ln>
        </p:spPr>
        <p:txBody>
          <a:bodyPr/>
          <a:lstStyle/>
          <a:p>
            <a:endParaRPr lang="en-US"/>
          </a:p>
        </p:txBody>
      </p:sp>
      <p:sp>
        <p:nvSpPr>
          <p:cNvPr id="207" name="cat0"/>
          <p:cNvSpPr/>
          <p:nvPr/>
        </p:nvSpPr>
        <p:spPr>
          <a:xfrm>
            <a:off x="7365086" y="3616421"/>
            <a:ext cx="1236321" cy="763695"/>
          </a:xfrm>
          <a:custGeom>
            <a:avLst/>
            <a:gdLst/>
            <a:ahLst/>
            <a:cxnLst/>
            <a:rect l="l" t="t" r="r" b="b"/>
            <a:pathLst>
              <a:path w="1236321" h="763695">
                <a:moveTo>
                  <a:pt x="1236321" y="40687"/>
                </a:moveTo>
                <a:lnTo>
                  <a:pt x="1223394" y="224405"/>
                </a:lnTo>
                <a:lnTo>
                  <a:pt x="1197523" y="406751"/>
                </a:lnTo>
                <a:lnTo>
                  <a:pt x="1158839" y="586814"/>
                </a:lnTo>
                <a:lnTo>
                  <a:pt x="1107534" y="763695"/>
                </a:lnTo>
                <a:lnTo>
                  <a:pt x="0" y="399556"/>
                </a:lnTo>
                <a:lnTo>
                  <a:pt x="28352" y="301806"/>
                </a:lnTo>
                <a:lnTo>
                  <a:pt x="49731" y="202298"/>
                </a:lnTo>
                <a:lnTo>
                  <a:pt x="64027" y="101528"/>
                </a:lnTo>
                <a:lnTo>
                  <a:pt x="71171" y="0"/>
                </a:lnTo>
                <a:close/>
              </a:path>
            </a:pathLst>
          </a:custGeom>
          <a:solidFill>
            <a:srgbClr val="028090"/>
          </a:solidFill>
          <a:ln w="9525">
            <a:solidFill>
              <a:srgbClr val="FFFFFF"/>
            </a:solidFill>
          </a:ln>
        </p:spPr>
        <p:txBody>
          <a:bodyPr/>
          <a:lstStyle/>
          <a:p>
            <a:endParaRPr lang="en-US"/>
          </a:p>
        </p:txBody>
      </p:sp>
      <p:sp>
        <p:nvSpPr>
          <p:cNvPr id="208" name="cat1"/>
          <p:cNvSpPr/>
          <p:nvPr/>
        </p:nvSpPr>
        <p:spPr>
          <a:xfrm>
            <a:off x="7170886" y="4039787"/>
            <a:ext cx="1287151" cy="1036002"/>
          </a:xfrm>
          <a:custGeom>
            <a:avLst/>
            <a:gdLst/>
            <a:ahLst/>
            <a:cxnLst/>
            <a:rect l="l" t="t" r="r" b="b"/>
            <a:pathLst>
              <a:path w="1287151" h="1036002">
                <a:moveTo>
                  <a:pt x="1287151" y="383412"/>
                </a:moveTo>
                <a:lnTo>
                  <a:pt x="1220475" y="555091"/>
                </a:lnTo>
                <a:lnTo>
                  <a:pt x="1141841" y="721631"/>
                </a:lnTo>
                <a:lnTo>
                  <a:pt x="1051640" y="882203"/>
                </a:lnTo>
                <a:lnTo>
                  <a:pt x="950324" y="1036002"/>
                </a:lnTo>
                <a:lnTo>
                  <a:pt x="0" y="360641"/>
                </a:lnTo>
                <a:lnTo>
                  <a:pt x="55990" y="275647"/>
                </a:lnTo>
                <a:lnTo>
                  <a:pt x="105838" y="186910"/>
                </a:lnTo>
                <a:lnTo>
                  <a:pt x="149293" y="94875"/>
                </a:lnTo>
                <a:lnTo>
                  <a:pt x="186141" y="0"/>
                </a:lnTo>
                <a:close/>
              </a:path>
            </a:pathLst>
          </a:custGeom>
          <a:solidFill>
            <a:srgbClr val="028090"/>
          </a:solidFill>
          <a:ln w="9525">
            <a:solidFill>
              <a:srgbClr val="FFFFFF"/>
            </a:solidFill>
          </a:ln>
        </p:spPr>
        <p:txBody>
          <a:bodyPr/>
          <a:lstStyle/>
          <a:p>
            <a:endParaRPr lang="en-US"/>
          </a:p>
        </p:txBody>
      </p:sp>
      <p:sp>
        <p:nvSpPr>
          <p:cNvPr id="209" name="cat2"/>
          <p:cNvSpPr/>
          <p:nvPr/>
        </p:nvSpPr>
        <p:spPr>
          <a:xfrm>
            <a:off x="6871686" y="4420790"/>
            <a:ext cx="1222854" cy="1215646"/>
          </a:xfrm>
          <a:custGeom>
            <a:avLst/>
            <a:gdLst/>
            <a:ahLst/>
            <a:cxnLst/>
            <a:rect l="l" t="t" r="r" b="b"/>
            <a:pathLst>
              <a:path w="1222854" h="1215646">
                <a:moveTo>
                  <a:pt x="1222854" y="691843"/>
                </a:moveTo>
                <a:lnTo>
                  <a:pt x="1108394" y="836127"/>
                </a:lnTo>
                <a:lnTo>
                  <a:pt x="984028" y="971967"/>
                </a:lnTo>
                <a:lnTo>
                  <a:pt x="850379" y="1098684"/>
                </a:lnTo>
                <a:lnTo>
                  <a:pt x="708115" y="1215646"/>
                </a:lnTo>
                <a:lnTo>
                  <a:pt x="0" y="289470"/>
                </a:lnTo>
                <a:lnTo>
                  <a:pt x="78619" y="224833"/>
                </a:lnTo>
                <a:lnTo>
                  <a:pt x="152478" y="154805"/>
                </a:lnTo>
                <a:lnTo>
                  <a:pt x="221206" y="79736"/>
                </a:lnTo>
                <a:lnTo>
                  <a:pt x="284461" y="0"/>
                </a:lnTo>
                <a:close/>
              </a:path>
            </a:pathLst>
          </a:custGeom>
          <a:solidFill>
            <a:srgbClr val="028090"/>
          </a:solidFill>
          <a:ln w="9525">
            <a:solidFill>
              <a:srgbClr val="FFFFFF"/>
            </a:solidFill>
          </a:ln>
        </p:spPr>
        <p:txBody>
          <a:bodyPr/>
          <a:lstStyle/>
          <a:p>
            <a:endParaRPr lang="en-US"/>
          </a:p>
        </p:txBody>
      </p:sp>
      <p:sp>
        <p:nvSpPr>
          <p:cNvPr id="210" name="cat3"/>
          <p:cNvSpPr/>
          <p:nvPr/>
        </p:nvSpPr>
        <p:spPr>
          <a:xfrm>
            <a:off x="6494247" y="4725351"/>
            <a:ext cx="1049181" cy="1286558"/>
          </a:xfrm>
          <a:custGeom>
            <a:avLst/>
            <a:gdLst/>
            <a:ahLst/>
            <a:cxnLst/>
            <a:rect l="l" t="t" r="r" b="b"/>
            <a:pathLst>
              <a:path w="1049181" h="1286558">
                <a:moveTo>
                  <a:pt x="1049181" y="938393"/>
                </a:moveTo>
                <a:lnTo>
                  <a:pt x="897173" y="1042378"/>
                </a:lnTo>
                <a:lnTo>
                  <a:pt x="738201" y="1135367"/>
                </a:lnTo>
                <a:lnTo>
                  <a:pt x="573058" y="1216896"/>
                </a:lnTo>
                <a:lnTo>
                  <a:pt x="402569" y="1286558"/>
                </a:lnTo>
                <a:lnTo>
                  <a:pt x="0" y="192406"/>
                </a:lnTo>
                <a:lnTo>
                  <a:pt x="94217" y="153909"/>
                </a:lnTo>
                <a:lnTo>
                  <a:pt x="185480" y="108853"/>
                </a:lnTo>
                <a:lnTo>
                  <a:pt x="273334" y="57465"/>
                </a:lnTo>
                <a:lnTo>
                  <a:pt x="357338" y="0"/>
                </a:lnTo>
                <a:close/>
              </a:path>
            </a:pathLst>
          </a:custGeom>
          <a:solidFill>
            <a:srgbClr val="028090"/>
          </a:solidFill>
          <a:ln w="9525">
            <a:solidFill>
              <a:srgbClr val="FFFFFF"/>
            </a:solidFill>
          </a:ln>
        </p:spPr>
        <p:txBody>
          <a:bodyPr/>
          <a:lstStyle/>
          <a:p>
            <a:endParaRPr lang="en-US"/>
          </a:p>
        </p:txBody>
      </p:sp>
      <p:sp>
        <p:nvSpPr>
          <p:cNvPr id="211" name="cat4"/>
          <p:cNvSpPr/>
          <p:nvPr/>
        </p:nvSpPr>
        <p:spPr>
          <a:xfrm>
            <a:off x="6072329" y="4926231"/>
            <a:ext cx="781666" cy="1242396"/>
          </a:xfrm>
          <a:custGeom>
            <a:avLst/>
            <a:gdLst/>
            <a:ahLst/>
            <a:cxnLst/>
            <a:rect l="l" t="t" r="r" b="b"/>
            <a:pathLst>
              <a:path w="781666" h="1242396">
                <a:moveTo>
                  <a:pt x="781666" y="1101010"/>
                </a:moveTo>
                <a:lnTo>
                  <a:pt x="605707" y="1155394"/>
                </a:lnTo>
                <a:lnTo>
                  <a:pt x="426346" y="1197215"/>
                </a:lnTo>
                <a:lnTo>
                  <a:pt x="244480" y="1226264"/>
                </a:lnTo>
                <a:lnTo>
                  <a:pt x="61016" y="1242396"/>
                </a:lnTo>
                <a:lnTo>
                  <a:pt x="0" y="78134"/>
                </a:lnTo>
                <a:lnTo>
                  <a:pt x="101387" y="69219"/>
                </a:lnTo>
                <a:lnTo>
                  <a:pt x="201893" y="53166"/>
                </a:lnTo>
                <a:lnTo>
                  <a:pt x="301013" y="30054"/>
                </a:lnTo>
                <a:lnTo>
                  <a:pt x="398253" y="0"/>
                </a:lnTo>
                <a:close/>
              </a:path>
            </a:pathLst>
          </a:custGeom>
          <a:solidFill>
            <a:srgbClr val="028090"/>
          </a:solidFill>
          <a:ln w="9525">
            <a:solidFill>
              <a:srgbClr val="FFFFFF"/>
            </a:solidFill>
          </a:ln>
        </p:spPr>
        <p:txBody>
          <a:bodyPr/>
          <a:lstStyle/>
          <a:p>
            <a:endParaRPr lang="en-US"/>
          </a:p>
        </p:txBody>
      </p:sp>
      <p:sp>
        <p:nvSpPr>
          <p:cNvPr id="212" name="cat0"/>
          <p:cNvSpPr/>
          <p:nvPr/>
        </p:nvSpPr>
        <p:spPr>
          <a:xfrm>
            <a:off x="5182998" y="4934290"/>
            <a:ext cx="763695" cy="1236321"/>
          </a:xfrm>
          <a:custGeom>
            <a:avLst/>
            <a:gdLst/>
            <a:ahLst/>
            <a:cxnLst/>
            <a:rect l="l" t="t" r="r" b="b"/>
            <a:pathLst>
              <a:path w="763695" h="1236321">
                <a:moveTo>
                  <a:pt x="723007" y="1236321"/>
                </a:moveTo>
                <a:lnTo>
                  <a:pt x="539290" y="1223394"/>
                </a:lnTo>
                <a:lnTo>
                  <a:pt x="356944" y="1197523"/>
                </a:lnTo>
                <a:lnTo>
                  <a:pt x="176881" y="1158839"/>
                </a:lnTo>
                <a:lnTo>
                  <a:pt x="0" y="1107534"/>
                </a:lnTo>
                <a:lnTo>
                  <a:pt x="364138" y="0"/>
                </a:lnTo>
                <a:lnTo>
                  <a:pt x="461889" y="28352"/>
                </a:lnTo>
                <a:lnTo>
                  <a:pt x="561397" y="49731"/>
                </a:lnTo>
                <a:lnTo>
                  <a:pt x="662167" y="64027"/>
                </a:lnTo>
                <a:lnTo>
                  <a:pt x="763695" y="71171"/>
                </a:lnTo>
                <a:close/>
              </a:path>
            </a:pathLst>
          </a:custGeom>
          <a:solidFill>
            <a:srgbClr val="DB7D7B"/>
          </a:solidFill>
          <a:ln w="9525">
            <a:solidFill>
              <a:srgbClr val="FFFFFF"/>
            </a:solidFill>
          </a:ln>
        </p:spPr>
        <p:txBody>
          <a:bodyPr/>
          <a:lstStyle/>
          <a:p>
            <a:endParaRPr lang="en-US"/>
          </a:p>
        </p:txBody>
      </p:sp>
      <p:sp>
        <p:nvSpPr>
          <p:cNvPr id="213" name="cat1"/>
          <p:cNvSpPr/>
          <p:nvPr/>
        </p:nvSpPr>
        <p:spPr>
          <a:xfrm>
            <a:off x="4487326" y="4740090"/>
            <a:ext cx="1036002" cy="1287151"/>
          </a:xfrm>
          <a:custGeom>
            <a:avLst/>
            <a:gdLst/>
            <a:ahLst/>
            <a:cxnLst/>
            <a:rect l="l" t="t" r="r" b="b"/>
            <a:pathLst>
              <a:path w="1036002" h="1287151">
                <a:moveTo>
                  <a:pt x="652590" y="1287151"/>
                </a:moveTo>
                <a:lnTo>
                  <a:pt x="480911" y="1220475"/>
                </a:lnTo>
                <a:lnTo>
                  <a:pt x="314370" y="1141841"/>
                </a:lnTo>
                <a:lnTo>
                  <a:pt x="153799" y="1051640"/>
                </a:lnTo>
                <a:lnTo>
                  <a:pt x="0" y="950324"/>
                </a:lnTo>
                <a:lnTo>
                  <a:pt x="675360" y="0"/>
                </a:lnTo>
                <a:lnTo>
                  <a:pt x="760355" y="55990"/>
                </a:lnTo>
                <a:lnTo>
                  <a:pt x="849091" y="105838"/>
                </a:lnTo>
                <a:lnTo>
                  <a:pt x="941127" y="149293"/>
                </a:lnTo>
                <a:lnTo>
                  <a:pt x="1036002" y="186141"/>
                </a:lnTo>
                <a:close/>
              </a:path>
            </a:pathLst>
          </a:custGeom>
          <a:solidFill>
            <a:srgbClr val="DB7D7B"/>
          </a:solidFill>
          <a:ln w="9525">
            <a:solidFill>
              <a:srgbClr val="FFFFFF"/>
            </a:solidFill>
          </a:ln>
        </p:spPr>
        <p:txBody>
          <a:bodyPr/>
          <a:lstStyle/>
          <a:p>
            <a:endParaRPr lang="en-US"/>
          </a:p>
        </p:txBody>
      </p:sp>
      <p:sp>
        <p:nvSpPr>
          <p:cNvPr id="214" name="cat2"/>
          <p:cNvSpPr/>
          <p:nvPr/>
        </p:nvSpPr>
        <p:spPr>
          <a:xfrm>
            <a:off x="3926679" y="4440890"/>
            <a:ext cx="1215646" cy="1222854"/>
          </a:xfrm>
          <a:custGeom>
            <a:avLst/>
            <a:gdLst/>
            <a:ahLst/>
            <a:cxnLst/>
            <a:rect l="l" t="t" r="r" b="b"/>
            <a:pathLst>
              <a:path w="1215646" h="1222854">
                <a:moveTo>
                  <a:pt x="523802" y="1222854"/>
                </a:moveTo>
                <a:lnTo>
                  <a:pt x="379518" y="1108394"/>
                </a:lnTo>
                <a:lnTo>
                  <a:pt x="243678" y="984028"/>
                </a:lnTo>
                <a:lnTo>
                  <a:pt x="116961" y="850379"/>
                </a:lnTo>
                <a:lnTo>
                  <a:pt x="0" y="708115"/>
                </a:lnTo>
                <a:lnTo>
                  <a:pt x="926176" y="0"/>
                </a:lnTo>
                <a:lnTo>
                  <a:pt x="990812" y="78619"/>
                </a:lnTo>
                <a:lnTo>
                  <a:pt x="1060840" y="152478"/>
                </a:lnTo>
                <a:lnTo>
                  <a:pt x="1135910" y="221206"/>
                </a:lnTo>
                <a:lnTo>
                  <a:pt x="1215646" y="284461"/>
                </a:lnTo>
                <a:close/>
              </a:path>
            </a:pathLst>
          </a:custGeom>
          <a:solidFill>
            <a:srgbClr val="DB7D7B"/>
          </a:solidFill>
          <a:ln w="9525">
            <a:solidFill>
              <a:srgbClr val="FFFFFF"/>
            </a:solidFill>
          </a:ln>
        </p:spPr>
        <p:txBody>
          <a:bodyPr/>
          <a:lstStyle/>
          <a:p>
            <a:endParaRPr lang="en-US"/>
          </a:p>
        </p:txBody>
      </p:sp>
      <p:sp>
        <p:nvSpPr>
          <p:cNvPr id="215" name="cat3"/>
          <p:cNvSpPr/>
          <p:nvPr/>
        </p:nvSpPr>
        <p:spPr>
          <a:xfrm>
            <a:off x="3551205" y="4063451"/>
            <a:ext cx="1286558" cy="1049181"/>
          </a:xfrm>
          <a:custGeom>
            <a:avLst/>
            <a:gdLst/>
            <a:ahLst/>
            <a:cxnLst/>
            <a:rect l="l" t="t" r="r" b="b"/>
            <a:pathLst>
              <a:path w="1286558" h="1049181">
                <a:moveTo>
                  <a:pt x="348164" y="1049181"/>
                </a:moveTo>
                <a:lnTo>
                  <a:pt x="244180" y="897173"/>
                </a:lnTo>
                <a:lnTo>
                  <a:pt x="151191" y="738201"/>
                </a:lnTo>
                <a:lnTo>
                  <a:pt x="69662" y="573058"/>
                </a:lnTo>
                <a:lnTo>
                  <a:pt x="0" y="402569"/>
                </a:lnTo>
                <a:lnTo>
                  <a:pt x="1094151" y="0"/>
                </a:lnTo>
                <a:lnTo>
                  <a:pt x="1132648" y="94217"/>
                </a:lnTo>
                <a:lnTo>
                  <a:pt x="1177704" y="185480"/>
                </a:lnTo>
                <a:lnTo>
                  <a:pt x="1229093" y="273334"/>
                </a:lnTo>
                <a:lnTo>
                  <a:pt x="1286558" y="357338"/>
                </a:lnTo>
                <a:close/>
              </a:path>
            </a:pathLst>
          </a:custGeom>
          <a:solidFill>
            <a:srgbClr val="DB7D7B"/>
          </a:solidFill>
          <a:ln w="9525">
            <a:solidFill>
              <a:srgbClr val="FFFFFF"/>
            </a:solidFill>
          </a:ln>
        </p:spPr>
        <p:txBody>
          <a:bodyPr/>
          <a:lstStyle/>
          <a:p>
            <a:endParaRPr lang="en-US"/>
          </a:p>
        </p:txBody>
      </p:sp>
      <p:sp>
        <p:nvSpPr>
          <p:cNvPr id="216" name="cat4"/>
          <p:cNvSpPr/>
          <p:nvPr/>
        </p:nvSpPr>
        <p:spPr>
          <a:xfrm>
            <a:off x="3394487" y="3641533"/>
            <a:ext cx="1242396" cy="781666"/>
          </a:xfrm>
          <a:custGeom>
            <a:avLst/>
            <a:gdLst/>
            <a:ahLst/>
            <a:cxnLst/>
            <a:rect l="l" t="t" r="r" b="b"/>
            <a:pathLst>
              <a:path w="1242396" h="781666">
                <a:moveTo>
                  <a:pt x="141385" y="781666"/>
                </a:moveTo>
                <a:lnTo>
                  <a:pt x="87001" y="605707"/>
                </a:lnTo>
                <a:lnTo>
                  <a:pt x="45180" y="426346"/>
                </a:lnTo>
                <a:lnTo>
                  <a:pt x="16131" y="244480"/>
                </a:lnTo>
                <a:lnTo>
                  <a:pt x="0" y="61016"/>
                </a:lnTo>
                <a:lnTo>
                  <a:pt x="1164262" y="0"/>
                </a:lnTo>
                <a:lnTo>
                  <a:pt x="1173177" y="101387"/>
                </a:lnTo>
                <a:lnTo>
                  <a:pt x="1189230" y="201893"/>
                </a:lnTo>
                <a:lnTo>
                  <a:pt x="1212342" y="301013"/>
                </a:lnTo>
                <a:lnTo>
                  <a:pt x="1242396" y="398253"/>
                </a:lnTo>
                <a:close/>
              </a:path>
            </a:pathLst>
          </a:custGeom>
          <a:solidFill>
            <a:srgbClr val="DB7D7B"/>
          </a:solidFill>
          <a:ln w="9525">
            <a:solidFill>
              <a:srgbClr val="FFFFFF"/>
            </a:solidFill>
          </a:ln>
        </p:spPr>
        <p:txBody>
          <a:bodyPr/>
          <a:lstStyle/>
          <a:p>
            <a:endParaRPr lang="en-US"/>
          </a:p>
        </p:txBody>
      </p:sp>
      <p:sp>
        <p:nvSpPr>
          <p:cNvPr id="217" name="cat0"/>
          <p:cNvSpPr/>
          <p:nvPr/>
        </p:nvSpPr>
        <p:spPr>
          <a:xfrm>
            <a:off x="3392503" y="2752202"/>
            <a:ext cx="1236321" cy="763695"/>
          </a:xfrm>
          <a:custGeom>
            <a:avLst/>
            <a:gdLst/>
            <a:ahLst/>
            <a:cxnLst/>
            <a:rect l="l" t="t" r="r" b="b"/>
            <a:pathLst>
              <a:path w="1236321" h="763695">
                <a:moveTo>
                  <a:pt x="0" y="723007"/>
                </a:moveTo>
                <a:lnTo>
                  <a:pt x="12927" y="539290"/>
                </a:lnTo>
                <a:lnTo>
                  <a:pt x="38797" y="356944"/>
                </a:lnTo>
                <a:lnTo>
                  <a:pt x="77482" y="176881"/>
                </a:lnTo>
                <a:lnTo>
                  <a:pt x="128787" y="0"/>
                </a:lnTo>
                <a:lnTo>
                  <a:pt x="1236321" y="364138"/>
                </a:lnTo>
                <a:lnTo>
                  <a:pt x="1207968" y="461889"/>
                </a:lnTo>
                <a:lnTo>
                  <a:pt x="1186590" y="561397"/>
                </a:lnTo>
                <a:lnTo>
                  <a:pt x="1172293" y="662167"/>
                </a:lnTo>
                <a:lnTo>
                  <a:pt x="1165149" y="763695"/>
                </a:lnTo>
                <a:close/>
              </a:path>
            </a:pathLst>
          </a:custGeom>
          <a:solidFill>
            <a:srgbClr val="7B6BB5"/>
          </a:solidFill>
          <a:ln w="9525">
            <a:solidFill>
              <a:srgbClr val="FFFFFF"/>
            </a:solidFill>
          </a:ln>
        </p:spPr>
        <p:txBody>
          <a:bodyPr/>
          <a:lstStyle/>
          <a:p>
            <a:endParaRPr lang="en-US"/>
          </a:p>
        </p:txBody>
      </p:sp>
      <p:sp>
        <p:nvSpPr>
          <p:cNvPr id="218" name="cat1"/>
          <p:cNvSpPr/>
          <p:nvPr/>
        </p:nvSpPr>
        <p:spPr>
          <a:xfrm>
            <a:off x="3535873" y="2056530"/>
            <a:ext cx="1287151" cy="1036002"/>
          </a:xfrm>
          <a:custGeom>
            <a:avLst/>
            <a:gdLst/>
            <a:ahLst/>
            <a:cxnLst/>
            <a:rect l="l" t="t" r="r" b="b"/>
            <a:pathLst>
              <a:path w="1287151" h="1036002">
                <a:moveTo>
                  <a:pt x="0" y="652590"/>
                </a:moveTo>
                <a:lnTo>
                  <a:pt x="66675" y="480911"/>
                </a:lnTo>
                <a:lnTo>
                  <a:pt x="145310" y="314370"/>
                </a:lnTo>
                <a:lnTo>
                  <a:pt x="235511" y="153799"/>
                </a:lnTo>
                <a:lnTo>
                  <a:pt x="336826" y="0"/>
                </a:lnTo>
                <a:lnTo>
                  <a:pt x="1287151" y="675360"/>
                </a:lnTo>
                <a:lnTo>
                  <a:pt x="1231161" y="760355"/>
                </a:lnTo>
                <a:lnTo>
                  <a:pt x="1181313" y="849091"/>
                </a:lnTo>
                <a:lnTo>
                  <a:pt x="1137857" y="941127"/>
                </a:lnTo>
                <a:lnTo>
                  <a:pt x="1101010" y="1036002"/>
                </a:lnTo>
                <a:close/>
              </a:path>
            </a:pathLst>
          </a:custGeom>
          <a:solidFill>
            <a:srgbClr val="7B6BB5"/>
          </a:solidFill>
          <a:ln w="9525">
            <a:solidFill>
              <a:srgbClr val="FFFFFF"/>
            </a:solidFill>
          </a:ln>
        </p:spPr>
        <p:txBody>
          <a:bodyPr/>
          <a:lstStyle/>
          <a:p>
            <a:endParaRPr lang="en-US"/>
          </a:p>
        </p:txBody>
      </p:sp>
      <p:sp>
        <p:nvSpPr>
          <p:cNvPr id="219" name="cat2"/>
          <p:cNvSpPr/>
          <p:nvPr/>
        </p:nvSpPr>
        <p:spPr>
          <a:xfrm>
            <a:off x="3899370" y="1495883"/>
            <a:ext cx="1222854" cy="1215646"/>
          </a:xfrm>
          <a:custGeom>
            <a:avLst/>
            <a:gdLst/>
            <a:ahLst/>
            <a:cxnLst/>
            <a:rect l="l" t="t" r="r" b="b"/>
            <a:pathLst>
              <a:path w="1222854" h="1215646">
                <a:moveTo>
                  <a:pt x="0" y="523802"/>
                </a:moveTo>
                <a:lnTo>
                  <a:pt x="114460" y="379518"/>
                </a:lnTo>
                <a:lnTo>
                  <a:pt x="238826" y="243678"/>
                </a:lnTo>
                <a:lnTo>
                  <a:pt x="372475" y="116961"/>
                </a:lnTo>
                <a:lnTo>
                  <a:pt x="514739" y="0"/>
                </a:lnTo>
                <a:lnTo>
                  <a:pt x="1222854" y="926176"/>
                </a:lnTo>
                <a:lnTo>
                  <a:pt x="1144234" y="990812"/>
                </a:lnTo>
                <a:lnTo>
                  <a:pt x="1070376" y="1060840"/>
                </a:lnTo>
                <a:lnTo>
                  <a:pt x="1001648" y="1135910"/>
                </a:lnTo>
                <a:lnTo>
                  <a:pt x="938393" y="1215646"/>
                </a:lnTo>
                <a:close/>
              </a:path>
            </a:pathLst>
          </a:custGeom>
          <a:solidFill>
            <a:srgbClr val="7B6BB5"/>
          </a:solidFill>
          <a:ln w="9525">
            <a:solidFill>
              <a:srgbClr val="FFFFFF"/>
            </a:solidFill>
          </a:ln>
        </p:spPr>
        <p:txBody>
          <a:bodyPr/>
          <a:lstStyle/>
          <a:p>
            <a:endParaRPr lang="en-US"/>
          </a:p>
        </p:txBody>
      </p:sp>
      <p:sp>
        <p:nvSpPr>
          <p:cNvPr id="220" name="cat3"/>
          <p:cNvSpPr/>
          <p:nvPr/>
        </p:nvSpPr>
        <p:spPr>
          <a:xfrm>
            <a:off x="4450482" y="1120409"/>
            <a:ext cx="1049181" cy="1286558"/>
          </a:xfrm>
          <a:custGeom>
            <a:avLst/>
            <a:gdLst/>
            <a:ahLst/>
            <a:cxnLst/>
            <a:rect l="l" t="t" r="r" b="b"/>
            <a:pathLst>
              <a:path w="1049181" h="1286558">
                <a:moveTo>
                  <a:pt x="0" y="348164"/>
                </a:moveTo>
                <a:lnTo>
                  <a:pt x="152007" y="244180"/>
                </a:lnTo>
                <a:lnTo>
                  <a:pt x="310980" y="151191"/>
                </a:lnTo>
                <a:lnTo>
                  <a:pt x="476123" y="69662"/>
                </a:lnTo>
                <a:lnTo>
                  <a:pt x="646612" y="0"/>
                </a:lnTo>
                <a:lnTo>
                  <a:pt x="1049181" y="1094151"/>
                </a:lnTo>
                <a:lnTo>
                  <a:pt x="954964" y="1132648"/>
                </a:lnTo>
                <a:lnTo>
                  <a:pt x="863700" y="1177704"/>
                </a:lnTo>
                <a:lnTo>
                  <a:pt x="775847" y="1229093"/>
                </a:lnTo>
                <a:lnTo>
                  <a:pt x="691843" y="1286558"/>
                </a:lnTo>
                <a:close/>
              </a:path>
            </a:pathLst>
          </a:custGeom>
          <a:solidFill>
            <a:srgbClr val="7B6BB5"/>
          </a:solidFill>
          <a:ln w="9525">
            <a:solidFill>
              <a:srgbClr val="FFFFFF"/>
            </a:solidFill>
          </a:ln>
        </p:spPr>
        <p:txBody>
          <a:bodyPr/>
          <a:lstStyle/>
          <a:p>
            <a:endParaRPr lang="en-US"/>
          </a:p>
        </p:txBody>
      </p:sp>
      <p:sp>
        <p:nvSpPr>
          <p:cNvPr id="221" name="cat4"/>
          <p:cNvSpPr/>
          <p:nvPr/>
        </p:nvSpPr>
        <p:spPr>
          <a:xfrm>
            <a:off x="5139916" y="963691"/>
            <a:ext cx="781666" cy="1242396"/>
          </a:xfrm>
          <a:custGeom>
            <a:avLst/>
            <a:gdLst/>
            <a:ahLst/>
            <a:cxnLst/>
            <a:rect l="l" t="t" r="r" b="b"/>
            <a:pathLst>
              <a:path w="781666" h="1242396">
                <a:moveTo>
                  <a:pt x="0" y="141385"/>
                </a:moveTo>
                <a:lnTo>
                  <a:pt x="175959" y="87001"/>
                </a:lnTo>
                <a:lnTo>
                  <a:pt x="355319" y="45180"/>
                </a:lnTo>
                <a:lnTo>
                  <a:pt x="537186" y="16131"/>
                </a:lnTo>
                <a:lnTo>
                  <a:pt x="720650" y="0"/>
                </a:lnTo>
                <a:lnTo>
                  <a:pt x="781666" y="1164262"/>
                </a:lnTo>
                <a:lnTo>
                  <a:pt x="680278" y="1173177"/>
                </a:lnTo>
                <a:lnTo>
                  <a:pt x="579773" y="1189230"/>
                </a:lnTo>
                <a:lnTo>
                  <a:pt x="480652" y="1212342"/>
                </a:lnTo>
                <a:lnTo>
                  <a:pt x="383412" y="1242396"/>
                </a:lnTo>
                <a:close/>
              </a:path>
            </a:pathLst>
          </a:custGeom>
          <a:solidFill>
            <a:srgbClr val="7B6BB5"/>
          </a:solidFill>
          <a:ln w="9525">
            <a:solidFill>
              <a:srgbClr val="59468D"/>
            </a:solidFill>
          </a:ln>
        </p:spPr>
        <p:txBody>
          <a:bodyPr/>
          <a:lstStyle/>
          <a:p>
            <a:endParaRPr lang="en-US"/>
          </a:p>
        </p:txBody>
      </p:sp>
      <p:sp>
        <p:nvSpPr>
          <p:cNvPr id="222" name="inner"/>
          <p:cNvSpPr/>
          <p:nvPr/>
        </p:nvSpPr>
        <p:spPr>
          <a:xfrm>
            <a:off x="4556764" y="2125980"/>
            <a:ext cx="2880360" cy="2880360"/>
          </a:xfrm>
          <a:prstGeom prst="ellipse">
            <a:avLst/>
          </a:prstGeom>
          <a:solidFill>
            <a:schemeClr val="bg1"/>
          </a:solidFill>
          <a:ln w="0">
            <a:noFill/>
          </a:ln>
        </p:spPr>
        <p:txBody>
          <a:bodyPr/>
          <a:lstStyle/>
          <a:p>
            <a:endParaRPr>
              <a:solidFill>
                <a:srgbClr val="FFFFFF"/>
              </a:solidFill>
            </a:endParaRPr>
          </a:p>
        </p:txBody>
      </p:sp>
      <p:sp>
        <p:nvSpPr>
          <p:cNvPr id="223" name="tx223"/>
          <p:cNvSpPr/>
          <p:nvPr/>
        </p:nvSpPr>
        <p:spPr>
          <a:xfrm>
            <a:off x="4706960" y="3025804"/>
            <a:ext cx="2720360" cy="500000"/>
          </a:xfrm>
          <a:prstGeom prst="rect">
            <a:avLst/>
          </a:prstGeom>
          <a:noFill/>
        </p:spPr>
        <p:txBody>
          <a:bodyPr wrap="square" lIns="0" tIns="0" rIns="0" bIns="0" rtlCol="0" anchor="ctr"/>
          <a:lstStyle/>
          <a:p>
            <a:pPr algn="ctr">
              <a:spcBef>
                <a:spcPts val="200"/>
              </a:spcBef>
            </a:pPr>
            <a:r>
              <a:rPr lang="en-US" sz="4000" b="1">
                <a:solidFill>
                  <a:srgbClr val="59468D"/>
                </a:solidFill>
                <a:latin typeface="Roboto Slab"/>
                <a:ea typeface="Roboto Slab"/>
                <a:cs typeface="Roboto Slab"/>
              </a:rPr>
              <a:t>SOBRIETY </a:t>
            </a:r>
          </a:p>
        </p:txBody>
      </p:sp>
      <p:sp>
        <p:nvSpPr>
          <p:cNvPr id="224" name="tx224"/>
          <p:cNvSpPr/>
          <p:nvPr/>
        </p:nvSpPr>
        <p:spPr>
          <a:xfrm>
            <a:off x="4636776" y="3515778"/>
            <a:ext cx="2720360" cy="800000"/>
          </a:xfrm>
          <a:prstGeom prst="rect">
            <a:avLst/>
          </a:prstGeom>
          <a:noFill/>
        </p:spPr>
        <p:txBody>
          <a:bodyPr wrap="square" lIns="0" tIns="0" rIns="0" bIns="0" rtlCol="0" anchor="ctr"/>
          <a:lstStyle/>
          <a:p>
            <a:pPr algn="ctr">
              <a:spcBef>
                <a:spcPts val="200"/>
              </a:spcBef>
            </a:pPr>
            <a:r>
              <a:rPr lang="en-US" sz="1800" b="1">
                <a:solidFill>
                  <a:srgbClr val="59468D"/>
                </a:solidFill>
                <a:latin typeface="Roboto Slab"/>
                <a:ea typeface="Roboto Slab"/>
                <a:cs typeface="Roboto Slab"/>
              </a:rPr>
              <a:t>IS PERSONAL</a:t>
            </a:r>
          </a:p>
          <a:p>
            <a:pPr algn="ctr">
              <a:spcBef>
                <a:spcPts val="200"/>
              </a:spcBef>
            </a:pPr>
            <a:endParaRPr lang="en-US" sz="1100">
              <a:solidFill>
                <a:srgbClr val="E0DAEA"/>
              </a:solidFill>
              <a:latin typeface="Calibri" panose="020F0502020204030204" pitchFamily="34" charset="0"/>
              <a:cs typeface="Calibri" panose="020F0502020204030204" pitchFamily="34" charset="0"/>
            </a:endParaRPr>
          </a:p>
          <a:p>
            <a:pPr algn="ctr">
              <a:spcBef>
                <a:spcPts val="200"/>
              </a:spcBef>
            </a:pPr>
            <a:r>
              <a:rPr lang="en-US" sz="1100">
                <a:solidFill>
                  <a:srgbClr val="59468D"/>
                </a:solidFill>
                <a:latin typeface="Roboto"/>
                <a:ea typeface="Roboto"/>
                <a:cs typeface="Roboto"/>
              </a:rPr>
              <a:t>No one pathway or combination of care</a:t>
            </a:r>
          </a:p>
        </p:txBody>
      </p:sp>
      <p:sp>
        <p:nvSpPr>
          <p:cNvPr id="227" name="tx227"/>
          <p:cNvSpPr/>
          <p:nvPr/>
        </p:nvSpPr>
        <p:spPr>
          <a:xfrm>
            <a:off x="9889066" y="973525"/>
            <a:ext cx="1999777" cy="748780"/>
          </a:xfrm>
          <a:prstGeom prst="rect">
            <a:avLst/>
          </a:prstGeom>
          <a:solidFill>
            <a:srgbClr val="F6F5F8"/>
          </a:solidFill>
        </p:spPr>
        <p:txBody>
          <a:bodyPr wrap="square" lIns="0" tIns="0" rIns="0" bIns="0" rtlCol="0" anchor="ctr"/>
          <a:lstStyle/>
          <a:p>
            <a:pPr algn="ctr">
              <a:spcBef>
                <a:spcPts val="200"/>
              </a:spcBef>
            </a:pPr>
            <a:r>
              <a:rPr lang="en-US" sz="1400" b="1">
                <a:solidFill>
                  <a:srgbClr val="FFAD5B"/>
                </a:solidFill>
                <a:latin typeface="Roboto Slab"/>
                <a:ea typeface="Roboto Slab"/>
                <a:cs typeface="Roboto Slab"/>
              </a:rPr>
              <a:t>Sub-Clinical Support: </a:t>
            </a:r>
            <a:endParaRPr lang="en-US" sz="1400">
              <a:solidFill>
                <a:srgbClr val="FFAD5B"/>
              </a:solidFill>
              <a:latin typeface="Roboto Slab"/>
              <a:ea typeface="Roboto Slab"/>
              <a:cs typeface="Roboto Slab"/>
            </a:endParaRPr>
          </a:p>
          <a:p>
            <a:pPr algn="ctr">
              <a:spcBef>
                <a:spcPts val="200"/>
              </a:spcBef>
            </a:pPr>
            <a:r>
              <a:rPr lang="en-US" sz="1400">
                <a:solidFill>
                  <a:srgbClr val="FFAD5B"/>
                </a:solidFill>
                <a:latin typeface="Roboto"/>
                <a:ea typeface="Roboto"/>
                <a:cs typeface="Roboto"/>
              </a:rPr>
              <a:t>Peer Coaching</a:t>
            </a:r>
          </a:p>
        </p:txBody>
      </p:sp>
      <p:sp>
        <p:nvSpPr>
          <p:cNvPr id="228" name="tx228"/>
          <p:cNvSpPr/>
          <p:nvPr/>
        </p:nvSpPr>
        <p:spPr>
          <a:xfrm>
            <a:off x="6596099" y="801048"/>
            <a:ext cx="3916240" cy="200000"/>
          </a:xfrm>
          <a:prstGeom prst="rect">
            <a:avLst/>
          </a:prstGeom>
          <a:noFill/>
        </p:spPr>
        <p:txBody>
          <a:bodyPr wrap="square" lIns="0" tIns="0" rIns="0" bIns="0" rtlCol="0" anchor="ctr"/>
          <a:lstStyle/>
          <a:p>
            <a:pPr algn="l">
              <a:spcBef>
                <a:spcPts val="200"/>
              </a:spcBef>
            </a:pPr>
            <a:r>
              <a:rPr lang="en-US" sz="850" b="0">
                <a:solidFill>
                  <a:srgbClr val="ACA0CF"/>
                </a:solidFill>
              </a:rPr>
              <a:t>· </a:t>
            </a:r>
            <a:r>
              <a:rPr lang="en-US" sz="1400">
                <a:solidFill>
                  <a:srgbClr val="ACA0CF"/>
                </a:solidFill>
                <a:latin typeface="Calibri"/>
                <a:ea typeface="Calibri"/>
                <a:cs typeface="Calibri"/>
              </a:rPr>
              <a:t>Peer Recovery Coaching</a:t>
            </a:r>
          </a:p>
        </p:txBody>
      </p:sp>
      <p:sp>
        <p:nvSpPr>
          <p:cNvPr id="229" name="tx229"/>
          <p:cNvSpPr/>
          <p:nvPr/>
        </p:nvSpPr>
        <p:spPr>
          <a:xfrm>
            <a:off x="7440147" y="1121385"/>
            <a:ext cx="3916240" cy="200000"/>
          </a:xfrm>
          <a:prstGeom prst="rect">
            <a:avLst/>
          </a:prstGeom>
          <a:noFill/>
        </p:spPr>
        <p:txBody>
          <a:bodyPr wrap="square" lIns="0" tIns="0" rIns="0" bIns="0" rtlCol="0" anchor="ctr"/>
          <a:lstStyle/>
          <a:p>
            <a:pPr algn="l">
              <a:spcBef>
                <a:spcPts val="200"/>
              </a:spcBef>
            </a:pPr>
            <a:r>
              <a:rPr lang="en-US" sz="850" b="0">
                <a:solidFill>
                  <a:srgbClr val="ACA0CF"/>
                </a:solidFill>
              </a:rPr>
              <a:t>· </a:t>
            </a:r>
            <a:r>
              <a:rPr lang="en-US" sz="1400">
                <a:solidFill>
                  <a:srgbClr val="ACA0CF"/>
                </a:solidFill>
                <a:latin typeface="Calibri"/>
                <a:ea typeface="Calibri"/>
                <a:cs typeface="Calibri"/>
              </a:rPr>
              <a:t>Sober Curious Exploration</a:t>
            </a:r>
          </a:p>
        </p:txBody>
      </p:sp>
      <p:sp>
        <p:nvSpPr>
          <p:cNvPr id="230" name="tx230"/>
          <p:cNvSpPr/>
          <p:nvPr/>
        </p:nvSpPr>
        <p:spPr>
          <a:xfrm>
            <a:off x="7911862" y="1490945"/>
            <a:ext cx="3916240" cy="200000"/>
          </a:xfrm>
          <a:prstGeom prst="rect">
            <a:avLst/>
          </a:prstGeom>
          <a:noFill/>
        </p:spPr>
        <p:txBody>
          <a:bodyPr wrap="square" lIns="0" tIns="0" rIns="0" bIns="0" rtlCol="0" anchor="ctr"/>
          <a:lstStyle/>
          <a:p>
            <a:pPr algn="l">
              <a:spcBef>
                <a:spcPts val="200"/>
              </a:spcBef>
            </a:pPr>
            <a:r>
              <a:rPr lang="en-US" sz="1400">
                <a:solidFill>
                  <a:srgbClr val="ACA0CF"/>
                </a:solidFill>
                <a:latin typeface="Calibri"/>
                <a:ea typeface="Calibri"/>
                <a:cs typeface="Calibri"/>
              </a:rPr>
              <a:t>· Family Support</a:t>
            </a:r>
          </a:p>
        </p:txBody>
      </p:sp>
      <p:sp>
        <p:nvSpPr>
          <p:cNvPr id="231" name="tx231"/>
          <p:cNvSpPr/>
          <p:nvPr/>
        </p:nvSpPr>
        <p:spPr>
          <a:xfrm>
            <a:off x="8410218" y="2143566"/>
            <a:ext cx="3916240" cy="200000"/>
          </a:xfrm>
          <a:prstGeom prst="rect">
            <a:avLst/>
          </a:prstGeom>
          <a:noFill/>
        </p:spPr>
        <p:txBody>
          <a:bodyPr wrap="square" lIns="0" tIns="0" rIns="0" bIns="0" rtlCol="0" anchor="ctr"/>
          <a:lstStyle/>
          <a:p>
            <a:pPr algn="l">
              <a:spcBef>
                <a:spcPts val="200"/>
              </a:spcBef>
            </a:pPr>
            <a:r>
              <a:rPr lang="en-US" sz="1400">
                <a:solidFill>
                  <a:srgbClr val="ACA0CF"/>
                </a:solidFill>
                <a:latin typeface="Calibri"/>
                <a:ea typeface="Calibri"/>
                <a:cs typeface="Calibri"/>
              </a:rPr>
              <a:t>· 24/7 Phone / Email / </a:t>
            </a:r>
            <a:r>
              <a:rPr lang="en-US" sz="1400" err="1">
                <a:solidFill>
                  <a:srgbClr val="ACA0CF"/>
                </a:solidFill>
                <a:latin typeface="Calibri"/>
                <a:ea typeface="Calibri"/>
                <a:cs typeface="Calibri"/>
              </a:rPr>
              <a:t>SOBRPath</a:t>
            </a:r>
            <a:r>
              <a:rPr lang="en-US" sz="1400">
                <a:solidFill>
                  <a:srgbClr val="ACA0CF"/>
                </a:solidFill>
                <a:latin typeface="Calibri"/>
                <a:ea typeface="Calibri"/>
                <a:cs typeface="Calibri"/>
              </a:rPr>
              <a:t>™</a:t>
            </a:r>
          </a:p>
        </p:txBody>
      </p:sp>
      <p:sp>
        <p:nvSpPr>
          <p:cNvPr id="232" name="tx232"/>
          <p:cNvSpPr/>
          <p:nvPr/>
        </p:nvSpPr>
        <p:spPr>
          <a:xfrm>
            <a:off x="8647150" y="2904299"/>
            <a:ext cx="3916240" cy="200000"/>
          </a:xfrm>
          <a:prstGeom prst="rect">
            <a:avLst/>
          </a:prstGeom>
          <a:noFill/>
        </p:spPr>
        <p:txBody>
          <a:bodyPr wrap="square" lIns="0" tIns="0" rIns="0" bIns="0" rtlCol="0" anchor="ctr"/>
          <a:lstStyle/>
          <a:p>
            <a:pPr algn="l">
              <a:spcBef>
                <a:spcPts val="200"/>
              </a:spcBef>
            </a:pPr>
            <a:r>
              <a:rPr lang="en-US" sz="1400" b="0">
                <a:solidFill>
                  <a:srgbClr val="ACA0CF"/>
                </a:solidFill>
                <a:latin typeface="Calibri"/>
                <a:ea typeface="Calibri"/>
                <a:cs typeface="Calibri"/>
              </a:rPr>
              <a:t>· AA / Al-Anon / Recovery Orgs</a:t>
            </a:r>
          </a:p>
        </p:txBody>
      </p:sp>
      <p:sp>
        <p:nvSpPr>
          <p:cNvPr id="234" name="tx234"/>
          <p:cNvSpPr/>
          <p:nvPr/>
        </p:nvSpPr>
        <p:spPr>
          <a:xfrm>
            <a:off x="9870630" y="5876406"/>
            <a:ext cx="2208177" cy="779399"/>
          </a:xfrm>
          <a:prstGeom prst="rect">
            <a:avLst/>
          </a:prstGeom>
          <a:solidFill>
            <a:srgbClr val="F6F5F8"/>
          </a:solidFill>
        </p:spPr>
        <p:txBody>
          <a:bodyPr wrap="square" lIns="0" tIns="0" rIns="0" bIns="0" rtlCol="0" anchor="ctr"/>
          <a:lstStyle/>
          <a:p>
            <a:pPr algn="ctr">
              <a:spcBef>
                <a:spcPts val="200"/>
              </a:spcBef>
            </a:pPr>
            <a:r>
              <a:rPr lang="en-US" sz="1400" b="1">
                <a:solidFill>
                  <a:srgbClr val="028090"/>
                </a:solidFill>
                <a:latin typeface="Roboto Slab"/>
                <a:ea typeface="Roboto Slab"/>
                <a:cs typeface="Roboto Slab"/>
              </a:rPr>
              <a:t>Outpatient Care:</a:t>
            </a:r>
            <a:endParaRPr lang="en-US" sz="1400">
              <a:latin typeface="Roboto Slab"/>
              <a:ea typeface="Roboto Slab"/>
              <a:cs typeface="Roboto Slab"/>
            </a:endParaRPr>
          </a:p>
          <a:p>
            <a:pPr algn="ctr">
              <a:spcBef>
                <a:spcPts val="200"/>
              </a:spcBef>
            </a:pPr>
            <a:r>
              <a:rPr lang="en-US" sz="1400">
                <a:solidFill>
                  <a:srgbClr val="028090"/>
                </a:solidFill>
                <a:latin typeface="Roboto"/>
                <a:ea typeface="Roboto"/>
                <a:cs typeface="Roboto"/>
              </a:rPr>
              <a:t>Lower Levels of Care</a:t>
            </a:r>
            <a:endParaRPr lang="en-US"/>
          </a:p>
        </p:txBody>
      </p:sp>
      <p:sp>
        <p:nvSpPr>
          <p:cNvPr id="235" name="tx235"/>
          <p:cNvSpPr/>
          <p:nvPr/>
        </p:nvSpPr>
        <p:spPr>
          <a:xfrm>
            <a:off x="8934108" y="4063473"/>
            <a:ext cx="3916240" cy="200000"/>
          </a:xfrm>
          <a:prstGeom prst="rect">
            <a:avLst/>
          </a:prstGeom>
          <a:noFill/>
        </p:spPr>
        <p:txBody>
          <a:bodyPr wrap="square" lIns="0" tIns="0" rIns="0" bIns="0" rtlCol="0" anchor="ctr"/>
          <a:lstStyle/>
          <a:p>
            <a:pPr>
              <a:spcBef>
                <a:spcPts val="200"/>
              </a:spcBef>
            </a:pPr>
            <a:r>
              <a:rPr lang="en-US" sz="1400">
                <a:solidFill>
                  <a:srgbClr val="ACA0CF"/>
                </a:solidFill>
                <a:latin typeface="Calibri"/>
                <a:ea typeface="Calibri"/>
                <a:cs typeface="Calibri"/>
              </a:rPr>
              <a:t>· Outpatient Treatment (OP)</a:t>
            </a:r>
          </a:p>
        </p:txBody>
      </p:sp>
      <p:sp>
        <p:nvSpPr>
          <p:cNvPr id="236" name="tx236"/>
          <p:cNvSpPr/>
          <p:nvPr/>
        </p:nvSpPr>
        <p:spPr>
          <a:xfrm>
            <a:off x="8669083" y="4790078"/>
            <a:ext cx="3916240" cy="200000"/>
          </a:xfrm>
          <a:prstGeom prst="rect">
            <a:avLst/>
          </a:prstGeom>
          <a:noFill/>
        </p:spPr>
        <p:txBody>
          <a:bodyPr wrap="square" lIns="0" tIns="0" rIns="0" bIns="0" rtlCol="0" anchor="ctr"/>
          <a:lstStyle/>
          <a:p>
            <a:pPr algn="l">
              <a:spcBef>
                <a:spcPts val="200"/>
              </a:spcBef>
            </a:pPr>
            <a:r>
              <a:rPr lang="en-US" sz="1400" b="0">
                <a:solidFill>
                  <a:srgbClr val="ACA0CF"/>
                </a:solidFill>
                <a:latin typeface="Calibri"/>
                <a:ea typeface="Calibri"/>
                <a:cs typeface="Calibri"/>
              </a:rPr>
              <a:t>· </a:t>
            </a:r>
            <a:r>
              <a:rPr lang="en-US" sz="1400">
                <a:solidFill>
                  <a:srgbClr val="ACA0CF"/>
                </a:solidFill>
                <a:latin typeface="Calibri"/>
                <a:ea typeface="Calibri"/>
                <a:cs typeface="Calibri"/>
              </a:rPr>
              <a:t>Intensive</a:t>
            </a:r>
            <a:r>
              <a:rPr lang="en-US" sz="1400" b="0">
                <a:solidFill>
                  <a:srgbClr val="ACA0CF"/>
                </a:solidFill>
                <a:latin typeface="Calibri"/>
                <a:ea typeface="Calibri"/>
                <a:cs typeface="Calibri"/>
              </a:rPr>
              <a:t> Outpatient (IOP)</a:t>
            </a:r>
          </a:p>
        </p:txBody>
      </p:sp>
      <p:sp>
        <p:nvSpPr>
          <p:cNvPr id="237" name="tx237"/>
          <p:cNvSpPr/>
          <p:nvPr/>
        </p:nvSpPr>
        <p:spPr>
          <a:xfrm>
            <a:off x="8180267" y="5362765"/>
            <a:ext cx="3916240" cy="200000"/>
          </a:xfrm>
          <a:prstGeom prst="rect">
            <a:avLst/>
          </a:prstGeom>
          <a:noFill/>
        </p:spPr>
        <p:txBody>
          <a:bodyPr wrap="square" lIns="0" tIns="0" rIns="0" bIns="0" rtlCol="0" anchor="ctr"/>
          <a:lstStyle/>
          <a:p>
            <a:pPr algn="l">
              <a:spcBef>
                <a:spcPts val="200"/>
              </a:spcBef>
            </a:pPr>
            <a:r>
              <a:rPr lang="en-US" sz="1400" b="0">
                <a:solidFill>
                  <a:srgbClr val="ACA0CF"/>
                </a:solidFill>
                <a:latin typeface="Calibri"/>
                <a:ea typeface="Calibri"/>
                <a:cs typeface="Calibri"/>
              </a:rPr>
              <a:t>· Day Treatment</a:t>
            </a:r>
          </a:p>
        </p:txBody>
      </p:sp>
      <p:sp>
        <p:nvSpPr>
          <p:cNvPr id="238" name="tx238"/>
          <p:cNvSpPr/>
          <p:nvPr/>
        </p:nvSpPr>
        <p:spPr>
          <a:xfrm>
            <a:off x="7586153" y="5911333"/>
            <a:ext cx="3916240" cy="200000"/>
          </a:xfrm>
          <a:prstGeom prst="rect">
            <a:avLst/>
          </a:prstGeom>
          <a:noFill/>
        </p:spPr>
        <p:txBody>
          <a:bodyPr wrap="square" lIns="0" tIns="0" rIns="0" bIns="0" rtlCol="0" anchor="ctr"/>
          <a:lstStyle/>
          <a:p>
            <a:pPr algn="l">
              <a:spcBef>
                <a:spcPts val="200"/>
              </a:spcBef>
            </a:pPr>
            <a:r>
              <a:rPr lang="en-US" sz="1400" b="0">
                <a:solidFill>
                  <a:srgbClr val="ACA0CF"/>
                </a:solidFill>
                <a:latin typeface="Calibri"/>
                <a:ea typeface="Calibri"/>
                <a:cs typeface="Calibri"/>
              </a:rPr>
              <a:t>· Telehealth Counseling</a:t>
            </a:r>
          </a:p>
        </p:txBody>
      </p:sp>
      <p:sp>
        <p:nvSpPr>
          <p:cNvPr id="239" name="tx239"/>
          <p:cNvSpPr/>
          <p:nvPr/>
        </p:nvSpPr>
        <p:spPr>
          <a:xfrm>
            <a:off x="6692855" y="6243524"/>
            <a:ext cx="3916240" cy="200000"/>
          </a:xfrm>
          <a:prstGeom prst="rect">
            <a:avLst/>
          </a:prstGeom>
          <a:noFill/>
        </p:spPr>
        <p:txBody>
          <a:bodyPr wrap="square" lIns="0" tIns="0" rIns="0" bIns="0" rtlCol="0" anchor="ctr"/>
          <a:lstStyle/>
          <a:p>
            <a:pPr algn="l">
              <a:spcBef>
                <a:spcPts val="200"/>
              </a:spcBef>
            </a:pPr>
            <a:r>
              <a:rPr lang="en-US" sz="1400" b="0">
                <a:solidFill>
                  <a:srgbClr val="ACA0CF"/>
                </a:solidFill>
                <a:latin typeface="Calibri"/>
                <a:ea typeface="Calibri"/>
                <a:cs typeface="Calibri"/>
              </a:rPr>
              <a:t>· Behavioral Health Therapy</a:t>
            </a:r>
          </a:p>
        </p:txBody>
      </p:sp>
      <p:sp>
        <p:nvSpPr>
          <p:cNvPr id="241" name="tx241"/>
          <p:cNvSpPr/>
          <p:nvPr/>
        </p:nvSpPr>
        <p:spPr>
          <a:xfrm>
            <a:off x="138048" y="5880113"/>
            <a:ext cx="2257049" cy="776037"/>
          </a:xfrm>
          <a:prstGeom prst="rect">
            <a:avLst/>
          </a:prstGeom>
          <a:solidFill>
            <a:srgbClr val="F6F5F8"/>
          </a:solidFill>
        </p:spPr>
        <p:txBody>
          <a:bodyPr wrap="square" lIns="0" tIns="0" rIns="0" bIns="0" rtlCol="0" anchor="ctr"/>
          <a:lstStyle/>
          <a:p>
            <a:pPr algn="ctr">
              <a:spcBef>
                <a:spcPts val="200"/>
              </a:spcBef>
            </a:pPr>
            <a:r>
              <a:rPr lang="en-US" sz="1400" b="1">
                <a:solidFill>
                  <a:srgbClr val="DB7D7B"/>
                </a:solidFill>
                <a:latin typeface="Roboto Slab"/>
                <a:ea typeface="Roboto Slab"/>
                <a:cs typeface="Roboto Slab"/>
              </a:rPr>
              <a:t>Intensive Clinical Care: </a:t>
            </a:r>
          </a:p>
          <a:p>
            <a:pPr algn="ctr">
              <a:spcBef>
                <a:spcPts val="200"/>
              </a:spcBef>
            </a:pPr>
            <a:r>
              <a:rPr lang="en-US" sz="1400">
                <a:solidFill>
                  <a:srgbClr val="DB7D7B"/>
                </a:solidFill>
                <a:latin typeface="Roboto"/>
                <a:ea typeface="Roboto"/>
                <a:cs typeface="Roboto"/>
              </a:rPr>
              <a:t>Higher Levels of Care</a:t>
            </a:r>
          </a:p>
        </p:txBody>
      </p:sp>
      <p:sp>
        <p:nvSpPr>
          <p:cNvPr id="242" name="tx242"/>
          <p:cNvSpPr/>
          <p:nvPr/>
        </p:nvSpPr>
        <p:spPr>
          <a:xfrm>
            <a:off x="1706274" y="4063473"/>
            <a:ext cx="1676792" cy="200000"/>
          </a:xfrm>
          <a:prstGeom prst="rect">
            <a:avLst/>
          </a:prstGeom>
          <a:noFill/>
        </p:spPr>
        <p:txBody>
          <a:bodyPr wrap="square" lIns="0" tIns="0" rIns="0" bIns="0" rtlCol="0" anchor="ctr"/>
          <a:lstStyle/>
          <a:p>
            <a:pPr algn="r">
              <a:spcBef>
                <a:spcPts val="200"/>
              </a:spcBef>
            </a:pPr>
            <a:r>
              <a:rPr lang="en-US" sz="1400" b="0">
                <a:solidFill>
                  <a:srgbClr val="ACA0CF"/>
                </a:solidFill>
                <a:latin typeface="Calibri"/>
                <a:ea typeface="Calibri"/>
                <a:cs typeface="Calibri"/>
              </a:rPr>
              <a:t>Partial Hospitalization </a:t>
            </a:r>
            <a:r>
              <a:rPr lang="en-US" sz="1400">
                <a:solidFill>
                  <a:srgbClr val="ACA0CF"/>
                </a:solidFill>
                <a:latin typeface="Calibri"/>
                <a:ea typeface="Calibri"/>
                <a:cs typeface="Calibri"/>
              </a:rPr>
              <a:t>·</a:t>
            </a:r>
            <a:endParaRPr lang="en-US" sz="1400" b="0">
              <a:solidFill>
                <a:srgbClr val="ACA0CF"/>
              </a:solidFill>
              <a:latin typeface="Calibri"/>
              <a:ea typeface="Calibri"/>
              <a:cs typeface="Calibri"/>
            </a:endParaRPr>
          </a:p>
        </p:txBody>
      </p:sp>
      <p:sp>
        <p:nvSpPr>
          <p:cNvPr id="243" name="tx243"/>
          <p:cNvSpPr/>
          <p:nvPr/>
        </p:nvSpPr>
        <p:spPr>
          <a:xfrm>
            <a:off x="-308818" y="4790078"/>
            <a:ext cx="3916240" cy="200000"/>
          </a:xfrm>
          <a:prstGeom prst="rect">
            <a:avLst/>
          </a:prstGeom>
          <a:noFill/>
        </p:spPr>
        <p:txBody>
          <a:bodyPr wrap="square" lIns="0" tIns="0" rIns="0" bIns="0" rtlCol="0" anchor="ctr"/>
          <a:lstStyle/>
          <a:p>
            <a:pPr algn="r">
              <a:spcBef>
                <a:spcPts val="200"/>
              </a:spcBef>
            </a:pPr>
            <a:r>
              <a:rPr lang="en-US" sz="1400">
                <a:solidFill>
                  <a:srgbClr val="ACA0CF"/>
                </a:solidFill>
                <a:latin typeface="Calibri"/>
                <a:ea typeface="Calibri"/>
                <a:cs typeface="Calibri"/>
              </a:rPr>
              <a:t>Inpatient Treatment · </a:t>
            </a:r>
            <a:endParaRPr lang="en-US" sz="1400" b="0">
              <a:solidFill>
                <a:srgbClr val="ACA0CF"/>
              </a:solidFill>
              <a:latin typeface="Calibri"/>
              <a:ea typeface="Calibri"/>
              <a:cs typeface="Calibri"/>
            </a:endParaRPr>
          </a:p>
        </p:txBody>
      </p:sp>
      <p:sp>
        <p:nvSpPr>
          <p:cNvPr id="244" name="tx244"/>
          <p:cNvSpPr/>
          <p:nvPr/>
        </p:nvSpPr>
        <p:spPr>
          <a:xfrm>
            <a:off x="94387" y="5452388"/>
            <a:ext cx="3916240" cy="200000"/>
          </a:xfrm>
          <a:prstGeom prst="rect">
            <a:avLst/>
          </a:prstGeom>
          <a:noFill/>
        </p:spPr>
        <p:txBody>
          <a:bodyPr wrap="square" lIns="0" tIns="0" rIns="0" bIns="0" rtlCol="0" anchor="ctr"/>
          <a:lstStyle/>
          <a:p>
            <a:pPr algn="r">
              <a:spcBef>
                <a:spcPts val="200"/>
              </a:spcBef>
            </a:pPr>
            <a:r>
              <a:rPr lang="en-US" sz="1400">
                <a:solidFill>
                  <a:srgbClr val="ACA0CF"/>
                </a:solidFill>
                <a:latin typeface="Calibri"/>
                <a:ea typeface="Calibri"/>
                <a:cs typeface="Calibri"/>
              </a:rPr>
              <a:t>Residential Treatment · </a:t>
            </a:r>
            <a:endParaRPr lang="en-US" sz="1400" b="0">
              <a:solidFill>
                <a:srgbClr val="ACA0CF"/>
              </a:solidFill>
              <a:latin typeface="Calibri"/>
              <a:ea typeface="Calibri"/>
              <a:cs typeface="Calibri"/>
            </a:endParaRPr>
          </a:p>
        </p:txBody>
      </p:sp>
      <p:sp>
        <p:nvSpPr>
          <p:cNvPr id="245" name="tx245"/>
          <p:cNvSpPr/>
          <p:nvPr/>
        </p:nvSpPr>
        <p:spPr>
          <a:xfrm>
            <a:off x="781874" y="5880738"/>
            <a:ext cx="3916240" cy="200000"/>
          </a:xfrm>
          <a:prstGeom prst="rect">
            <a:avLst/>
          </a:prstGeom>
          <a:noFill/>
        </p:spPr>
        <p:txBody>
          <a:bodyPr wrap="square" lIns="0" tIns="0" rIns="0" bIns="0" rtlCol="0" anchor="ctr"/>
          <a:lstStyle/>
          <a:p>
            <a:pPr algn="r">
              <a:spcBef>
                <a:spcPts val="200"/>
              </a:spcBef>
            </a:pPr>
            <a:r>
              <a:rPr lang="en-US" sz="1400" b="0">
                <a:solidFill>
                  <a:srgbClr val="ACA0CF"/>
                </a:solidFill>
                <a:latin typeface="Calibri"/>
                <a:ea typeface="Calibri"/>
                <a:cs typeface="Calibri"/>
              </a:rPr>
              <a:t>Detox / Medical </a:t>
            </a:r>
            <a:r>
              <a:rPr lang="en-US" sz="1400">
                <a:solidFill>
                  <a:srgbClr val="ACA0CF"/>
                </a:solidFill>
                <a:latin typeface="Calibri"/>
                <a:ea typeface="Calibri"/>
                <a:cs typeface="Calibri"/>
              </a:rPr>
              <a:t>Stabilization · </a:t>
            </a:r>
            <a:endParaRPr lang="en-US" sz="1400" b="0">
              <a:solidFill>
                <a:srgbClr val="ACA0CF"/>
              </a:solidFill>
              <a:latin typeface="Calibri"/>
              <a:ea typeface="Calibri"/>
              <a:cs typeface="Calibri"/>
            </a:endParaRPr>
          </a:p>
        </p:txBody>
      </p:sp>
      <p:sp>
        <p:nvSpPr>
          <p:cNvPr id="246" name="tx246"/>
          <p:cNvSpPr/>
          <p:nvPr/>
        </p:nvSpPr>
        <p:spPr>
          <a:xfrm>
            <a:off x="1523039" y="6236547"/>
            <a:ext cx="3916240" cy="200000"/>
          </a:xfrm>
          <a:prstGeom prst="rect">
            <a:avLst/>
          </a:prstGeom>
          <a:noFill/>
        </p:spPr>
        <p:txBody>
          <a:bodyPr wrap="square" lIns="0" tIns="0" rIns="0" bIns="0" rtlCol="0" anchor="ctr"/>
          <a:lstStyle/>
          <a:p>
            <a:pPr algn="r">
              <a:spcBef>
                <a:spcPts val="200"/>
              </a:spcBef>
            </a:pPr>
            <a:r>
              <a:rPr lang="en-US" sz="1400">
                <a:solidFill>
                  <a:srgbClr val="ACA0CF"/>
                </a:solidFill>
                <a:latin typeface="Calibri"/>
                <a:ea typeface="Calibri"/>
                <a:cs typeface="Calibri"/>
              </a:rPr>
              <a:t>Clinical Pathway Programs · </a:t>
            </a:r>
            <a:endParaRPr lang="en-US" sz="1400" b="0">
              <a:solidFill>
                <a:srgbClr val="ACA0CF"/>
              </a:solidFill>
              <a:latin typeface="Calibri"/>
              <a:ea typeface="Calibri"/>
              <a:cs typeface="Calibri"/>
            </a:endParaRPr>
          </a:p>
        </p:txBody>
      </p:sp>
      <p:sp>
        <p:nvSpPr>
          <p:cNvPr id="248" name="tx248"/>
          <p:cNvSpPr/>
          <p:nvPr/>
        </p:nvSpPr>
        <p:spPr>
          <a:xfrm>
            <a:off x="218685" y="905316"/>
            <a:ext cx="1958996" cy="676194"/>
          </a:xfrm>
          <a:prstGeom prst="rect">
            <a:avLst/>
          </a:prstGeom>
          <a:solidFill>
            <a:srgbClr val="F6F5F8"/>
          </a:solidFill>
        </p:spPr>
        <p:txBody>
          <a:bodyPr wrap="square" lIns="0" tIns="0" rIns="0" bIns="0" rtlCol="0" anchor="ctr"/>
          <a:lstStyle/>
          <a:p>
            <a:pPr algn="ctr">
              <a:spcBef>
                <a:spcPts val="200"/>
              </a:spcBef>
            </a:pPr>
            <a:r>
              <a:rPr lang="en-US" sz="1400" b="1">
                <a:solidFill>
                  <a:srgbClr val="59468D"/>
                </a:solidFill>
                <a:latin typeface="Roboto Slab"/>
                <a:ea typeface="Roboto Slab"/>
                <a:cs typeface="Roboto Slab"/>
              </a:rPr>
              <a:t>Housing &amp; Transitional</a:t>
            </a:r>
            <a:endParaRPr lang="en-US" sz="1400">
              <a:solidFill>
                <a:srgbClr val="59468D"/>
              </a:solidFill>
              <a:latin typeface="Roboto Slab"/>
              <a:ea typeface="Roboto Slab"/>
              <a:cs typeface="Roboto Slab"/>
            </a:endParaRPr>
          </a:p>
          <a:p>
            <a:pPr algn="ctr">
              <a:spcBef>
                <a:spcPts val="200"/>
              </a:spcBef>
            </a:pPr>
            <a:r>
              <a:rPr lang="en-US" sz="1400">
                <a:solidFill>
                  <a:srgbClr val="59468D"/>
                </a:solidFill>
                <a:latin typeface="Roboto"/>
                <a:ea typeface="Roboto"/>
                <a:cs typeface="Roboto"/>
              </a:rPr>
              <a:t>Recovery Support</a:t>
            </a:r>
            <a:endParaRPr lang="en-US">
              <a:solidFill>
                <a:srgbClr val="59468D"/>
              </a:solidFill>
            </a:endParaRPr>
          </a:p>
        </p:txBody>
      </p:sp>
      <p:sp>
        <p:nvSpPr>
          <p:cNvPr id="249" name="tx249"/>
          <p:cNvSpPr/>
          <p:nvPr/>
        </p:nvSpPr>
        <p:spPr>
          <a:xfrm>
            <a:off x="1200497" y="863920"/>
            <a:ext cx="3916240" cy="200000"/>
          </a:xfrm>
          <a:prstGeom prst="rect">
            <a:avLst/>
          </a:prstGeom>
          <a:noFill/>
        </p:spPr>
        <p:txBody>
          <a:bodyPr wrap="square" lIns="0" tIns="0" rIns="0" bIns="0" rtlCol="0" anchor="ctr"/>
          <a:lstStyle/>
          <a:p>
            <a:pPr algn="r">
              <a:spcBef>
                <a:spcPts val="200"/>
              </a:spcBef>
            </a:pPr>
            <a:r>
              <a:rPr lang="en-US" sz="1400">
                <a:solidFill>
                  <a:srgbClr val="ACA0CF"/>
                </a:solidFill>
                <a:latin typeface="Calibri"/>
                <a:ea typeface="Calibri"/>
                <a:cs typeface="Calibri"/>
              </a:rPr>
              <a:t>Sober Housing · </a:t>
            </a:r>
            <a:endParaRPr lang="en-US" sz="1400" b="0">
              <a:solidFill>
                <a:srgbClr val="ACA0CF"/>
              </a:solidFill>
              <a:latin typeface="Calibri"/>
              <a:ea typeface="Calibri"/>
              <a:cs typeface="Calibri"/>
            </a:endParaRPr>
          </a:p>
        </p:txBody>
      </p:sp>
      <p:sp>
        <p:nvSpPr>
          <p:cNvPr id="250" name="tx250"/>
          <p:cNvSpPr/>
          <p:nvPr/>
        </p:nvSpPr>
        <p:spPr>
          <a:xfrm>
            <a:off x="630463" y="1152306"/>
            <a:ext cx="3916240" cy="200000"/>
          </a:xfrm>
          <a:prstGeom prst="rect">
            <a:avLst/>
          </a:prstGeom>
          <a:noFill/>
        </p:spPr>
        <p:txBody>
          <a:bodyPr wrap="square" lIns="0" tIns="0" rIns="0" bIns="0" rtlCol="0" anchor="ctr"/>
          <a:lstStyle/>
          <a:p>
            <a:pPr algn="r">
              <a:spcBef>
                <a:spcPts val="200"/>
              </a:spcBef>
            </a:pPr>
            <a:r>
              <a:rPr lang="en-US" sz="1400">
                <a:solidFill>
                  <a:srgbClr val="ACA0CF"/>
                </a:solidFill>
                <a:latin typeface="Calibri"/>
                <a:ea typeface="Calibri"/>
                <a:cs typeface="Calibri"/>
              </a:rPr>
              <a:t>Transitional Housing · </a:t>
            </a:r>
            <a:endParaRPr lang="en-US" sz="1400" b="0">
              <a:solidFill>
                <a:srgbClr val="ACA0CF"/>
              </a:solidFill>
              <a:latin typeface="Calibri"/>
              <a:ea typeface="Calibri"/>
              <a:cs typeface="Calibri"/>
            </a:endParaRPr>
          </a:p>
        </p:txBody>
      </p:sp>
      <p:sp>
        <p:nvSpPr>
          <p:cNvPr id="251" name="tx251"/>
          <p:cNvSpPr/>
          <p:nvPr/>
        </p:nvSpPr>
        <p:spPr>
          <a:xfrm>
            <a:off x="139534" y="1508534"/>
            <a:ext cx="3916240" cy="200000"/>
          </a:xfrm>
          <a:prstGeom prst="rect">
            <a:avLst/>
          </a:prstGeom>
          <a:noFill/>
        </p:spPr>
        <p:txBody>
          <a:bodyPr wrap="square" lIns="0" tIns="0" rIns="0" bIns="0" rtlCol="0" anchor="ctr"/>
          <a:lstStyle/>
          <a:p>
            <a:pPr algn="r">
              <a:spcBef>
                <a:spcPts val="200"/>
              </a:spcBef>
            </a:pPr>
            <a:r>
              <a:rPr lang="en-US" sz="1400" b="0">
                <a:solidFill>
                  <a:srgbClr val="ACA0CF"/>
                </a:solidFill>
                <a:latin typeface="Calibri"/>
                <a:ea typeface="Calibri"/>
                <a:cs typeface="Calibri"/>
              </a:rPr>
              <a:t>Peer Recovery </a:t>
            </a:r>
            <a:r>
              <a:rPr lang="en-US" sz="1400">
                <a:solidFill>
                  <a:srgbClr val="ACA0CF"/>
                </a:solidFill>
                <a:latin typeface="Calibri"/>
                <a:ea typeface="Calibri"/>
                <a:cs typeface="Calibri"/>
              </a:rPr>
              <a:t>Housing · </a:t>
            </a:r>
            <a:endParaRPr lang="en-US" sz="1400" b="0">
              <a:solidFill>
                <a:srgbClr val="ACA0CF"/>
              </a:solidFill>
              <a:latin typeface="Calibri"/>
              <a:ea typeface="Calibri"/>
              <a:cs typeface="Calibri"/>
            </a:endParaRPr>
          </a:p>
        </p:txBody>
      </p:sp>
      <p:sp>
        <p:nvSpPr>
          <p:cNvPr id="252" name="tx252"/>
          <p:cNvSpPr/>
          <p:nvPr/>
        </p:nvSpPr>
        <p:spPr>
          <a:xfrm>
            <a:off x="-225097" y="2143566"/>
            <a:ext cx="3916240" cy="200000"/>
          </a:xfrm>
          <a:prstGeom prst="rect">
            <a:avLst/>
          </a:prstGeom>
          <a:noFill/>
        </p:spPr>
        <p:txBody>
          <a:bodyPr wrap="square" lIns="0" tIns="0" rIns="0" bIns="0" rtlCol="0" anchor="ctr"/>
          <a:lstStyle/>
          <a:p>
            <a:pPr algn="r">
              <a:spcBef>
                <a:spcPts val="200"/>
              </a:spcBef>
            </a:pPr>
            <a:r>
              <a:rPr lang="en-US" sz="1400" b="0">
                <a:solidFill>
                  <a:srgbClr val="ACA0CF"/>
                </a:solidFill>
              </a:rPr>
              <a:t>Recovery Community </a:t>
            </a:r>
            <a:r>
              <a:rPr lang="en-US" sz="1400">
                <a:solidFill>
                  <a:srgbClr val="ACA0CF"/>
                </a:solidFill>
              </a:rPr>
              <a:t>Centers · </a:t>
            </a:r>
            <a:endParaRPr lang="en-US" sz="1400" b="0">
              <a:solidFill>
                <a:srgbClr val="ACA0CF"/>
              </a:solidFill>
            </a:endParaRPr>
          </a:p>
        </p:txBody>
      </p:sp>
      <p:sp>
        <p:nvSpPr>
          <p:cNvPr id="253" name="tx253"/>
          <p:cNvSpPr/>
          <p:nvPr/>
        </p:nvSpPr>
        <p:spPr>
          <a:xfrm>
            <a:off x="-646428" y="2966116"/>
            <a:ext cx="3916240" cy="200000"/>
          </a:xfrm>
          <a:prstGeom prst="rect">
            <a:avLst/>
          </a:prstGeom>
          <a:noFill/>
        </p:spPr>
        <p:txBody>
          <a:bodyPr wrap="square" lIns="0" tIns="0" rIns="0" bIns="0" rtlCol="0" anchor="ctr"/>
          <a:lstStyle/>
          <a:p>
            <a:pPr algn="r">
              <a:spcBef>
                <a:spcPts val="200"/>
              </a:spcBef>
            </a:pPr>
            <a:r>
              <a:rPr lang="en-US" sz="1400">
                <a:solidFill>
                  <a:srgbClr val="ACA0CF"/>
                </a:solidFill>
                <a:latin typeface="Calibri"/>
                <a:ea typeface="Calibri"/>
                <a:cs typeface="Calibri"/>
              </a:rPr>
              <a:t>Reintegration Programs · </a:t>
            </a:r>
            <a:endParaRPr lang="en-US" sz="1400" b="0">
              <a:solidFill>
                <a:srgbClr val="ACA0CF"/>
              </a:solidFill>
              <a:latin typeface="Calibri"/>
              <a:ea typeface="Calibri"/>
              <a:cs typeface="Calibri"/>
            </a:endParaRPr>
          </a:p>
        </p:txBody>
      </p:sp>
      <p:sp>
        <p:nvSpPr>
          <p:cNvPr id="9001" name="Sobrynth Trademark"/>
          <p:cNvSpPr/>
          <p:nvPr/>
        </p:nvSpPr>
        <p:spPr>
          <a:xfrm>
            <a:off x="7582410" y="6690000"/>
            <a:ext cx="4000000" cy="140000"/>
          </a:xfrm>
          <a:prstGeom prst="rect">
            <a:avLst/>
          </a:prstGeom>
          <a:noFill/>
          <a:ln/>
        </p:spPr>
        <p:txBody>
          <a:bodyPr wrap="square" lIns="0" tIns="0" rIns="0" bIns="0" anchor="b"/>
          <a:lstStyle/>
          <a:p>
            <a:pPr algn="r"/>
            <a:r>
              <a:rPr lang="en-US" sz="800" kern="0">
                <a:solidFill>
                  <a:srgbClr val="7A7784"/>
                </a:solidFill>
                <a:latin typeface="Calibri" pitchFamily="34" charset="0"/>
              </a:rPr>
              <a:t>Sobrynth®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57200" y="713232"/>
            <a:ext cx="11274552" cy="777240"/>
          </a:xfrm>
          <a:prstGeom prst="rect">
            <a:avLst/>
          </a:prstGeom>
          <a:noFill/>
          <a:ln/>
        </p:spPr>
        <p:txBody>
          <a:bodyPr wrap="square" lIns="0" tIns="0" rIns="0" bIns="0" rtlCol="0" anchor="ctr"/>
          <a:lstStyle/>
          <a:p>
            <a:pPr marL="0" indent="0">
              <a:buNone/>
            </a:pPr>
            <a:r>
              <a:rPr lang="en-US" sz="3300" b="1">
                <a:solidFill>
                  <a:srgbClr val="1E1750"/>
                </a:solidFill>
                <a:latin typeface="Roboto Slab" pitchFamily="34" charset="0"/>
                <a:ea typeface="Roboto Slab" pitchFamily="34" charset="-122"/>
                <a:cs typeface="Roboto Slab" pitchFamily="34" charset="-120"/>
              </a:rPr>
              <a:t>Before, during, and after, Sobrynth is here for it all.</a:t>
            </a:r>
            <a:endParaRPr lang="en-US" sz="3300"/>
          </a:p>
        </p:txBody>
      </p:sp>
      <p:sp>
        <p:nvSpPr>
          <p:cNvPr id="4" name="Text 2"/>
          <p:cNvSpPr/>
          <p:nvPr/>
        </p:nvSpPr>
        <p:spPr>
          <a:xfrm>
            <a:off x="457200" y="1463040"/>
            <a:ext cx="3657600" cy="201168"/>
          </a:xfrm>
          <a:prstGeom prst="rect">
            <a:avLst/>
          </a:prstGeom>
          <a:noFill/>
          <a:ln/>
        </p:spPr>
        <p:txBody>
          <a:bodyPr wrap="square" lIns="0" tIns="0" rIns="0" bIns="0" rtlCol="0" anchor="ctr"/>
          <a:lstStyle/>
          <a:p>
            <a:pPr marL="0" indent="0">
              <a:buNone/>
            </a:pPr>
            <a:r>
              <a:rPr lang="en-US" sz="1000" b="1" kern="0" spc="120">
                <a:solidFill>
                  <a:srgbClr val="6B6B76"/>
                </a:solidFill>
                <a:latin typeface="Roboto" pitchFamily="34" charset="0"/>
                <a:ea typeface="Roboto" pitchFamily="34" charset="-122"/>
                <a:cs typeface="Roboto" pitchFamily="34" charset="-120"/>
              </a:rPr>
              <a:t>LOWER ACUITY · NON-CLINICAL</a:t>
            </a:r>
            <a:endParaRPr lang="en-US" sz="1000"/>
          </a:p>
        </p:txBody>
      </p:sp>
      <p:sp>
        <p:nvSpPr>
          <p:cNvPr id="5" name="Text 3"/>
          <p:cNvSpPr/>
          <p:nvPr/>
        </p:nvSpPr>
        <p:spPr>
          <a:xfrm>
            <a:off x="8074152" y="1463040"/>
            <a:ext cx="3657600" cy="201168"/>
          </a:xfrm>
          <a:prstGeom prst="rect">
            <a:avLst/>
          </a:prstGeom>
          <a:noFill/>
          <a:ln/>
        </p:spPr>
        <p:txBody>
          <a:bodyPr wrap="square" lIns="0" tIns="0" rIns="0" bIns="0" rtlCol="0" anchor="ctr"/>
          <a:lstStyle/>
          <a:p>
            <a:pPr marL="0" indent="0" algn="r">
              <a:buNone/>
            </a:pPr>
            <a:r>
              <a:rPr lang="en-US" sz="1000" b="1" kern="0" spc="120">
                <a:solidFill>
                  <a:srgbClr val="6B6B76"/>
                </a:solidFill>
                <a:latin typeface="Roboto" pitchFamily="34" charset="0"/>
                <a:ea typeface="Roboto" pitchFamily="34" charset="-122"/>
                <a:cs typeface="Roboto" pitchFamily="34" charset="-120"/>
              </a:rPr>
              <a:t>HIGHER ACUITY · CLINICAL</a:t>
            </a:r>
            <a:endParaRPr lang="en-US" sz="1000"/>
          </a:p>
        </p:txBody>
      </p:sp>
      <p:sp>
        <p:nvSpPr>
          <p:cNvPr id="6" name="Text 4"/>
          <p:cNvSpPr/>
          <p:nvPr/>
        </p:nvSpPr>
        <p:spPr>
          <a:xfrm>
            <a:off x="457200" y="1755648"/>
            <a:ext cx="11274552" cy="237744"/>
          </a:xfrm>
          <a:prstGeom prst="rect">
            <a:avLst/>
          </a:prstGeom>
          <a:noFill/>
          <a:ln/>
        </p:spPr>
        <p:txBody>
          <a:bodyPr wrap="square" lIns="0" tIns="0" rIns="0" bIns="0" rtlCol="0" anchor="ctr"/>
          <a:lstStyle/>
          <a:p>
            <a:pPr marL="0" indent="0" algn="ctr">
              <a:buNone/>
            </a:pPr>
            <a:r>
              <a:rPr lang="en-US" sz="1250" b="1" kern="0" spc="100">
                <a:solidFill>
                  <a:srgbClr val="FFAD5B"/>
                </a:solidFill>
                <a:latin typeface="Roboto" pitchFamily="34" charset="0"/>
                <a:ea typeface="Roboto" pitchFamily="34" charset="-122"/>
                <a:cs typeface="Roboto" pitchFamily="34" charset="-120"/>
              </a:rPr>
              <a:t>SOBRYNTH: BEFORE, DURING &amp; AFTER</a:t>
            </a:r>
            <a:endParaRPr lang="en-US" sz="1250"/>
          </a:p>
        </p:txBody>
      </p:sp>
      <p:sp>
        <p:nvSpPr>
          <p:cNvPr id="7" name="Shape 5"/>
          <p:cNvSpPr/>
          <p:nvPr/>
        </p:nvSpPr>
        <p:spPr>
          <a:xfrm>
            <a:off x="4389120" y="2029968"/>
            <a:ext cx="1051560" cy="256032"/>
          </a:xfrm>
          <a:prstGeom prst="roundRect">
            <a:avLst>
              <a:gd name="adj" fmla="val 50000"/>
            </a:avLst>
          </a:prstGeom>
          <a:ln w="15875">
            <a:solidFill>
              <a:srgbClr val="FFAD5B"/>
            </a:solidFill>
            <a:prstDash val="solid"/>
          </a:ln>
        </p:spPr>
        <p:txBody>
          <a:bodyPr/>
          <a:lstStyle/>
          <a:p>
            <a:endParaRPr lang="en-US"/>
          </a:p>
        </p:txBody>
      </p:sp>
      <p:sp>
        <p:nvSpPr>
          <p:cNvPr id="8" name="Text 6"/>
          <p:cNvSpPr/>
          <p:nvPr/>
        </p:nvSpPr>
        <p:spPr>
          <a:xfrm>
            <a:off x="4389120" y="2029968"/>
            <a:ext cx="1051560" cy="256032"/>
          </a:xfrm>
          <a:prstGeom prst="rect">
            <a:avLst/>
          </a:prstGeom>
          <a:noFill/>
          <a:ln/>
        </p:spPr>
        <p:txBody>
          <a:bodyPr wrap="square" lIns="0" tIns="0" rIns="0" bIns="0" rtlCol="0" anchor="ctr"/>
          <a:lstStyle/>
          <a:p>
            <a:pPr marL="0" indent="0" algn="ctr">
              <a:buNone/>
            </a:pPr>
            <a:r>
              <a:rPr lang="en-US" sz="900" b="1" kern="0" spc="40">
                <a:solidFill>
                  <a:srgbClr val="B8720F"/>
                </a:solidFill>
                <a:latin typeface="Roboto" pitchFamily="34" charset="0"/>
                <a:ea typeface="Roboto" pitchFamily="34" charset="-122"/>
                <a:cs typeface="Roboto" pitchFamily="34" charset="-120"/>
              </a:rPr>
              <a:t>EMPLOYEE</a:t>
            </a:r>
            <a:endParaRPr lang="en-US" sz="900"/>
          </a:p>
        </p:txBody>
      </p:sp>
      <p:sp>
        <p:nvSpPr>
          <p:cNvPr id="9" name="Shape 7"/>
          <p:cNvSpPr/>
          <p:nvPr/>
        </p:nvSpPr>
        <p:spPr>
          <a:xfrm>
            <a:off x="5568696" y="2029968"/>
            <a:ext cx="1051560" cy="256032"/>
          </a:xfrm>
          <a:prstGeom prst="roundRect">
            <a:avLst>
              <a:gd name="adj" fmla="val 50000"/>
            </a:avLst>
          </a:prstGeom>
          <a:ln w="15875">
            <a:solidFill>
              <a:srgbClr val="FFAD5B"/>
            </a:solidFill>
            <a:prstDash val="solid"/>
          </a:ln>
        </p:spPr>
        <p:txBody>
          <a:bodyPr/>
          <a:lstStyle/>
          <a:p>
            <a:endParaRPr lang="en-US"/>
          </a:p>
        </p:txBody>
      </p:sp>
      <p:sp>
        <p:nvSpPr>
          <p:cNvPr id="10" name="Text 8"/>
          <p:cNvSpPr/>
          <p:nvPr/>
        </p:nvSpPr>
        <p:spPr>
          <a:xfrm>
            <a:off x="5568696" y="2029968"/>
            <a:ext cx="1051560" cy="256032"/>
          </a:xfrm>
          <a:prstGeom prst="rect">
            <a:avLst/>
          </a:prstGeom>
          <a:noFill/>
          <a:ln/>
        </p:spPr>
        <p:txBody>
          <a:bodyPr wrap="square" lIns="0" tIns="0" rIns="0" bIns="0" rtlCol="0" anchor="ctr"/>
          <a:lstStyle/>
          <a:p>
            <a:pPr marL="0" indent="0" algn="ctr">
              <a:buNone/>
            </a:pPr>
            <a:r>
              <a:rPr lang="en-US" sz="900" b="1" kern="0" spc="40">
                <a:solidFill>
                  <a:srgbClr val="B8720F"/>
                </a:solidFill>
                <a:latin typeface="Roboto" pitchFamily="34" charset="0"/>
                <a:ea typeface="Roboto" pitchFamily="34" charset="-122"/>
                <a:cs typeface="Roboto" pitchFamily="34" charset="-120"/>
              </a:rPr>
              <a:t>FAMILY</a:t>
            </a:r>
            <a:endParaRPr lang="en-US" sz="900"/>
          </a:p>
        </p:txBody>
      </p:sp>
      <p:sp>
        <p:nvSpPr>
          <p:cNvPr id="11" name="Shape 9"/>
          <p:cNvSpPr/>
          <p:nvPr/>
        </p:nvSpPr>
        <p:spPr>
          <a:xfrm>
            <a:off x="6748272" y="2029968"/>
            <a:ext cx="1051560" cy="256032"/>
          </a:xfrm>
          <a:prstGeom prst="roundRect">
            <a:avLst>
              <a:gd name="adj" fmla="val 50000"/>
            </a:avLst>
          </a:prstGeom>
          <a:ln w="15875">
            <a:solidFill>
              <a:srgbClr val="FFAD5B"/>
            </a:solidFill>
            <a:prstDash val="solid"/>
          </a:ln>
        </p:spPr>
        <p:txBody>
          <a:bodyPr/>
          <a:lstStyle/>
          <a:p>
            <a:endParaRPr lang="en-US"/>
          </a:p>
        </p:txBody>
      </p:sp>
      <p:sp>
        <p:nvSpPr>
          <p:cNvPr id="12" name="Text 10"/>
          <p:cNvSpPr/>
          <p:nvPr/>
        </p:nvSpPr>
        <p:spPr>
          <a:xfrm>
            <a:off x="6748272" y="2029968"/>
            <a:ext cx="1051560" cy="256032"/>
          </a:xfrm>
          <a:prstGeom prst="rect">
            <a:avLst/>
          </a:prstGeom>
          <a:noFill/>
          <a:ln/>
        </p:spPr>
        <p:txBody>
          <a:bodyPr wrap="square" lIns="0" tIns="0" rIns="0" bIns="0" rtlCol="0" anchor="ctr"/>
          <a:lstStyle/>
          <a:p>
            <a:pPr marL="0" indent="0" algn="ctr">
              <a:buNone/>
            </a:pPr>
            <a:r>
              <a:rPr lang="en-US" sz="900" b="1" kern="0" spc="40">
                <a:solidFill>
                  <a:srgbClr val="B8720F"/>
                </a:solidFill>
                <a:latin typeface="Roboto" pitchFamily="34" charset="0"/>
                <a:ea typeface="Roboto" pitchFamily="34" charset="-122"/>
                <a:cs typeface="Roboto" pitchFamily="34" charset="-120"/>
              </a:rPr>
              <a:t>MANAGER</a:t>
            </a:r>
            <a:endParaRPr lang="en-US" sz="900"/>
          </a:p>
        </p:txBody>
      </p:sp>
      <p:sp>
        <p:nvSpPr>
          <p:cNvPr id="13" name="Shape 11"/>
          <p:cNvSpPr/>
          <p:nvPr/>
        </p:nvSpPr>
        <p:spPr>
          <a:xfrm>
            <a:off x="457200" y="2395728"/>
            <a:ext cx="11274552" cy="0"/>
          </a:xfrm>
          <a:prstGeom prst="line">
            <a:avLst/>
          </a:prstGeom>
          <a:noFill/>
          <a:ln w="25400">
            <a:solidFill>
              <a:srgbClr val="FFAD5B"/>
            </a:solidFill>
            <a:prstDash val="solid"/>
          </a:ln>
        </p:spPr>
        <p:txBody>
          <a:bodyPr/>
          <a:lstStyle/>
          <a:p>
            <a:endParaRPr lang="en-US"/>
          </a:p>
        </p:txBody>
      </p:sp>
      <p:sp>
        <p:nvSpPr>
          <p:cNvPr id="14" name="Shape 12"/>
          <p:cNvSpPr/>
          <p:nvPr/>
        </p:nvSpPr>
        <p:spPr>
          <a:xfrm>
            <a:off x="457200" y="2395728"/>
            <a:ext cx="0" cy="109728"/>
          </a:xfrm>
          <a:prstGeom prst="line">
            <a:avLst/>
          </a:prstGeom>
          <a:noFill/>
          <a:ln w="25400">
            <a:solidFill>
              <a:srgbClr val="FFAD5B"/>
            </a:solidFill>
            <a:prstDash val="solid"/>
          </a:ln>
        </p:spPr>
        <p:txBody>
          <a:bodyPr/>
          <a:lstStyle/>
          <a:p>
            <a:endParaRPr lang="en-US"/>
          </a:p>
        </p:txBody>
      </p:sp>
      <p:sp>
        <p:nvSpPr>
          <p:cNvPr id="15" name="Shape 13"/>
          <p:cNvSpPr/>
          <p:nvPr/>
        </p:nvSpPr>
        <p:spPr>
          <a:xfrm>
            <a:off x="11731752" y="2395728"/>
            <a:ext cx="0" cy="109728"/>
          </a:xfrm>
          <a:prstGeom prst="line">
            <a:avLst/>
          </a:prstGeom>
          <a:noFill/>
          <a:ln w="25400">
            <a:solidFill>
              <a:srgbClr val="FFAD5B"/>
            </a:solidFill>
            <a:prstDash val="solid"/>
          </a:ln>
        </p:spPr>
        <p:txBody>
          <a:bodyPr/>
          <a:lstStyle/>
          <a:p>
            <a:endParaRPr lang="en-US"/>
          </a:p>
        </p:txBody>
      </p:sp>
      <p:sp>
        <p:nvSpPr>
          <p:cNvPr id="16" name="Text 14"/>
          <p:cNvSpPr/>
          <p:nvPr/>
        </p:nvSpPr>
        <p:spPr>
          <a:xfrm>
            <a:off x="6149340" y="2670048"/>
            <a:ext cx="5582412" cy="219456"/>
          </a:xfrm>
          <a:prstGeom prst="rect">
            <a:avLst/>
          </a:prstGeom>
          <a:noFill/>
          <a:ln/>
        </p:spPr>
        <p:txBody>
          <a:bodyPr wrap="square" lIns="0" tIns="0" rIns="0" bIns="0" rtlCol="0" anchor="ctr"/>
          <a:lstStyle/>
          <a:p>
            <a:pPr marL="0" indent="0" algn="ctr">
              <a:buNone/>
            </a:pPr>
            <a:r>
              <a:rPr lang="en-US" sz="1100" b="1" kern="0" spc="60">
                <a:solidFill>
                  <a:srgbClr val="6B6B76"/>
                </a:solidFill>
                <a:latin typeface="Roboto" pitchFamily="34" charset="0"/>
                <a:ea typeface="Roboto" pitchFamily="34" charset="-122"/>
                <a:cs typeface="Roboto" pitchFamily="34" charset="-120"/>
              </a:rPr>
              <a:t>ALL OTHER WORKPLACE SUD BENEFITS: ONLY DURING TREATMENT</a:t>
            </a:r>
            <a:endParaRPr lang="en-US" sz="1100"/>
          </a:p>
        </p:txBody>
      </p:sp>
      <p:sp>
        <p:nvSpPr>
          <p:cNvPr id="17" name="Shape 15"/>
          <p:cNvSpPr/>
          <p:nvPr/>
        </p:nvSpPr>
        <p:spPr>
          <a:xfrm>
            <a:off x="8414766" y="2926080"/>
            <a:ext cx="1051560" cy="256032"/>
          </a:xfrm>
          <a:prstGeom prst="roundRect">
            <a:avLst>
              <a:gd name="adj" fmla="val 50000"/>
            </a:avLst>
          </a:prstGeom>
          <a:ln w="15875">
            <a:solidFill>
              <a:srgbClr val="ABA8BC"/>
            </a:solidFill>
            <a:prstDash val="solid"/>
          </a:ln>
        </p:spPr>
        <p:txBody>
          <a:bodyPr/>
          <a:lstStyle/>
          <a:p>
            <a:endParaRPr lang="en-US"/>
          </a:p>
        </p:txBody>
      </p:sp>
      <p:sp>
        <p:nvSpPr>
          <p:cNvPr id="18" name="Text 16"/>
          <p:cNvSpPr/>
          <p:nvPr/>
        </p:nvSpPr>
        <p:spPr>
          <a:xfrm>
            <a:off x="8414766" y="2926080"/>
            <a:ext cx="1051560" cy="256032"/>
          </a:xfrm>
          <a:prstGeom prst="rect">
            <a:avLst/>
          </a:prstGeom>
          <a:noFill/>
          <a:ln/>
        </p:spPr>
        <p:txBody>
          <a:bodyPr wrap="square" lIns="0" tIns="0" rIns="0" bIns="0" rtlCol="0" anchor="ctr"/>
          <a:lstStyle/>
          <a:p>
            <a:pPr marL="0" indent="0" algn="ctr">
              <a:buNone/>
            </a:pPr>
            <a:r>
              <a:rPr lang="en-US" sz="900" b="1" kern="0" spc="40">
                <a:solidFill>
                  <a:srgbClr val="6B6B76"/>
                </a:solidFill>
                <a:latin typeface="Roboto" pitchFamily="34" charset="0"/>
                <a:ea typeface="Roboto" pitchFamily="34" charset="-122"/>
                <a:cs typeface="Roboto" pitchFamily="34" charset="-120"/>
              </a:rPr>
              <a:t>EMPLOYEE ONLY</a:t>
            </a:r>
            <a:endParaRPr lang="en-US" sz="900"/>
          </a:p>
        </p:txBody>
      </p:sp>
      <p:sp>
        <p:nvSpPr>
          <p:cNvPr id="19" name="Shape 17"/>
          <p:cNvSpPr/>
          <p:nvPr/>
        </p:nvSpPr>
        <p:spPr>
          <a:xfrm>
            <a:off x="6149340" y="3291840"/>
            <a:ext cx="5582412" cy="0"/>
          </a:xfrm>
          <a:prstGeom prst="line">
            <a:avLst/>
          </a:prstGeom>
          <a:noFill/>
          <a:ln w="25400">
            <a:solidFill>
              <a:srgbClr val="ABA8BC"/>
            </a:solidFill>
            <a:prstDash val="solid"/>
          </a:ln>
        </p:spPr>
        <p:txBody>
          <a:bodyPr/>
          <a:lstStyle/>
          <a:p>
            <a:endParaRPr lang="en-US"/>
          </a:p>
        </p:txBody>
      </p:sp>
      <p:sp>
        <p:nvSpPr>
          <p:cNvPr id="20" name="Shape 18"/>
          <p:cNvSpPr/>
          <p:nvPr/>
        </p:nvSpPr>
        <p:spPr>
          <a:xfrm>
            <a:off x="6149340" y="3291840"/>
            <a:ext cx="0" cy="91440"/>
          </a:xfrm>
          <a:prstGeom prst="line">
            <a:avLst/>
          </a:prstGeom>
          <a:noFill/>
          <a:ln w="25400">
            <a:solidFill>
              <a:srgbClr val="ABA8BC"/>
            </a:solidFill>
            <a:prstDash val="solid"/>
          </a:ln>
        </p:spPr>
        <p:txBody>
          <a:bodyPr/>
          <a:lstStyle/>
          <a:p>
            <a:endParaRPr lang="en-US"/>
          </a:p>
        </p:txBody>
      </p:sp>
      <p:sp>
        <p:nvSpPr>
          <p:cNvPr id="21" name="Shape 19"/>
          <p:cNvSpPr/>
          <p:nvPr/>
        </p:nvSpPr>
        <p:spPr>
          <a:xfrm>
            <a:off x="11731752" y="3291840"/>
            <a:ext cx="0" cy="91440"/>
          </a:xfrm>
          <a:prstGeom prst="line">
            <a:avLst/>
          </a:prstGeom>
          <a:noFill/>
          <a:ln w="25400">
            <a:solidFill>
              <a:srgbClr val="ABA8BC"/>
            </a:solidFill>
            <a:prstDash val="solid"/>
          </a:ln>
        </p:spPr>
        <p:txBody>
          <a:bodyPr/>
          <a:lstStyle/>
          <a:p>
            <a:endParaRPr lang="en-US"/>
          </a:p>
        </p:txBody>
      </p:sp>
      <p:sp>
        <p:nvSpPr>
          <p:cNvPr id="22" name="Shape 20"/>
          <p:cNvSpPr/>
          <p:nvPr/>
        </p:nvSpPr>
        <p:spPr>
          <a:xfrm>
            <a:off x="457200" y="3383280"/>
            <a:ext cx="1787652" cy="2423160"/>
          </a:xfrm>
          <a:prstGeom prst="roundRect">
            <a:avLst>
              <a:gd name="adj" fmla="val 3069"/>
            </a:avLst>
          </a:prstGeom>
          <a:solidFill>
            <a:srgbClr val="007788"/>
          </a:solidFill>
          <a:ln/>
        </p:spPr>
        <p:txBody>
          <a:bodyPr/>
          <a:lstStyle/>
          <a:p>
            <a:endParaRPr lang="en-US"/>
          </a:p>
        </p:txBody>
      </p:sp>
      <p:sp>
        <p:nvSpPr>
          <p:cNvPr id="23" name="Text 21"/>
          <p:cNvSpPr/>
          <p:nvPr/>
        </p:nvSpPr>
        <p:spPr>
          <a:xfrm>
            <a:off x="548640" y="3712464"/>
            <a:ext cx="1604772" cy="548640"/>
          </a:xfrm>
          <a:prstGeom prst="rect">
            <a:avLst/>
          </a:prstGeom>
          <a:noFill/>
          <a:ln/>
        </p:spPr>
        <p:txBody>
          <a:bodyPr wrap="square" lIns="0" tIns="0" rIns="0" bIns="0" rtlCol="0" anchor="ctr"/>
          <a:lstStyle/>
          <a:p>
            <a:pPr marL="0" indent="0" algn="ctr">
              <a:buNone/>
            </a:pPr>
            <a:r>
              <a:rPr lang="en-US" sz="2800" b="1">
                <a:solidFill>
                  <a:srgbClr val="FFFFFF"/>
                </a:solidFill>
                <a:latin typeface="Roboto Slab" pitchFamily="34" charset="0"/>
                <a:ea typeface="Roboto Slab" pitchFamily="34" charset="-122"/>
                <a:cs typeface="Roboto Slab" pitchFamily="34" charset="-120"/>
              </a:rPr>
              <a:t>$0</a:t>
            </a:r>
            <a:endParaRPr lang="en-US" sz="2800"/>
          </a:p>
        </p:txBody>
      </p:sp>
      <p:sp>
        <p:nvSpPr>
          <p:cNvPr id="24" name="Text 22"/>
          <p:cNvSpPr/>
          <p:nvPr/>
        </p:nvSpPr>
        <p:spPr>
          <a:xfrm>
            <a:off x="530352" y="4434840"/>
            <a:ext cx="1641348" cy="777240"/>
          </a:xfrm>
          <a:prstGeom prst="rect">
            <a:avLst/>
          </a:prstGeom>
          <a:noFill/>
          <a:ln/>
        </p:spPr>
        <p:txBody>
          <a:bodyPr wrap="square" lIns="0" tIns="0" rIns="0" bIns="0" rtlCol="0" anchor="ctr"/>
          <a:lstStyle/>
          <a:p>
            <a:pPr marL="0" indent="0" algn="ctr">
              <a:lnSpc>
                <a:spcPct val="115000"/>
              </a:lnSpc>
              <a:buNone/>
            </a:pPr>
            <a:r>
              <a:rPr lang="en-US" sz="1200">
                <a:solidFill>
                  <a:srgbClr val="FFFFFF"/>
                </a:solidFill>
                <a:latin typeface="Roboto" pitchFamily="34" charset="0"/>
                <a:ea typeface="Roboto" pitchFamily="34" charset="-122"/>
                <a:cs typeface="Roboto" pitchFamily="34" charset="-120"/>
              </a:rPr>
              <a:t>Sober Curious</a:t>
            </a:r>
            <a:endParaRPr lang="en-US" sz="1200"/>
          </a:p>
          <a:p>
            <a:pPr marL="0" indent="0" algn="ctr">
              <a:lnSpc>
                <a:spcPct val="115000"/>
              </a:lnSpc>
              <a:buNone/>
            </a:pPr>
            <a:r>
              <a:rPr lang="en-US" sz="1200">
                <a:solidFill>
                  <a:srgbClr val="FFFFFF"/>
                </a:solidFill>
                <a:latin typeface="Roboto" pitchFamily="34" charset="0"/>
                <a:ea typeface="Roboto" pitchFamily="34" charset="-122"/>
                <a:cs typeface="Roboto" pitchFamily="34" charset="-120"/>
              </a:rPr>
              <a:t>Exploration</a:t>
            </a:r>
            <a:endParaRPr lang="en-US" sz="1200"/>
          </a:p>
        </p:txBody>
      </p:sp>
      <p:sp>
        <p:nvSpPr>
          <p:cNvPr id="25" name="Shape 23"/>
          <p:cNvSpPr/>
          <p:nvPr/>
        </p:nvSpPr>
        <p:spPr>
          <a:xfrm>
            <a:off x="2354580" y="3383280"/>
            <a:ext cx="1787652" cy="2423160"/>
          </a:xfrm>
          <a:prstGeom prst="roundRect">
            <a:avLst>
              <a:gd name="adj" fmla="val 3069"/>
            </a:avLst>
          </a:prstGeom>
          <a:solidFill>
            <a:srgbClr val="007788"/>
          </a:solidFill>
          <a:ln/>
        </p:spPr>
        <p:txBody>
          <a:bodyPr/>
          <a:lstStyle/>
          <a:p>
            <a:endParaRPr lang="en-US"/>
          </a:p>
        </p:txBody>
      </p:sp>
      <p:sp>
        <p:nvSpPr>
          <p:cNvPr id="26" name="Text 24"/>
          <p:cNvSpPr/>
          <p:nvPr/>
        </p:nvSpPr>
        <p:spPr>
          <a:xfrm>
            <a:off x="2446020" y="3712464"/>
            <a:ext cx="1604772" cy="548640"/>
          </a:xfrm>
          <a:prstGeom prst="rect">
            <a:avLst/>
          </a:prstGeom>
          <a:noFill/>
          <a:ln/>
        </p:spPr>
        <p:txBody>
          <a:bodyPr wrap="square" lIns="0" tIns="0" rIns="0" bIns="0" rtlCol="0" anchor="ctr"/>
          <a:lstStyle/>
          <a:p>
            <a:pPr marL="0" indent="0" algn="ctr">
              <a:buNone/>
            </a:pPr>
            <a:r>
              <a:rPr lang="en-US" sz="2800" b="1">
                <a:solidFill>
                  <a:srgbClr val="FFFFFF"/>
                </a:solidFill>
                <a:latin typeface="Roboto Slab" pitchFamily="34" charset="0"/>
                <a:ea typeface="Roboto Slab" pitchFamily="34" charset="-122"/>
                <a:cs typeface="Roboto Slab" pitchFamily="34" charset="-120"/>
              </a:rPr>
              <a:t>$0</a:t>
            </a:r>
            <a:endParaRPr lang="en-US" sz="2800"/>
          </a:p>
        </p:txBody>
      </p:sp>
      <p:sp>
        <p:nvSpPr>
          <p:cNvPr id="27" name="Text 25"/>
          <p:cNvSpPr/>
          <p:nvPr/>
        </p:nvSpPr>
        <p:spPr>
          <a:xfrm>
            <a:off x="2427732" y="4434840"/>
            <a:ext cx="1641348" cy="777240"/>
          </a:xfrm>
          <a:prstGeom prst="rect">
            <a:avLst/>
          </a:prstGeom>
          <a:noFill/>
          <a:ln/>
        </p:spPr>
        <p:txBody>
          <a:bodyPr wrap="square" lIns="0" tIns="0" rIns="0" bIns="0" rtlCol="0" anchor="ctr"/>
          <a:lstStyle/>
          <a:p>
            <a:pPr marL="0" indent="0" algn="ctr">
              <a:lnSpc>
                <a:spcPct val="115000"/>
              </a:lnSpc>
              <a:buNone/>
            </a:pPr>
            <a:r>
              <a:rPr lang="en-US" sz="1200">
                <a:solidFill>
                  <a:srgbClr val="FFFFFF"/>
                </a:solidFill>
                <a:latin typeface="Roboto" pitchFamily="34" charset="0"/>
                <a:ea typeface="Roboto" pitchFamily="34" charset="-122"/>
                <a:cs typeface="Roboto" pitchFamily="34" charset="-120"/>
              </a:rPr>
              <a:t>Peer Recovery</a:t>
            </a:r>
            <a:endParaRPr lang="en-US" sz="1200"/>
          </a:p>
          <a:p>
            <a:pPr marL="0" indent="0" algn="ctr">
              <a:lnSpc>
                <a:spcPct val="115000"/>
              </a:lnSpc>
              <a:buNone/>
            </a:pPr>
            <a:r>
              <a:rPr lang="en-US" sz="1200">
                <a:solidFill>
                  <a:srgbClr val="FFFFFF"/>
                </a:solidFill>
                <a:latin typeface="Roboto" pitchFamily="34" charset="0"/>
                <a:ea typeface="Roboto" pitchFamily="34" charset="-122"/>
                <a:cs typeface="Roboto" pitchFamily="34" charset="-120"/>
              </a:rPr>
              <a:t>Coaching</a:t>
            </a:r>
            <a:endParaRPr lang="en-US" sz="1200"/>
          </a:p>
        </p:txBody>
      </p:sp>
      <p:sp>
        <p:nvSpPr>
          <p:cNvPr id="28" name="Shape 26"/>
          <p:cNvSpPr/>
          <p:nvPr/>
        </p:nvSpPr>
        <p:spPr>
          <a:xfrm>
            <a:off x="4251960" y="3383280"/>
            <a:ext cx="1787652" cy="2423160"/>
          </a:xfrm>
          <a:prstGeom prst="roundRect">
            <a:avLst>
              <a:gd name="adj" fmla="val 3069"/>
            </a:avLst>
          </a:prstGeom>
          <a:solidFill>
            <a:srgbClr val="007788"/>
          </a:solidFill>
          <a:ln/>
        </p:spPr>
        <p:txBody>
          <a:bodyPr/>
          <a:lstStyle/>
          <a:p>
            <a:endParaRPr lang="en-US"/>
          </a:p>
        </p:txBody>
      </p:sp>
      <p:sp>
        <p:nvSpPr>
          <p:cNvPr id="29" name="Text 27"/>
          <p:cNvSpPr/>
          <p:nvPr/>
        </p:nvSpPr>
        <p:spPr>
          <a:xfrm>
            <a:off x="4343400" y="3712464"/>
            <a:ext cx="1604772" cy="548640"/>
          </a:xfrm>
          <a:prstGeom prst="rect">
            <a:avLst/>
          </a:prstGeom>
          <a:noFill/>
          <a:ln/>
        </p:spPr>
        <p:txBody>
          <a:bodyPr wrap="square" lIns="0" tIns="0" rIns="0" bIns="0" rtlCol="0" anchor="ctr"/>
          <a:lstStyle/>
          <a:p>
            <a:pPr marL="0" indent="0" algn="ctr">
              <a:buNone/>
            </a:pPr>
            <a:r>
              <a:rPr lang="en-US" sz="2800" b="1">
                <a:solidFill>
                  <a:srgbClr val="FFFFFF"/>
                </a:solidFill>
                <a:latin typeface="Roboto Slab" pitchFamily="34" charset="0"/>
                <a:ea typeface="Roboto Slab" pitchFamily="34" charset="-122"/>
                <a:cs typeface="Roboto Slab" pitchFamily="34" charset="-120"/>
              </a:rPr>
              <a:t>$0</a:t>
            </a:r>
            <a:endParaRPr lang="en-US" sz="2800"/>
          </a:p>
        </p:txBody>
      </p:sp>
      <p:sp>
        <p:nvSpPr>
          <p:cNvPr id="30" name="Text 28"/>
          <p:cNvSpPr/>
          <p:nvPr/>
        </p:nvSpPr>
        <p:spPr>
          <a:xfrm>
            <a:off x="4325112" y="4434840"/>
            <a:ext cx="1641348" cy="777240"/>
          </a:xfrm>
          <a:prstGeom prst="rect">
            <a:avLst/>
          </a:prstGeom>
          <a:noFill/>
          <a:ln/>
        </p:spPr>
        <p:txBody>
          <a:bodyPr wrap="square" lIns="0" tIns="0" rIns="0" bIns="0" rtlCol="0" anchor="ctr"/>
          <a:lstStyle/>
          <a:p>
            <a:pPr marL="0" indent="0" algn="ctr">
              <a:lnSpc>
                <a:spcPct val="115000"/>
              </a:lnSpc>
              <a:buNone/>
            </a:pPr>
            <a:r>
              <a:rPr lang="en-US" sz="1200">
                <a:solidFill>
                  <a:srgbClr val="FFFFFF"/>
                </a:solidFill>
                <a:latin typeface="Roboto" pitchFamily="34" charset="0"/>
                <a:ea typeface="Roboto" pitchFamily="34" charset="-122"/>
                <a:cs typeface="Roboto" pitchFamily="34" charset="-120"/>
              </a:rPr>
              <a:t>Family Support &amp;</a:t>
            </a:r>
            <a:endParaRPr lang="en-US" sz="1200"/>
          </a:p>
          <a:p>
            <a:pPr marL="0" indent="0" algn="ctr">
              <a:lnSpc>
                <a:spcPct val="115000"/>
              </a:lnSpc>
              <a:buNone/>
            </a:pPr>
            <a:r>
              <a:rPr lang="en-US" sz="1200">
                <a:solidFill>
                  <a:srgbClr val="FFFFFF"/>
                </a:solidFill>
                <a:latin typeface="Roboto" pitchFamily="34" charset="0"/>
                <a:ea typeface="Roboto" pitchFamily="34" charset="-122"/>
                <a:cs typeface="Roboto" pitchFamily="34" charset="-120"/>
              </a:rPr>
              <a:t>Community Orgs</a:t>
            </a:r>
            <a:endParaRPr lang="en-US" sz="1200"/>
          </a:p>
        </p:txBody>
      </p:sp>
      <p:sp>
        <p:nvSpPr>
          <p:cNvPr id="31" name="Shape 29"/>
          <p:cNvSpPr/>
          <p:nvPr/>
        </p:nvSpPr>
        <p:spPr>
          <a:xfrm>
            <a:off x="6149340" y="3383280"/>
            <a:ext cx="1787652" cy="2423160"/>
          </a:xfrm>
          <a:prstGeom prst="roundRect">
            <a:avLst>
              <a:gd name="adj" fmla="val 3069"/>
            </a:avLst>
          </a:prstGeom>
          <a:solidFill>
            <a:srgbClr val="59468D"/>
          </a:solidFill>
          <a:ln/>
        </p:spPr>
        <p:txBody>
          <a:bodyPr/>
          <a:lstStyle/>
          <a:p>
            <a:endParaRPr lang="en-US"/>
          </a:p>
        </p:txBody>
      </p:sp>
      <p:sp>
        <p:nvSpPr>
          <p:cNvPr id="32" name="Text 30"/>
          <p:cNvSpPr/>
          <p:nvPr/>
        </p:nvSpPr>
        <p:spPr>
          <a:xfrm>
            <a:off x="6240780" y="3712464"/>
            <a:ext cx="1604772" cy="548640"/>
          </a:xfrm>
          <a:prstGeom prst="rect">
            <a:avLst/>
          </a:prstGeom>
          <a:noFill/>
          <a:ln/>
        </p:spPr>
        <p:txBody>
          <a:bodyPr wrap="square" lIns="0" tIns="0" rIns="0" bIns="0" rtlCol="0" anchor="ctr"/>
          <a:lstStyle/>
          <a:p>
            <a:pPr marL="0" indent="0" algn="ctr">
              <a:buNone/>
            </a:pPr>
            <a:r>
              <a:rPr lang="en-US" sz="2800" b="1">
                <a:solidFill>
                  <a:srgbClr val="FFFFFF"/>
                </a:solidFill>
                <a:latin typeface="Roboto Slab" pitchFamily="34" charset="0"/>
                <a:ea typeface="Roboto Slab" pitchFamily="34" charset="-122"/>
                <a:cs typeface="Roboto Slab" pitchFamily="34" charset="-120"/>
              </a:rPr>
              <a:t>$$</a:t>
            </a:r>
            <a:endParaRPr lang="en-US" sz="2800"/>
          </a:p>
        </p:txBody>
      </p:sp>
      <p:sp>
        <p:nvSpPr>
          <p:cNvPr id="33" name="Text 31"/>
          <p:cNvSpPr/>
          <p:nvPr/>
        </p:nvSpPr>
        <p:spPr>
          <a:xfrm>
            <a:off x="6222492" y="4434840"/>
            <a:ext cx="1641348" cy="777240"/>
          </a:xfrm>
          <a:prstGeom prst="rect">
            <a:avLst/>
          </a:prstGeom>
          <a:noFill/>
          <a:ln/>
        </p:spPr>
        <p:txBody>
          <a:bodyPr wrap="square" lIns="0" tIns="0" rIns="0" bIns="0" rtlCol="0" anchor="ctr"/>
          <a:lstStyle/>
          <a:p>
            <a:pPr marL="0" indent="0" algn="ctr">
              <a:lnSpc>
                <a:spcPct val="115000"/>
              </a:lnSpc>
              <a:buNone/>
            </a:pPr>
            <a:r>
              <a:rPr lang="en-US" sz="1200">
                <a:solidFill>
                  <a:srgbClr val="FFFFFF"/>
                </a:solidFill>
                <a:latin typeface="Roboto" pitchFamily="34" charset="0"/>
                <a:ea typeface="Roboto" pitchFamily="34" charset="-122"/>
                <a:cs typeface="Roboto" pitchFamily="34" charset="-120"/>
              </a:rPr>
              <a:t>Outpatient / IOP</a:t>
            </a:r>
            <a:endParaRPr lang="en-US" sz="1200"/>
          </a:p>
          <a:p>
            <a:pPr marL="0" indent="0" algn="ctr">
              <a:lnSpc>
                <a:spcPct val="115000"/>
              </a:lnSpc>
              <a:buNone/>
            </a:pPr>
            <a:r>
              <a:rPr lang="en-US" sz="1200">
                <a:solidFill>
                  <a:srgbClr val="FFFFFF"/>
                </a:solidFill>
                <a:latin typeface="Roboto" pitchFamily="34" charset="0"/>
                <a:ea typeface="Roboto" pitchFamily="34" charset="-122"/>
                <a:cs typeface="Roboto" pitchFamily="34" charset="-120"/>
              </a:rPr>
              <a:t>Treatment</a:t>
            </a:r>
            <a:endParaRPr lang="en-US" sz="1200"/>
          </a:p>
        </p:txBody>
      </p:sp>
      <p:sp>
        <p:nvSpPr>
          <p:cNvPr id="34" name="Shape 32"/>
          <p:cNvSpPr/>
          <p:nvPr/>
        </p:nvSpPr>
        <p:spPr>
          <a:xfrm>
            <a:off x="8046720" y="3383280"/>
            <a:ext cx="1787652" cy="2423160"/>
          </a:xfrm>
          <a:prstGeom prst="roundRect">
            <a:avLst>
              <a:gd name="adj" fmla="val 3069"/>
            </a:avLst>
          </a:prstGeom>
          <a:solidFill>
            <a:srgbClr val="59468D"/>
          </a:solidFill>
          <a:ln/>
        </p:spPr>
        <p:txBody>
          <a:bodyPr/>
          <a:lstStyle/>
          <a:p>
            <a:endParaRPr lang="en-US"/>
          </a:p>
        </p:txBody>
      </p:sp>
      <p:sp>
        <p:nvSpPr>
          <p:cNvPr id="35" name="Text 33"/>
          <p:cNvSpPr/>
          <p:nvPr/>
        </p:nvSpPr>
        <p:spPr>
          <a:xfrm>
            <a:off x="8138160" y="3712464"/>
            <a:ext cx="1604772" cy="548640"/>
          </a:xfrm>
          <a:prstGeom prst="rect">
            <a:avLst/>
          </a:prstGeom>
          <a:noFill/>
          <a:ln/>
        </p:spPr>
        <p:txBody>
          <a:bodyPr wrap="square" lIns="0" tIns="0" rIns="0" bIns="0" rtlCol="0" anchor="ctr"/>
          <a:lstStyle/>
          <a:p>
            <a:pPr marL="0" indent="0" algn="ctr">
              <a:buNone/>
            </a:pPr>
            <a:r>
              <a:rPr lang="en-US" sz="2800" b="1">
                <a:solidFill>
                  <a:srgbClr val="FFFFFF"/>
                </a:solidFill>
                <a:latin typeface="Roboto Slab" pitchFamily="34" charset="0"/>
                <a:ea typeface="Roboto Slab" pitchFamily="34" charset="-122"/>
                <a:cs typeface="Roboto Slab" pitchFamily="34" charset="-120"/>
              </a:rPr>
              <a:t>$$$</a:t>
            </a:r>
            <a:endParaRPr lang="en-US" sz="2800"/>
          </a:p>
        </p:txBody>
      </p:sp>
      <p:sp>
        <p:nvSpPr>
          <p:cNvPr id="36" name="Text 34"/>
          <p:cNvSpPr/>
          <p:nvPr/>
        </p:nvSpPr>
        <p:spPr>
          <a:xfrm>
            <a:off x="8119872" y="4434840"/>
            <a:ext cx="1641348" cy="777240"/>
          </a:xfrm>
          <a:prstGeom prst="rect">
            <a:avLst/>
          </a:prstGeom>
          <a:noFill/>
          <a:ln/>
        </p:spPr>
        <p:txBody>
          <a:bodyPr wrap="square" lIns="0" tIns="0" rIns="0" bIns="0" rtlCol="0" anchor="ctr"/>
          <a:lstStyle/>
          <a:p>
            <a:pPr marL="0" indent="0" algn="ctr">
              <a:lnSpc>
                <a:spcPct val="115000"/>
              </a:lnSpc>
              <a:buNone/>
            </a:pPr>
            <a:r>
              <a:rPr lang="en-US" sz="1200">
                <a:solidFill>
                  <a:srgbClr val="FFFFFF"/>
                </a:solidFill>
                <a:latin typeface="Roboto" pitchFamily="34" charset="0"/>
                <a:ea typeface="Roboto" pitchFamily="34" charset="-122"/>
                <a:cs typeface="Roboto" pitchFamily="34" charset="-120"/>
              </a:rPr>
              <a:t>Residential / Day</a:t>
            </a:r>
            <a:endParaRPr lang="en-US" sz="1200"/>
          </a:p>
          <a:p>
            <a:pPr marL="0" indent="0" algn="ctr">
              <a:lnSpc>
                <a:spcPct val="115000"/>
              </a:lnSpc>
              <a:buNone/>
            </a:pPr>
            <a:r>
              <a:rPr lang="en-US" sz="1200">
                <a:solidFill>
                  <a:srgbClr val="FFFFFF"/>
                </a:solidFill>
                <a:latin typeface="Roboto" pitchFamily="34" charset="0"/>
                <a:ea typeface="Roboto" pitchFamily="34" charset="-122"/>
                <a:cs typeface="Roboto" pitchFamily="34" charset="-120"/>
              </a:rPr>
              <a:t>Treatment</a:t>
            </a:r>
            <a:endParaRPr lang="en-US" sz="1200"/>
          </a:p>
        </p:txBody>
      </p:sp>
      <p:sp>
        <p:nvSpPr>
          <p:cNvPr id="37" name="Shape 35"/>
          <p:cNvSpPr/>
          <p:nvPr/>
        </p:nvSpPr>
        <p:spPr>
          <a:xfrm>
            <a:off x="9944100" y="3383280"/>
            <a:ext cx="1787652" cy="2423160"/>
          </a:xfrm>
          <a:prstGeom prst="roundRect">
            <a:avLst>
              <a:gd name="adj" fmla="val 3069"/>
            </a:avLst>
          </a:prstGeom>
          <a:solidFill>
            <a:srgbClr val="59468D"/>
          </a:solidFill>
          <a:ln/>
        </p:spPr>
        <p:txBody>
          <a:bodyPr/>
          <a:lstStyle/>
          <a:p>
            <a:endParaRPr lang="en-US"/>
          </a:p>
        </p:txBody>
      </p:sp>
      <p:sp>
        <p:nvSpPr>
          <p:cNvPr id="38" name="Text 36"/>
          <p:cNvSpPr/>
          <p:nvPr/>
        </p:nvSpPr>
        <p:spPr>
          <a:xfrm>
            <a:off x="10035540" y="3712464"/>
            <a:ext cx="1604772" cy="548640"/>
          </a:xfrm>
          <a:prstGeom prst="rect">
            <a:avLst/>
          </a:prstGeom>
          <a:noFill/>
          <a:ln/>
        </p:spPr>
        <p:txBody>
          <a:bodyPr wrap="square" lIns="0" tIns="0" rIns="0" bIns="0" rtlCol="0" anchor="ctr"/>
          <a:lstStyle/>
          <a:p>
            <a:pPr marL="0" indent="0" algn="ctr">
              <a:buNone/>
            </a:pPr>
            <a:r>
              <a:rPr lang="en-US" sz="2800" b="1">
                <a:solidFill>
                  <a:srgbClr val="FFFFFF"/>
                </a:solidFill>
                <a:latin typeface="Roboto Slab" pitchFamily="34" charset="0"/>
                <a:ea typeface="Roboto Slab" pitchFamily="34" charset="-122"/>
                <a:cs typeface="Roboto Slab" pitchFamily="34" charset="-120"/>
              </a:rPr>
              <a:t>$$$$</a:t>
            </a:r>
            <a:endParaRPr lang="en-US" sz="2800"/>
          </a:p>
        </p:txBody>
      </p:sp>
      <p:sp>
        <p:nvSpPr>
          <p:cNvPr id="39" name="Text 37"/>
          <p:cNvSpPr/>
          <p:nvPr/>
        </p:nvSpPr>
        <p:spPr>
          <a:xfrm>
            <a:off x="10017252" y="4434840"/>
            <a:ext cx="1641348" cy="777240"/>
          </a:xfrm>
          <a:prstGeom prst="rect">
            <a:avLst/>
          </a:prstGeom>
          <a:noFill/>
          <a:ln/>
        </p:spPr>
        <p:txBody>
          <a:bodyPr wrap="square" lIns="0" tIns="0" rIns="0" bIns="0" rtlCol="0" anchor="ctr"/>
          <a:lstStyle/>
          <a:p>
            <a:pPr marL="0" indent="0" algn="ctr">
              <a:lnSpc>
                <a:spcPct val="115000"/>
              </a:lnSpc>
              <a:buNone/>
            </a:pPr>
            <a:r>
              <a:rPr lang="en-US" sz="1200">
                <a:solidFill>
                  <a:srgbClr val="FFFFFF"/>
                </a:solidFill>
                <a:latin typeface="Roboto" pitchFamily="34" charset="0"/>
                <a:ea typeface="Roboto" pitchFamily="34" charset="-122"/>
                <a:cs typeface="Roboto" pitchFamily="34" charset="-120"/>
              </a:rPr>
              <a:t>Detox &amp; Inpatient</a:t>
            </a:r>
            <a:endParaRPr lang="en-US" sz="1200"/>
          </a:p>
          <a:p>
            <a:pPr marL="0" indent="0" algn="ctr">
              <a:lnSpc>
                <a:spcPct val="115000"/>
              </a:lnSpc>
              <a:buNone/>
            </a:pPr>
            <a:r>
              <a:rPr lang="en-US" sz="1200">
                <a:solidFill>
                  <a:srgbClr val="FFFFFF"/>
                </a:solidFill>
                <a:latin typeface="Roboto" pitchFamily="34" charset="0"/>
                <a:ea typeface="Roboto" pitchFamily="34" charset="-122"/>
                <a:cs typeface="Roboto" pitchFamily="34" charset="-120"/>
              </a:rPr>
              <a:t>Stabilization</a:t>
            </a:r>
            <a:endParaRPr lang="en-US" sz="1200"/>
          </a:p>
        </p:txBody>
      </p:sp>
      <p:sp>
        <p:nvSpPr>
          <p:cNvPr id="40" name="Text 38"/>
          <p:cNvSpPr/>
          <p:nvPr/>
        </p:nvSpPr>
        <p:spPr>
          <a:xfrm>
            <a:off x="457200" y="6601968"/>
            <a:ext cx="5486400" cy="182880"/>
          </a:xfrm>
          <a:prstGeom prst="rect">
            <a:avLst/>
          </a:prstGeom>
          <a:noFill/>
          <a:ln/>
        </p:spPr>
        <p:txBody>
          <a:bodyPr wrap="square" lIns="0" tIns="0" rIns="0" bIns="0" rtlCol="0" anchor="ctr"/>
          <a:lstStyle/>
          <a:p>
            <a:pPr marL="0" indent="0">
              <a:buNone/>
            </a:pPr>
            <a:r>
              <a:rPr lang="en-US" sz="850">
                <a:solidFill>
                  <a:srgbClr val="6B6B76"/>
                </a:solidFill>
                <a:latin typeface="Roboto" pitchFamily="34" charset="0"/>
                <a:ea typeface="Roboto" pitchFamily="34" charset="-122"/>
                <a:cs typeface="Roboto" pitchFamily="34" charset="-120"/>
              </a:rPr>
              <a:t>©2026 Sobrynth  ·  Choosing to be sober today.</a:t>
            </a:r>
            <a:endParaRPr lang="en-US" sz="850"/>
          </a:p>
        </p:txBody>
      </p:sp>
      <p:sp>
        <p:nvSpPr>
          <p:cNvPr id="42" name="Text 0">
            <a:extLst>
              <a:ext uri="{FF2B5EF4-FFF2-40B4-BE49-F238E27FC236}">
                <a16:creationId xmlns:a16="http://schemas.microsoft.com/office/drawing/2014/main" id="{B2196287-AD57-F287-6EC2-6E6F6D55E9FB}"/>
              </a:ext>
            </a:extLst>
          </p:cNvPr>
          <p:cNvSpPr/>
          <p:nvPr/>
        </p:nvSpPr>
        <p:spPr>
          <a:xfrm>
            <a:off x="939591" y="558768"/>
            <a:ext cx="1097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570">
              <a:lnSpc>
                <a:spcPct val="139765"/>
              </a:lnSpc>
            </a:pPr>
            <a:r>
              <a:rPr lang="en-US" b="1" kern="0" spc="168">
                <a:solidFill>
                  <a:srgbClr val="FFAD5B"/>
                </a:solidFill>
                <a:latin typeface="Aptos" panose="02110004020202020204"/>
                <a:ea typeface="Roboto"/>
                <a:cs typeface="Roboto"/>
              </a:rPr>
              <a:t>THE SOBRYNTH DIFFERENCE</a:t>
            </a:r>
            <a:endParaRPr lang="en-US"/>
          </a:p>
        </p:txBody>
      </p:sp>
      <p:pic>
        <p:nvPicPr>
          <p:cNvPr id="44" name="Labyrinth Icon" descr="A black maze on an orange background&#10;&#10;AI-generated content may be incorrect.">
            <a:extLst>
              <a:ext uri="{FF2B5EF4-FFF2-40B4-BE49-F238E27FC236}">
                <a16:creationId xmlns:a16="http://schemas.microsoft.com/office/drawing/2014/main" id="{CF33E552-6C51-2C9A-80A2-231926E88503}"/>
              </a:ext>
            </a:extLst>
          </p:cNvPr>
          <p:cNvPicPr>
            <a:picLocks noChangeAspect="1"/>
          </p:cNvPicPr>
          <p:nvPr/>
        </p:nvPicPr>
        <p:blipFill>
          <a:blip r:embed="rId3"/>
          <a:stretch>
            <a:fillRect/>
          </a:stretch>
        </p:blipFill>
        <p:spPr>
          <a:xfrm>
            <a:off x="609590" y="597200"/>
            <a:ext cx="220000" cy="200000"/>
          </a:xfrm>
          <a:prstGeom prst="rect">
            <a:avLst/>
          </a:prstGeom>
        </p:spPr>
      </p:pic>
    </p:spTree>
    <p:extLst>
      <p:ext uri="{BB962C8B-B14F-4D97-AF65-F5344CB8AC3E}">
        <p14:creationId xmlns:p14="http://schemas.microsoft.com/office/powerpoint/2010/main" val="1753096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502920" y="6492240"/>
            <a:ext cx="5486400" cy="274320"/>
          </a:xfrm>
          <a:prstGeom prst="rect">
            <a:avLst/>
          </a:prstGeom>
          <a:noFill/>
          <a:ln/>
        </p:spPr>
        <p:txBody>
          <a:bodyPr wrap="square" rtlCol="0" anchor="ctr"/>
          <a:lstStyle/>
          <a:p>
            <a:r>
              <a:rPr lang="en-US" sz="900">
                <a:solidFill>
                  <a:srgbClr val="6B6B6B"/>
                </a:solidFill>
                <a:latin typeface="Calibri" pitchFamily="34" charset="0"/>
                <a:ea typeface="Calibri" pitchFamily="34" charset="-122"/>
                <a:cs typeface="Calibri" pitchFamily="34" charset="-120"/>
              </a:rPr>
              <a:t>©2026 Sobrynth  ·  Choosing to be sober today.</a:t>
            </a:r>
            <a:endParaRPr lang="en-US" sz="900"/>
          </a:p>
        </p:txBody>
      </p:sp>
      <p:sp>
        <p:nvSpPr>
          <p:cNvPr id="8" name="Shape 5"/>
          <p:cNvSpPr/>
          <p:nvPr/>
        </p:nvSpPr>
        <p:spPr>
          <a:xfrm>
            <a:off x="502920" y="859534"/>
            <a:ext cx="2724912" cy="4341116"/>
          </a:xfrm>
          <a:prstGeom prst="roundRect">
            <a:avLst>
              <a:gd name="adj" fmla="val 2685"/>
            </a:avLst>
          </a:prstGeom>
          <a:solidFill>
            <a:srgbClr val="59468D"/>
          </a:solidFill>
          <a:ln/>
        </p:spPr>
        <p:txBody>
          <a:bodyPr/>
          <a:lstStyle/>
          <a:p>
            <a:endParaRPr lang="en-US"/>
          </a:p>
        </p:txBody>
      </p:sp>
      <p:sp>
        <p:nvSpPr>
          <p:cNvPr id="12" name="Text 9"/>
          <p:cNvSpPr/>
          <p:nvPr/>
        </p:nvSpPr>
        <p:spPr>
          <a:xfrm>
            <a:off x="655701" y="3730563"/>
            <a:ext cx="2322576" cy="1188720"/>
          </a:xfrm>
          <a:prstGeom prst="rect">
            <a:avLst/>
          </a:prstGeom>
          <a:noFill/>
          <a:ln/>
        </p:spPr>
        <p:txBody>
          <a:bodyPr wrap="square" rtlCol="0" anchor="t"/>
          <a:lstStyle/>
          <a:p>
            <a:pPr marL="190510" indent="-190510">
              <a:lnSpc>
                <a:spcPts val="1300"/>
              </a:lnSpc>
              <a:buFont typeface="Arial" panose="020B0604020202020204" pitchFamily="34" charset="0"/>
              <a:buChar char="•"/>
            </a:pPr>
            <a:r>
              <a:rPr lang="en-US" sz="1200">
                <a:solidFill>
                  <a:srgbClr val="FFFFFF"/>
                </a:solidFill>
                <a:latin typeface="Calibri" pitchFamily="34" charset="0"/>
                <a:ea typeface="Calibri" pitchFamily="34" charset="-122"/>
                <a:cs typeface="Calibri" pitchFamily="34" charset="-120"/>
              </a:rPr>
              <a:t>Customized Communications</a:t>
            </a:r>
          </a:p>
          <a:p>
            <a:pPr marL="190510" indent="-190510">
              <a:lnSpc>
                <a:spcPts val="1300"/>
              </a:lnSpc>
              <a:buFont typeface="Arial" panose="020B0604020202020204" pitchFamily="34" charset="0"/>
              <a:buChar char="•"/>
            </a:pPr>
            <a:r>
              <a:rPr lang="en-US" sz="1200">
                <a:solidFill>
                  <a:srgbClr val="FFFFFF"/>
                </a:solidFill>
                <a:latin typeface="Calibri" pitchFamily="34" charset="0"/>
                <a:cs typeface="Calibri" pitchFamily="34" charset="-120"/>
              </a:rPr>
              <a:t>Training for People Leaders</a:t>
            </a:r>
          </a:p>
          <a:p>
            <a:pPr marL="190510" indent="-190510">
              <a:lnSpc>
                <a:spcPts val="1300"/>
              </a:lnSpc>
              <a:buFont typeface="Arial" panose="020B0604020202020204" pitchFamily="34" charset="0"/>
              <a:buChar char="•"/>
            </a:pPr>
            <a:r>
              <a:rPr lang="en-US" sz="1200">
                <a:solidFill>
                  <a:srgbClr val="FFFFFF"/>
                </a:solidFill>
                <a:latin typeface="Calibri" pitchFamily="34" charset="0"/>
                <a:cs typeface="Calibri" pitchFamily="34" charset="-120"/>
              </a:rPr>
              <a:t>Sober ERG Framework</a:t>
            </a:r>
          </a:p>
          <a:p>
            <a:pPr marL="190510" indent="-190510">
              <a:lnSpc>
                <a:spcPts val="1300"/>
              </a:lnSpc>
              <a:buFont typeface="Arial" panose="020B0604020202020204" pitchFamily="34" charset="0"/>
              <a:buChar char="•"/>
            </a:pPr>
            <a:r>
              <a:rPr lang="en-US" sz="1200">
                <a:solidFill>
                  <a:srgbClr val="FFFFFF"/>
                </a:solidFill>
                <a:latin typeface="Calibri" pitchFamily="34" charset="0"/>
                <a:cs typeface="Calibri" pitchFamily="34" charset="-120"/>
              </a:rPr>
              <a:t>Personalized Marketing</a:t>
            </a:r>
            <a:endParaRPr lang="en-US" sz="1200"/>
          </a:p>
        </p:txBody>
      </p:sp>
      <p:sp>
        <p:nvSpPr>
          <p:cNvPr id="13" name="Shape 10"/>
          <p:cNvSpPr/>
          <p:nvPr/>
        </p:nvSpPr>
        <p:spPr>
          <a:xfrm>
            <a:off x="3346704" y="864107"/>
            <a:ext cx="2724912" cy="4336543"/>
          </a:xfrm>
          <a:prstGeom prst="roundRect">
            <a:avLst>
              <a:gd name="adj" fmla="val 2685"/>
            </a:avLst>
          </a:prstGeom>
          <a:solidFill>
            <a:srgbClr val="028090"/>
          </a:solidFill>
          <a:ln/>
        </p:spPr>
        <p:txBody>
          <a:bodyPr/>
          <a:lstStyle/>
          <a:p>
            <a:endParaRPr lang="en-US"/>
          </a:p>
        </p:txBody>
      </p:sp>
      <p:sp>
        <p:nvSpPr>
          <p:cNvPr id="15" name="Text 12"/>
          <p:cNvSpPr/>
          <p:nvPr/>
        </p:nvSpPr>
        <p:spPr>
          <a:xfrm>
            <a:off x="3575304" y="2029968"/>
            <a:ext cx="457200" cy="457200"/>
          </a:xfrm>
          <a:prstGeom prst="rect">
            <a:avLst/>
          </a:prstGeom>
          <a:noFill/>
          <a:ln/>
        </p:spPr>
        <p:txBody>
          <a:bodyPr wrap="square" rtlCol="0" anchor="ctr"/>
          <a:lstStyle/>
          <a:p>
            <a:pPr algn="ctr"/>
            <a:r>
              <a:rPr lang="en-US" b="1">
                <a:solidFill>
                  <a:srgbClr val="028090"/>
                </a:solidFill>
                <a:latin typeface="Calibri" pitchFamily="34" charset="0"/>
                <a:ea typeface="Calibri" pitchFamily="34" charset="-122"/>
                <a:cs typeface="Calibri" pitchFamily="34" charset="-120"/>
              </a:rPr>
              <a:t>2</a:t>
            </a:r>
            <a:endParaRPr lang="en-US"/>
          </a:p>
        </p:txBody>
      </p:sp>
      <p:sp>
        <p:nvSpPr>
          <p:cNvPr id="16" name="Text 13"/>
          <p:cNvSpPr/>
          <p:nvPr/>
        </p:nvSpPr>
        <p:spPr>
          <a:xfrm>
            <a:off x="3543300" y="955929"/>
            <a:ext cx="2322576" cy="731520"/>
          </a:xfrm>
          <a:prstGeom prst="rect">
            <a:avLst/>
          </a:prstGeom>
          <a:noFill/>
          <a:ln/>
        </p:spPr>
        <p:txBody>
          <a:bodyPr wrap="square" rtlCol="0" anchor="ctr"/>
          <a:lstStyle/>
          <a:p>
            <a:pPr algn="ctr">
              <a:lnSpc>
                <a:spcPts val="1600"/>
              </a:lnSpc>
            </a:pPr>
            <a:r>
              <a:rPr lang="en-US" sz="1600" b="1">
                <a:solidFill>
                  <a:srgbClr val="FFFFFF"/>
                </a:solidFill>
                <a:latin typeface="Roboto Slab" pitchFamily="2" charset="0"/>
                <a:ea typeface="Roboto Slab" pitchFamily="2" charset="0"/>
                <a:cs typeface="Roboto Slab" pitchFamily="2" charset="0"/>
              </a:rPr>
              <a:t>24/7 Care</a:t>
            </a:r>
            <a:endParaRPr lang="en-US" sz="1600">
              <a:latin typeface="Roboto Slab" pitchFamily="2" charset="0"/>
              <a:ea typeface="Roboto Slab" pitchFamily="2" charset="0"/>
              <a:cs typeface="Roboto Slab" pitchFamily="2" charset="0"/>
            </a:endParaRPr>
          </a:p>
          <a:p>
            <a:pPr algn="ctr">
              <a:lnSpc>
                <a:spcPts val="1600"/>
              </a:lnSpc>
            </a:pPr>
            <a:r>
              <a:rPr lang="en-US" sz="1600" b="1">
                <a:solidFill>
                  <a:srgbClr val="FFFFFF"/>
                </a:solidFill>
                <a:latin typeface="Roboto Slab" pitchFamily="2" charset="0"/>
                <a:ea typeface="Roboto Slab" pitchFamily="2" charset="0"/>
                <a:cs typeface="Roboto Slab" pitchFamily="2" charset="0"/>
              </a:rPr>
              <a:t>Navigation</a:t>
            </a:r>
            <a:endParaRPr lang="en-US" sz="1600">
              <a:latin typeface="Roboto Slab" pitchFamily="2" charset="0"/>
              <a:ea typeface="Roboto Slab" pitchFamily="2" charset="0"/>
              <a:cs typeface="Roboto Slab" pitchFamily="2" charset="0"/>
            </a:endParaRPr>
          </a:p>
        </p:txBody>
      </p:sp>
      <p:sp>
        <p:nvSpPr>
          <p:cNvPr id="17" name="Text 14"/>
          <p:cNvSpPr/>
          <p:nvPr/>
        </p:nvSpPr>
        <p:spPr>
          <a:xfrm>
            <a:off x="3543300" y="3730563"/>
            <a:ext cx="2322576" cy="1188720"/>
          </a:xfrm>
          <a:prstGeom prst="rect">
            <a:avLst/>
          </a:prstGeom>
          <a:noFill/>
          <a:ln/>
        </p:spPr>
        <p:txBody>
          <a:bodyPr wrap="square" rtlCol="0" anchor="t"/>
          <a:lstStyle/>
          <a:p>
            <a:pPr marL="190510" indent="-190510">
              <a:lnSpc>
                <a:spcPts val="1300"/>
              </a:lnSpc>
              <a:buFont typeface="Arial" panose="020B0604020202020204" pitchFamily="34" charset="0"/>
              <a:buChar char="•"/>
            </a:pPr>
            <a:r>
              <a:rPr lang="en-US" sz="1200">
                <a:solidFill>
                  <a:srgbClr val="FFFFFF"/>
                </a:solidFill>
                <a:latin typeface="Calibri" pitchFamily="34" charset="0"/>
                <a:ea typeface="Calibri" pitchFamily="34" charset="-122"/>
                <a:cs typeface="Calibri" pitchFamily="34" charset="-120"/>
              </a:rPr>
              <a:t>Dedicated line and unique code for each operating company</a:t>
            </a:r>
          </a:p>
          <a:p>
            <a:pPr marL="190510" indent="-190510">
              <a:lnSpc>
                <a:spcPts val="1300"/>
              </a:lnSpc>
              <a:buFont typeface="Arial" panose="020B0604020202020204" pitchFamily="34" charset="0"/>
              <a:buChar char="•"/>
            </a:pPr>
            <a:r>
              <a:rPr lang="en-US" sz="1200">
                <a:solidFill>
                  <a:srgbClr val="FFFFFF"/>
                </a:solidFill>
                <a:latin typeface="Calibri" pitchFamily="34" charset="0"/>
                <a:ea typeface="Calibri" pitchFamily="34" charset="-122"/>
                <a:cs typeface="Calibri" pitchFamily="34" charset="-120"/>
              </a:rPr>
              <a:t>Concierge support</a:t>
            </a:r>
          </a:p>
          <a:p>
            <a:pPr marL="190510" indent="-190510">
              <a:lnSpc>
                <a:spcPts val="1300"/>
              </a:lnSpc>
              <a:buFont typeface="Arial" panose="020B0604020202020204" pitchFamily="34" charset="0"/>
              <a:buChar char="•"/>
            </a:pPr>
            <a:r>
              <a:rPr lang="en-US" sz="1200">
                <a:solidFill>
                  <a:srgbClr val="FFFFFF"/>
                </a:solidFill>
                <a:latin typeface="Calibri" pitchFamily="34" charset="0"/>
                <a:ea typeface="Calibri" pitchFamily="34" charset="-122"/>
                <a:cs typeface="Calibri" pitchFamily="34" charset="-120"/>
              </a:rPr>
              <a:t>Free + community resources through to clinical care</a:t>
            </a:r>
          </a:p>
          <a:p>
            <a:pPr marL="190510" indent="-190510">
              <a:lnSpc>
                <a:spcPts val="1300"/>
              </a:lnSpc>
              <a:buFont typeface="Arial" panose="020B0604020202020204" pitchFamily="34" charset="0"/>
              <a:buChar char="•"/>
            </a:pPr>
            <a:r>
              <a:rPr lang="en-US" sz="1200">
                <a:solidFill>
                  <a:srgbClr val="FFFFFF"/>
                </a:solidFill>
                <a:latin typeface="Calibri" pitchFamily="34" charset="0"/>
                <a:ea typeface="Calibri" pitchFamily="34" charset="-122"/>
                <a:cs typeface="Calibri" pitchFamily="34" charset="-120"/>
              </a:rPr>
              <a:t>Employees + families</a:t>
            </a:r>
          </a:p>
        </p:txBody>
      </p:sp>
      <p:sp>
        <p:nvSpPr>
          <p:cNvPr id="18" name="Shape 15"/>
          <p:cNvSpPr/>
          <p:nvPr/>
        </p:nvSpPr>
        <p:spPr>
          <a:xfrm>
            <a:off x="6190488" y="859534"/>
            <a:ext cx="2724912" cy="4336543"/>
          </a:xfrm>
          <a:prstGeom prst="roundRect">
            <a:avLst>
              <a:gd name="adj" fmla="val 2685"/>
            </a:avLst>
          </a:prstGeom>
          <a:solidFill>
            <a:srgbClr val="59468D"/>
          </a:solidFill>
          <a:ln/>
        </p:spPr>
        <p:txBody>
          <a:bodyPr/>
          <a:lstStyle/>
          <a:p>
            <a:endParaRPr lang="en-US"/>
          </a:p>
        </p:txBody>
      </p:sp>
      <p:sp>
        <p:nvSpPr>
          <p:cNvPr id="20" name="Text 17"/>
          <p:cNvSpPr/>
          <p:nvPr/>
        </p:nvSpPr>
        <p:spPr>
          <a:xfrm>
            <a:off x="6446520" y="2029968"/>
            <a:ext cx="457200" cy="457200"/>
          </a:xfrm>
          <a:prstGeom prst="rect">
            <a:avLst/>
          </a:prstGeom>
          <a:noFill/>
          <a:ln/>
        </p:spPr>
        <p:txBody>
          <a:bodyPr wrap="square" rtlCol="0" anchor="ctr"/>
          <a:lstStyle/>
          <a:p>
            <a:pPr algn="ctr"/>
            <a:r>
              <a:rPr lang="en-US" b="1">
                <a:solidFill>
                  <a:srgbClr val="59468D"/>
                </a:solidFill>
                <a:latin typeface="Calibri" pitchFamily="34" charset="0"/>
                <a:ea typeface="Calibri" pitchFamily="34" charset="-122"/>
                <a:cs typeface="Calibri" pitchFamily="34" charset="-120"/>
              </a:rPr>
              <a:t>3</a:t>
            </a:r>
            <a:endParaRPr lang="en-US"/>
          </a:p>
        </p:txBody>
      </p:sp>
      <p:sp>
        <p:nvSpPr>
          <p:cNvPr id="21" name="Text 18"/>
          <p:cNvSpPr/>
          <p:nvPr/>
        </p:nvSpPr>
        <p:spPr>
          <a:xfrm>
            <a:off x="6387084" y="940689"/>
            <a:ext cx="2322576" cy="731520"/>
          </a:xfrm>
          <a:prstGeom prst="rect">
            <a:avLst/>
          </a:prstGeom>
          <a:noFill/>
          <a:ln/>
        </p:spPr>
        <p:txBody>
          <a:bodyPr wrap="square" rtlCol="0" anchor="ctr"/>
          <a:lstStyle/>
          <a:p>
            <a:pPr algn="ctr">
              <a:lnSpc>
                <a:spcPts val="1600"/>
              </a:lnSpc>
            </a:pPr>
            <a:r>
              <a:rPr lang="en-US" sz="1600" b="1">
                <a:solidFill>
                  <a:srgbClr val="FFFFFF"/>
                </a:solidFill>
                <a:latin typeface="Roboto Slab" pitchFamily="2" charset="0"/>
                <a:ea typeface="Roboto Slab" pitchFamily="2" charset="0"/>
                <a:cs typeface="Roboto Slab" pitchFamily="2" charset="0"/>
              </a:rPr>
              <a:t>Unlimited Peer Coaching</a:t>
            </a:r>
            <a:endParaRPr lang="en-US" sz="1600">
              <a:latin typeface="Roboto Slab" pitchFamily="2" charset="0"/>
              <a:ea typeface="Roboto Slab" pitchFamily="2" charset="0"/>
              <a:cs typeface="Roboto Slab" pitchFamily="2" charset="0"/>
            </a:endParaRPr>
          </a:p>
        </p:txBody>
      </p:sp>
      <p:sp>
        <p:nvSpPr>
          <p:cNvPr id="22" name="Text 19"/>
          <p:cNvSpPr/>
          <p:nvPr/>
        </p:nvSpPr>
        <p:spPr>
          <a:xfrm>
            <a:off x="6387084" y="3730563"/>
            <a:ext cx="2322576" cy="1188720"/>
          </a:xfrm>
          <a:prstGeom prst="rect">
            <a:avLst/>
          </a:prstGeom>
          <a:noFill/>
          <a:ln/>
        </p:spPr>
        <p:txBody>
          <a:bodyPr wrap="square" rtlCol="0" anchor="t"/>
          <a:lstStyle/>
          <a:p>
            <a:pPr marL="190510" indent="-190510">
              <a:lnSpc>
                <a:spcPts val="1300"/>
              </a:lnSpc>
              <a:buFont typeface="Arial" panose="020B0604020202020204" pitchFamily="34" charset="0"/>
              <a:buChar char="•"/>
            </a:pPr>
            <a:r>
              <a:rPr lang="en-US" sz="1200">
                <a:solidFill>
                  <a:srgbClr val="FFFFFF"/>
                </a:solidFill>
                <a:latin typeface="Calibri" pitchFamily="34" charset="0"/>
                <a:ea typeface="Calibri" pitchFamily="34" charset="-122"/>
                <a:cs typeface="Calibri" pitchFamily="34" charset="-120"/>
              </a:rPr>
              <a:t>Certified Peer Recovery Coaches with lived experience. </a:t>
            </a:r>
          </a:p>
          <a:p>
            <a:pPr marL="190510" indent="-190510">
              <a:lnSpc>
                <a:spcPts val="1300"/>
              </a:lnSpc>
              <a:buFont typeface="Arial" panose="020B0604020202020204" pitchFamily="34" charset="0"/>
              <a:buChar char="•"/>
            </a:pPr>
            <a:r>
              <a:rPr lang="en-US" sz="1200">
                <a:solidFill>
                  <a:srgbClr val="FFFFFF"/>
                </a:solidFill>
                <a:latin typeface="Calibri" pitchFamily="34" charset="0"/>
                <a:ea typeface="Calibri" pitchFamily="34" charset="-122"/>
                <a:cs typeface="Calibri" pitchFamily="34" charset="-120"/>
              </a:rPr>
              <a:t>Every acuity level</a:t>
            </a:r>
          </a:p>
          <a:p>
            <a:pPr marL="190510" indent="-190510">
              <a:lnSpc>
                <a:spcPts val="1300"/>
              </a:lnSpc>
              <a:buFont typeface="Arial" panose="020B0604020202020204" pitchFamily="34" charset="0"/>
              <a:buChar char="•"/>
            </a:pPr>
            <a:r>
              <a:rPr lang="en-US" sz="1200">
                <a:solidFill>
                  <a:srgbClr val="FFFFFF"/>
                </a:solidFill>
                <a:latin typeface="Calibri" pitchFamily="34" charset="0"/>
                <a:ea typeface="Calibri" pitchFamily="34" charset="-122"/>
                <a:cs typeface="Calibri" pitchFamily="34" charset="-120"/>
              </a:rPr>
              <a:t>Uncapped sessions </a:t>
            </a:r>
          </a:p>
          <a:p>
            <a:pPr marL="190510" indent="-190510">
              <a:lnSpc>
                <a:spcPts val="1300"/>
              </a:lnSpc>
              <a:buFont typeface="Arial" panose="020B0604020202020204" pitchFamily="34" charset="0"/>
              <a:buChar char="•"/>
            </a:pPr>
            <a:r>
              <a:rPr lang="en-US" sz="1200">
                <a:solidFill>
                  <a:srgbClr val="FFFFFF"/>
                </a:solidFill>
                <a:latin typeface="Calibri" pitchFamily="34" charset="0"/>
                <a:ea typeface="Calibri" pitchFamily="34" charset="-122"/>
                <a:cs typeface="Calibri" pitchFamily="34" charset="-120"/>
              </a:rPr>
              <a:t>Sobriety is personal, so is plan</a:t>
            </a:r>
            <a:endParaRPr lang="en-US" sz="1200"/>
          </a:p>
        </p:txBody>
      </p:sp>
      <p:sp>
        <p:nvSpPr>
          <p:cNvPr id="23" name="Shape 20"/>
          <p:cNvSpPr/>
          <p:nvPr/>
        </p:nvSpPr>
        <p:spPr>
          <a:xfrm>
            <a:off x="9153144" y="849251"/>
            <a:ext cx="2724912" cy="4382640"/>
          </a:xfrm>
          <a:prstGeom prst="roundRect">
            <a:avLst>
              <a:gd name="adj" fmla="val 2685"/>
            </a:avLst>
          </a:prstGeom>
          <a:solidFill>
            <a:srgbClr val="028090"/>
          </a:solidFill>
          <a:ln/>
        </p:spPr>
        <p:txBody>
          <a:bodyPr/>
          <a:lstStyle/>
          <a:p>
            <a:endParaRPr lang="en-US"/>
          </a:p>
        </p:txBody>
      </p:sp>
      <p:sp>
        <p:nvSpPr>
          <p:cNvPr id="25" name="Text 22"/>
          <p:cNvSpPr/>
          <p:nvPr/>
        </p:nvSpPr>
        <p:spPr>
          <a:xfrm>
            <a:off x="9317736" y="2029968"/>
            <a:ext cx="457200" cy="457200"/>
          </a:xfrm>
          <a:prstGeom prst="rect">
            <a:avLst/>
          </a:prstGeom>
          <a:noFill/>
          <a:ln/>
        </p:spPr>
        <p:txBody>
          <a:bodyPr wrap="square" rtlCol="0" anchor="ctr"/>
          <a:lstStyle/>
          <a:p>
            <a:pPr algn="ctr"/>
            <a:r>
              <a:rPr lang="en-US" b="1">
                <a:solidFill>
                  <a:srgbClr val="028090"/>
                </a:solidFill>
                <a:latin typeface="Calibri" pitchFamily="34" charset="0"/>
                <a:ea typeface="Calibri" pitchFamily="34" charset="-122"/>
                <a:cs typeface="Calibri" pitchFamily="34" charset="-120"/>
              </a:rPr>
              <a:t>4</a:t>
            </a:r>
            <a:endParaRPr lang="en-US"/>
          </a:p>
        </p:txBody>
      </p:sp>
      <p:sp>
        <p:nvSpPr>
          <p:cNvPr id="26" name="Text 23"/>
          <p:cNvSpPr/>
          <p:nvPr/>
        </p:nvSpPr>
        <p:spPr>
          <a:xfrm>
            <a:off x="9283827" y="849250"/>
            <a:ext cx="2322576" cy="731520"/>
          </a:xfrm>
          <a:prstGeom prst="rect">
            <a:avLst/>
          </a:prstGeom>
          <a:noFill/>
          <a:ln/>
        </p:spPr>
        <p:txBody>
          <a:bodyPr wrap="square" rtlCol="0" anchor="ctr"/>
          <a:lstStyle/>
          <a:p>
            <a:pPr algn="ctr">
              <a:lnSpc>
                <a:spcPts val="1600"/>
              </a:lnSpc>
            </a:pPr>
            <a:r>
              <a:rPr lang="en-US" sz="1600" b="1" err="1">
                <a:solidFill>
                  <a:srgbClr val="FFFFFF"/>
                </a:solidFill>
                <a:latin typeface="Roboto Slab" pitchFamily="2" charset="0"/>
                <a:ea typeface="Roboto Slab" pitchFamily="2" charset="0"/>
                <a:cs typeface="Roboto Slab" pitchFamily="2" charset="0"/>
              </a:rPr>
              <a:t>SOBRPath</a:t>
            </a:r>
            <a:r>
              <a:rPr lang="en-US" sz="1600" b="1">
                <a:solidFill>
                  <a:srgbClr val="FFFFFF"/>
                </a:solidFill>
                <a:latin typeface="Roboto Slab" pitchFamily="2" charset="0"/>
                <a:ea typeface="Roboto Slab" pitchFamily="2" charset="0"/>
                <a:cs typeface="Roboto Slab" pitchFamily="2" charset="0"/>
              </a:rPr>
              <a:t>™</a:t>
            </a:r>
            <a:r>
              <a:rPr lang="en-US" sz="1600">
                <a:latin typeface="Roboto Slab" pitchFamily="2" charset="0"/>
                <a:ea typeface="Roboto Slab" pitchFamily="2" charset="0"/>
                <a:cs typeface="Roboto Slab" pitchFamily="2" charset="0"/>
              </a:rPr>
              <a:t> </a:t>
            </a:r>
            <a:r>
              <a:rPr lang="en-US" sz="1600" b="1">
                <a:solidFill>
                  <a:srgbClr val="FFFFFF"/>
                </a:solidFill>
                <a:latin typeface="Roboto Slab" pitchFamily="2" charset="0"/>
                <a:ea typeface="Roboto Slab" pitchFamily="2" charset="0"/>
                <a:cs typeface="Roboto Slab" pitchFamily="2" charset="0"/>
              </a:rPr>
              <a:t>Platform</a:t>
            </a:r>
            <a:endParaRPr lang="en-US" sz="1600">
              <a:latin typeface="Roboto Slab" pitchFamily="2" charset="0"/>
              <a:ea typeface="Roboto Slab" pitchFamily="2" charset="0"/>
              <a:cs typeface="Roboto Slab" pitchFamily="2" charset="0"/>
            </a:endParaRPr>
          </a:p>
        </p:txBody>
      </p:sp>
      <p:sp>
        <p:nvSpPr>
          <p:cNvPr id="27" name="Text 24"/>
          <p:cNvSpPr/>
          <p:nvPr/>
        </p:nvSpPr>
        <p:spPr>
          <a:xfrm>
            <a:off x="9366504" y="3739369"/>
            <a:ext cx="2322576" cy="1188720"/>
          </a:xfrm>
          <a:prstGeom prst="rect">
            <a:avLst/>
          </a:prstGeom>
          <a:noFill/>
          <a:ln/>
        </p:spPr>
        <p:txBody>
          <a:bodyPr wrap="square" rtlCol="0" anchor="t"/>
          <a:lstStyle/>
          <a:p>
            <a:pPr marL="190510" indent="-190510">
              <a:lnSpc>
                <a:spcPts val="1300"/>
              </a:lnSpc>
              <a:buFont typeface="Arial" panose="020B0604020202020204" pitchFamily="34" charset="0"/>
              <a:buChar char="•"/>
            </a:pPr>
            <a:r>
              <a:rPr lang="en-US" sz="1200">
                <a:solidFill>
                  <a:srgbClr val="FFFFFF"/>
                </a:solidFill>
                <a:latin typeface="Calibri" pitchFamily="34" charset="0"/>
                <a:ea typeface="Calibri" pitchFamily="34" charset="-122"/>
                <a:cs typeface="Calibri" pitchFamily="34" charset="-120"/>
              </a:rPr>
              <a:t>Confidential, self-service platform</a:t>
            </a:r>
          </a:p>
          <a:p>
            <a:pPr marL="190510" indent="-190510">
              <a:lnSpc>
                <a:spcPts val="1300"/>
              </a:lnSpc>
              <a:buFont typeface="Arial" panose="020B0604020202020204" pitchFamily="34" charset="0"/>
              <a:buChar char="•"/>
            </a:pPr>
            <a:r>
              <a:rPr lang="en-US" sz="1200">
                <a:solidFill>
                  <a:srgbClr val="FFFFFF"/>
                </a:solidFill>
                <a:latin typeface="Calibri" pitchFamily="34" charset="0"/>
                <a:ea typeface="Calibri" pitchFamily="34" charset="-122"/>
                <a:cs typeface="Calibri" pitchFamily="34" charset="-120"/>
              </a:rPr>
              <a:t>Browse coaches + book time</a:t>
            </a:r>
          </a:p>
          <a:p>
            <a:pPr marL="190510" indent="-190510">
              <a:lnSpc>
                <a:spcPts val="1300"/>
              </a:lnSpc>
              <a:buFont typeface="Arial" panose="020B0604020202020204" pitchFamily="34" charset="0"/>
              <a:buChar char="•"/>
            </a:pPr>
            <a:r>
              <a:rPr lang="en-US" sz="1200">
                <a:solidFill>
                  <a:srgbClr val="FFFFFF"/>
                </a:solidFill>
                <a:latin typeface="Calibri" pitchFamily="34" charset="0"/>
                <a:ea typeface="Calibri" pitchFamily="34" charset="-122"/>
                <a:cs typeface="Calibri" pitchFamily="34" charset="-120"/>
              </a:rPr>
              <a:t>Track sober days, find resources, and more</a:t>
            </a:r>
          </a:p>
          <a:p>
            <a:pPr marL="190510" indent="-190510">
              <a:lnSpc>
                <a:spcPts val="1300"/>
              </a:lnSpc>
              <a:buFont typeface="Arial" panose="020B0604020202020204" pitchFamily="34" charset="0"/>
              <a:buChar char="•"/>
            </a:pPr>
            <a:r>
              <a:rPr lang="en-US" sz="1200">
                <a:solidFill>
                  <a:srgbClr val="FFFFFF"/>
                </a:solidFill>
                <a:latin typeface="Calibri" pitchFamily="34" charset="0"/>
                <a:ea typeface="Calibri" pitchFamily="34" charset="-122"/>
                <a:cs typeface="Calibri" pitchFamily="34" charset="-120"/>
              </a:rPr>
              <a:t>2025 Stevie Award winner</a:t>
            </a:r>
            <a:endParaRPr lang="en-US" sz="1200"/>
          </a:p>
        </p:txBody>
      </p:sp>
      <p:sp>
        <p:nvSpPr>
          <p:cNvPr id="31" name="Text 28"/>
          <p:cNvSpPr/>
          <p:nvPr/>
        </p:nvSpPr>
        <p:spPr>
          <a:xfrm>
            <a:off x="1" y="5662327"/>
            <a:ext cx="12042475" cy="320040"/>
          </a:xfrm>
          <a:prstGeom prst="rect">
            <a:avLst/>
          </a:prstGeom>
          <a:noFill/>
          <a:ln/>
        </p:spPr>
        <p:txBody>
          <a:bodyPr wrap="square" rtlCol="0" anchor="ctr"/>
          <a:lstStyle/>
          <a:p>
            <a:pPr algn="ctr"/>
            <a:r>
              <a:rPr lang="en-US" sz="2800" b="1">
                <a:solidFill>
                  <a:srgbClr val="59468D"/>
                </a:solidFill>
                <a:latin typeface="Roboto Slab" pitchFamily="2" charset="0"/>
                <a:ea typeface="Roboto Slab" pitchFamily="2" charset="0"/>
                <a:cs typeface="Roboto Slab" pitchFamily="2" charset="0"/>
              </a:rPr>
              <a:t>Early intervention. Education at scale. Anonymous + uncapped.</a:t>
            </a:r>
          </a:p>
        </p:txBody>
      </p:sp>
      <p:sp>
        <p:nvSpPr>
          <p:cNvPr id="6" name="Text 8">
            <a:extLst>
              <a:ext uri="{FF2B5EF4-FFF2-40B4-BE49-F238E27FC236}">
                <a16:creationId xmlns:a16="http://schemas.microsoft.com/office/drawing/2014/main" id="{BF19DFB9-EC1B-BD1F-3038-A85E0F4D54DF}"/>
              </a:ext>
            </a:extLst>
          </p:cNvPr>
          <p:cNvSpPr/>
          <p:nvPr/>
        </p:nvSpPr>
        <p:spPr>
          <a:xfrm>
            <a:off x="545211" y="916686"/>
            <a:ext cx="2609469" cy="731520"/>
          </a:xfrm>
          <a:prstGeom prst="rect">
            <a:avLst/>
          </a:prstGeom>
          <a:noFill/>
          <a:ln/>
        </p:spPr>
        <p:txBody>
          <a:bodyPr wrap="square" rtlCol="0" anchor="ctr"/>
          <a:lstStyle/>
          <a:p>
            <a:pPr algn="ctr">
              <a:lnSpc>
                <a:spcPts val="1600"/>
              </a:lnSpc>
            </a:pPr>
            <a:r>
              <a:rPr lang="en-US" sz="1600" b="1">
                <a:solidFill>
                  <a:srgbClr val="FFFFFF"/>
                </a:solidFill>
                <a:latin typeface="Roboto Slab" pitchFamily="2" charset="0"/>
                <a:ea typeface="Roboto Slab" pitchFamily="2" charset="0"/>
                <a:cs typeface="Roboto Slab" pitchFamily="2" charset="0"/>
              </a:rPr>
              <a:t>Recovery-Friendly</a:t>
            </a:r>
            <a:endParaRPr lang="en-US" sz="1600">
              <a:latin typeface="Roboto Slab" pitchFamily="2" charset="0"/>
              <a:ea typeface="Roboto Slab" pitchFamily="2" charset="0"/>
              <a:cs typeface="Roboto Slab" pitchFamily="2" charset="0"/>
            </a:endParaRPr>
          </a:p>
          <a:p>
            <a:pPr algn="ctr">
              <a:lnSpc>
                <a:spcPts val="1600"/>
              </a:lnSpc>
            </a:pPr>
            <a:r>
              <a:rPr lang="en-US" sz="1600" b="1">
                <a:solidFill>
                  <a:srgbClr val="FFFFFF"/>
                </a:solidFill>
                <a:latin typeface="Roboto Slab" pitchFamily="2" charset="0"/>
                <a:ea typeface="Roboto Slab" pitchFamily="2" charset="0"/>
                <a:cs typeface="Roboto Slab" pitchFamily="2" charset="0"/>
              </a:rPr>
              <a:t>Workplace Activation</a:t>
            </a:r>
            <a:endParaRPr lang="en-US" sz="1600">
              <a:latin typeface="Roboto Slab" pitchFamily="2" charset="0"/>
              <a:ea typeface="Roboto Slab" pitchFamily="2" charset="0"/>
              <a:cs typeface="Roboto Slab" pitchFamily="2" charset="0"/>
            </a:endParaRPr>
          </a:p>
        </p:txBody>
      </p:sp>
      <p:pic>
        <p:nvPicPr>
          <p:cNvPr id="32" name="Picture 31">
            <a:extLst>
              <a:ext uri="{FF2B5EF4-FFF2-40B4-BE49-F238E27FC236}">
                <a16:creationId xmlns:a16="http://schemas.microsoft.com/office/drawing/2014/main" id="{EDA6F992-E208-A465-C20D-00D207341C20}"/>
              </a:ext>
            </a:extLst>
          </p:cNvPr>
          <p:cNvPicPr>
            <a:picLocks noChangeAspect="1"/>
          </p:cNvPicPr>
          <p:nvPr/>
        </p:nvPicPr>
        <p:blipFill>
          <a:blip r:embed="rId3"/>
          <a:stretch>
            <a:fillRect/>
          </a:stretch>
        </p:blipFill>
        <p:spPr>
          <a:xfrm>
            <a:off x="820007" y="1984123"/>
            <a:ext cx="2059877" cy="1373251"/>
          </a:xfrm>
          <a:prstGeom prst="rect">
            <a:avLst/>
          </a:prstGeom>
        </p:spPr>
      </p:pic>
      <p:pic>
        <p:nvPicPr>
          <p:cNvPr id="33" name="Picture 32">
            <a:extLst>
              <a:ext uri="{FF2B5EF4-FFF2-40B4-BE49-F238E27FC236}">
                <a16:creationId xmlns:a16="http://schemas.microsoft.com/office/drawing/2014/main" id="{0922BB52-BDD6-3E73-480E-F449113B58DB}"/>
              </a:ext>
            </a:extLst>
          </p:cNvPr>
          <p:cNvPicPr>
            <a:picLocks noChangeAspect="1"/>
          </p:cNvPicPr>
          <p:nvPr/>
        </p:nvPicPr>
        <p:blipFill>
          <a:blip r:embed="rId4"/>
          <a:stretch>
            <a:fillRect/>
          </a:stretch>
        </p:blipFill>
        <p:spPr>
          <a:xfrm>
            <a:off x="3643884" y="1981578"/>
            <a:ext cx="2063694" cy="1375796"/>
          </a:xfrm>
          <a:prstGeom prst="rect">
            <a:avLst/>
          </a:prstGeom>
        </p:spPr>
      </p:pic>
      <p:pic>
        <p:nvPicPr>
          <p:cNvPr id="34" name="Picture 33">
            <a:extLst>
              <a:ext uri="{FF2B5EF4-FFF2-40B4-BE49-F238E27FC236}">
                <a16:creationId xmlns:a16="http://schemas.microsoft.com/office/drawing/2014/main" id="{B68E019B-7A57-570E-789F-57F34983B142}"/>
              </a:ext>
            </a:extLst>
          </p:cNvPr>
          <p:cNvPicPr>
            <a:picLocks noChangeAspect="1"/>
          </p:cNvPicPr>
          <p:nvPr/>
        </p:nvPicPr>
        <p:blipFill>
          <a:blip r:embed="rId5"/>
          <a:stretch>
            <a:fillRect/>
          </a:stretch>
        </p:blipFill>
        <p:spPr>
          <a:xfrm>
            <a:off x="9495945" y="1977352"/>
            <a:ext cx="2063694" cy="1377589"/>
          </a:xfrm>
          <a:prstGeom prst="rect">
            <a:avLst/>
          </a:prstGeom>
        </p:spPr>
      </p:pic>
      <p:pic>
        <p:nvPicPr>
          <p:cNvPr id="37" name="Picture 36">
            <a:extLst>
              <a:ext uri="{FF2B5EF4-FFF2-40B4-BE49-F238E27FC236}">
                <a16:creationId xmlns:a16="http://schemas.microsoft.com/office/drawing/2014/main" id="{19377A1B-9100-33BC-06BB-7956C9514E57}"/>
              </a:ext>
            </a:extLst>
          </p:cNvPr>
          <p:cNvPicPr>
            <a:picLocks noChangeAspect="1"/>
          </p:cNvPicPr>
          <p:nvPr/>
        </p:nvPicPr>
        <p:blipFill>
          <a:blip r:embed="rId6"/>
          <a:stretch>
            <a:fillRect/>
          </a:stretch>
        </p:blipFill>
        <p:spPr>
          <a:xfrm>
            <a:off x="6486139" y="1937383"/>
            <a:ext cx="2133610" cy="1422407"/>
          </a:xfrm>
          <a:prstGeom prst="rect">
            <a:avLst/>
          </a:prstGeom>
        </p:spPr>
      </p:pic>
      <p:sp>
        <p:nvSpPr>
          <p:cNvPr id="4" name="Text 0">
            <a:extLst>
              <a:ext uri="{FF2B5EF4-FFF2-40B4-BE49-F238E27FC236}">
                <a16:creationId xmlns:a16="http://schemas.microsoft.com/office/drawing/2014/main" id="{9C9E88D4-0928-C66A-10CC-6CF134F70BBB}"/>
              </a:ext>
            </a:extLst>
          </p:cNvPr>
          <p:cNvSpPr/>
          <p:nvPr/>
        </p:nvSpPr>
        <p:spPr>
          <a:xfrm>
            <a:off x="939591" y="558768"/>
            <a:ext cx="1097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570">
              <a:lnSpc>
                <a:spcPct val="139765"/>
              </a:lnSpc>
            </a:pPr>
            <a:r>
              <a:rPr lang="en-US" b="1" kern="0" spc="168">
                <a:solidFill>
                  <a:srgbClr val="FFAD5B"/>
                </a:solidFill>
                <a:latin typeface="Aptos" panose="02110004020202020204"/>
                <a:ea typeface="Roboto"/>
                <a:cs typeface="Roboto"/>
              </a:rPr>
              <a:t>SOBRYNTH SOLUTION</a:t>
            </a:r>
            <a:endParaRPr lang="en-US"/>
          </a:p>
        </p:txBody>
      </p:sp>
      <p:pic>
        <p:nvPicPr>
          <p:cNvPr id="9" name="Labyrinth Icon" descr="A black maze on an orange background&#10;&#10;AI-generated content may be incorrect.">
            <a:extLst>
              <a:ext uri="{FF2B5EF4-FFF2-40B4-BE49-F238E27FC236}">
                <a16:creationId xmlns:a16="http://schemas.microsoft.com/office/drawing/2014/main" id="{59399E78-E0FE-DF3C-086D-59D68F5435F8}"/>
              </a:ext>
            </a:extLst>
          </p:cNvPr>
          <p:cNvPicPr>
            <a:picLocks noChangeAspect="1"/>
          </p:cNvPicPr>
          <p:nvPr/>
        </p:nvPicPr>
        <p:blipFill>
          <a:blip r:embed="rId7"/>
          <a:stretch>
            <a:fillRect/>
          </a:stretch>
        </p:blipFill>
        <p:spPr>
          <a:xfrm>
            <a:off x="609590" y="597200"/>
            <a:ext cx="220000" cy="20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59468D"/>
        </a:solidFill>
        <a:effectLst/>
      </p:bgPr>
    </p:bg>
    <p:spTree>
      <p:nvGrpSpPr>
        <p:cNvPr id="1" name=""/>
        <p:cNvGrpSpPr/>
        <p:nvPr/>
      </p:nvGrpSpPr>
      <p:grpSpPr>
        <a:xfrm>
          <a:off x="0" y="0"/>
          <a:ext cx="0" cy="0"/>
          <a:chOff x="0" y="0"/>
          <a:chExt cx="0" cy="0"/>
        </a:xfrm>
      </p:grpSpPr>
      <p:sp>
        <p:nvSpPr>
          <p:cNvPr id="3" name="Text 1"/>
          <p:cNvSpPr/>
          <p:nvPr/>
        </p:nvSpPr>
        <p:spPr>
          <a:xfrm>
            <a:off x="609590" y="975320"/>
            <a:ext cx="12070105" cy="44526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86873"/>
              </a:lnSpc>
              <a:buNone/>
            </a:pPr>
            <a:r>
              <a:rPr lang="en-US" sz="2900" b="1">
                <a:solidFill>
                  <a:srgbClr val="FFFFFF"/>
                </a:solidFill>
                <a:latin typeface="Roboto Slab" pitchFamily="34" charset="0"/>
                <a:ea typeface="Roboto Slab" pitchFamily="34" charset="-122"/>
                <a:cs typeface="Roboto Slab" pitchFamily="34" charset="-120"/>
              </a:rPr>
              <a:t>Live in 90 Days</a:t>
            </a:r>
            <a:endParaRPr lang="en-US" sz="2900"/>
          </a:p>
        </p:txBody>
      </p:sp>
      <p:sp>
        <p:nvSpPr>
          <p:cNvPr id="4" name="Text 2"/>
          <p:cNvSpPr/>
          <p:nvPr/>
        </p:nvSpPr>
        <p:spPr>
          <a:xfrm>
            <a:off x="609589" y="1509448"/>
            <a:ext cx="9287511" cy="52325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19593"/>
              </a:lnSpc>
              <a:buNone/>
            </a:pPr>
            <a:r>
              <a:rPr lang="en-US" sz="1400">
                <a:solidFill>
                  <a:srgbClr val="CEC6E4"/>
                </a:solidFill>
                <a:latin typeface="Roboto" pitchFamily="34" charset="0"/>
                <a:ea typeface="Roboto" pitchFamily="34" charset="-122"/>
                <a:cs typeface="Roboto" pitchFamily="34" charset="-120"/>
              </a:rPr>
              <a:t>A guided path from kickoff to launch, run company by company — so each masthead and business gets an activation built for its own culture, not a group-wide template.</a:t>
            </a:r>
            <a:endParaRPr lang="en-US" sz="1400"/>
          </a:p>
        </p:txBody>
      </p:sp>
      <p:sp>
        <p:nvSpPr>
          <p:cNvPr id="5" name="Shape 3"/>
          <p:cNvSpPr/>
          <p:nvPr/>
        </p:nvSpPr>
        <p:spPr>
          <a:xfrm>
            <a:off x="609590" y="2261306"/>
            <a:ext cx="3539078" cy="1804017"/>
          </a:xfrm>
          <a:prstGeom prst="roundRect">
            <a:avLst>
              <a:gd name="adj" fmla="val 9152"/>
            </a:avLst>
          </a:prstGeom>
          <a:solidFill>
            <a:srgbClr val="6751A4"/>
          </a:solidFill>
          <a:ln/>
        </p:spPr>
        <p:txBody>
          <a:bodyPr/>
          <a:lstStyle/>
          <a:p>
            <a:endParaRPr lang="en-US"/>
          </a:p>
        </p:txBody>
      </p:sp>
      <p:sp>
        <p:nvSpPr>
          <p:cNvPr id="6" name="Text 4"/>
          <p:cNvSpPr/>
          <p:nvPr/>
        </p:nvSpPr>
        <p:spPr>
          <a:xfrm>
            <a:off x="800089" y="2451806"/>
            <a:ext cx="3252820"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20">
                <a:solidFill>
                  <a:srgbClr val="FFBD7A"/>
                </a:solidFill>
                <a:latin typeface="Roboto" pitchFamily="34" charset="0"/>
                <a:ea typeface="Roboto" pitchFamily="34" charset="-122"/>
                <a:cs typeface="Roboto" pitchFamily="34" charset="-120"/>
              </a:rPr>
              <a:t>DAYS 1–30</a:t>
            </a:r>
            <a:endParaRPr lang="en-US" sz="1200"/>
          </a:p>
        </p:txBody>
      </p:sp>
      <p:sp>
        <p:nvSpPr>
          <p:cNvPr id="7" name="Text 5"/>
          <p:cNvSpPr/>
          <p:nvPr/>
        </p:nvSpPr>
        <p:spPr>
          <a:xfrm>
            <a:off x="800089" y="2779448"/>
            <a:ext cx="3252820" cy="38165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4667"/>
              </a:lnSpc>
              <a:buNone/>
            </a:pPr>
            <a:r>
              <a:rPr lang="en-US" sz="1700" b="1">
                <a:solidFill>
                  <a:srgbClr val="FFFFFF"/>
                </a:solidFill>
                <a:latin typeface="Roboto Slab" pitchFamily="34" charset="0"/>
                <a:ea typeface="Roboto Slab" pitchFamily="34" charset="-122"/>
                <a:cs typeface="Roboto Slab" pitchFamily="34" charset="-120"/>
              </a:rPr>
              <a:t>Foundation</a:t>
            </a:r>
            <a:endParaRPr lang="en-US" sz="1700"/>
          </a:p>
        </p:txBody>
      </p:sp>
      <p:sp>
        <p:nvSpPr>
          <p:cNvPr id="8" name="Text 6"/>
          <p:cNvSpPr/>
          <p:nvPr/>
        </p:nvSpPr>
        <p:spPr>
          <a:xfrm>
            <a:off x="800089" y="3211877"/>
            <a:ext cx="3252820" cy="4673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CEC6E4"/>
                </a:solidFill>
                <a:latin typeface="Roboto" pitchFamily="34" charset="0"/>
                <a:ea typeface="Roboto" pitchFamily="34" charset="-122"/>
                <a:cs typeface="Roboto" pitchFamily="34" charset="-120"/>
              </a:rPr>
              <a:t>We learn your culture, agree on success metrics, and shape the plan with your team.</a:t>
            </a:r>
            <a:endParaRPr lang="en-US" sz="1200"/>
          </a:p>
        </p:txBody>
      </p:sp>
      <p:sp>
        <p:nvSpPr>
          <p:cNvPr id="9" name="Shape 7"/>
          <p:cNvSpPr/>
          <p:nvPr/>
        </p:nvSpPr>
        <p:spPr>
          <a:xfrm>
            <a:off x="4326434" y="2261306"/>
            <a:ext cx="3539078" cy="1804017"/>
          </a:xfrm>
          <a:prstGeom prst="roundRect">
            <a:avLst>
              <a:gd name="adj" fmla="val 9152"/>
            </a:avLst>
          </a:prstGeom>
          <a:solidFill>
            <a:srgbClr val="6751A4"/>
          </a:solidFill>
          <a:ln/>
        </p:spPr>
        <p:txBody>
          <a:bodyPr/>
          <a:lstStyle/>
          <a:p>
            <a:endParaRPr lang="en-US"/>
          </a:p>
        </p:txBody>
      </p:sp>
      <p:sp>
        <p:nvSpPr>
          <p:cNvPr id="10" name="Text 8"/>
          <p:cNvSpPr/>
          <p:nvPr/>
        </p:nvSpPr>
        <p:spPr>
          <a:xfrm>
            <a:off x="4516934" y="2451806"/>
            <a:ext cx="3252820"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20">
                <a:solidFill>
                  <a:srgbClr val="FFBD7A"/>
                </a:solidFill>
                <a:latin typeface="Roboto" pitchFamily="34" charset="0"/>
                <a:ea typeface="Roboto" pitchFamily="34" charset="-122"/>
                <a:cs typeface="Roboto" pitchFamily="34" charset="-120"/>
              </a:rPr>
              <a:t>DAYS 31–60</a:t>
            </a:r>
            <a:endParaRPr lang="en-US" sz="1200"/>
          </a:p>
        </p:txBody>
      </p:sp>
      <p:sp>
        <p:nvSpPr>
          <p:cNvPr id="11" name="Text 9"/>
          <p:cNvSpPr/>
          <p:nvPr/>
        </p:nvSpPr>
        <p:spPr>
          <a:xfrm>
            <a:off x="4516934" y="2779448"/>
            <a:ext cx="3252820" cy="38165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4667"/>
              </a:lnSpc>
              <a:buNone/>
            </a:pPr>
            <a:r>
              <a:rPr lang="en-US" sz="1700" b="1">
                <a:solidFill>
                  <a:srgbClr val="FFFFFF"/>
                </a:solidFill>
                <a:latin typeface="Roboto Slab" pitchFamily="34" charset="0"/>
                <a:ea typeface="Roboto Slab" pitchFamily="34" charset="-122"/>
                <a:cs typeface="Roboto Slab" pitchFamily="34" charset="-120"/>
              </a:rPr>
              <a:t>Readiness</a:t>
            </a:r>
            <a:endParaRPr lang="en-US" sz="1700"/>
          </a:p>
        </p:txBody>
      </p:sp>
      <p:sp>
        <p:nvSpPr>
          <p:cNvPr id="12" name="Text 10"/>
          <p:cNvSpPr/>
          <p:nvPr/>
        </p:nvSpPr>
        <p:spPr>
          <a:xfrm>
            <a:off x="4516934" y="3211877"/>
            <a:ext cx="3252820" cy="68834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CEC6E4"/>
                </a:solidFill>
                <a:latin typeface="Roboto" pitchFamily="34" charset="0"/>
                <a:ea typeface="Roboto" pitchFamily="34" charset="-122"/>
                <a:cs typeface="Roboto" pitchFamily="34" charset="-120"/>
              </a:rPr>
              <a:t>Leaders and peer champions are trained. Materials, digital access, and your support line are ready.</a:t>
            </a:r>
            <a:endParaRPr lang="en-US" sz="1200"/>
          </a:p>
        </p:txBody>
      </p:sp>
      <p:sp>
        <p:nvSpPr>
          <p:cNvPr id="13" name="Shape 11"/>
          <p:cNvSpPr/>
          <p:nvPr/>
        </p:nvSpPr>
        <p:spPr>
          <a:xfrm>
            <a:off x="8043279" y="2261306"/>
            <a:ext cx="3539078" cy="1804017"/>
          </a:xfrm>
          <a:prstGeom prst="roundRect">
            <a:avLst>
              <a:gd name="adj" fmla="val 9152"/>
            </a:avLst>
          </a:prstGeom>
          <a:solidFill>
            <a:srgbClr val="6751A4"/>
          </a:solidFill>
          <a:ln/>
        </p:spPr>
        <p:txBody>
          <a:bodyPr/>
          <a:lstStyle/>
          <a:p>
            <a:endParaRPr lang="en-US"/>
          </a:p>
        </p:txBody>
      </p:sp>
      <p:sp>
        <p:nvSpPr>
          <p:cNvPr id="14" name="Text 12"/>
          <p:cNvSpPr/>
          <p:nvPr/>
        </p:nvSpPr>
        <p:spPr>
          <a:xfrm>
            <a:off x="8233779" y="2451806"/>
            <a:ext cx="3252820"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20">
                <a:solidFill>
                  <a:srgbClr val="FFBD7A"/>
                </a:solidFill>
                <a:latin typeface="Roboto" pitchFamily="34" charset="0"/>
                <a:ea typeface="Roboto" pitchFamily="34" charset="-122"/>
                <a:cs typeface="Roboto" pitchFamily="34" charset="-120"/>
              </a:rPr>
              <a:t>DAYS 61–90</a:t>
            </a:r>
            <a:endParaRPr lang="en-US" sz="1200"/>
          </a:p>
        </p:txBody>
      </p:sp>
      <p:sp>
        <p:nvSpPr>
          <p:cNvPr id="15" name="Text 13"/>
          <p:cNvSpPr/>
          <p:nvPr/>
        </p:nvSpPr>
        <p:spPr>
          <a:xfrm>
            <a:off x="8233779" y="2779448"/>
            <a:ext cx="3252820" cy="38165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4667"/>
              </a:lnSpc>
              <a:buNone/>
            </a:pPr>
            <a:r>
              <a:rPr lang="en-US" sz="1700" b="1">
                <a:solidFill>
                  <a:srgbClr val="FFFFFF"/>
                </a:solidFill>
                <a:latin typeface="Roboto Slab" pitchFamily="34" charset="0"/>
                <a:ea typeface="Roboto Slab" pitchFamily="34" charset="-122"/>
                <a:cs typeface="Roboto Slab" pitchFamily="34" charset="-120"/>
              </a:rPr>
              <a:t>Activation</a:t>
            </a:r>
            <a:endParaRPr lang="en-US" sz="1700"/>
          </a:p>
        </p:txBody>
      </p:sp>
      <p:sp>
        <p:nvSpPr>
          <p:cNvPr id="16" name="Text 14"/>
          <p:cNvSpPr/>
          <p:nvPr/>
        </p:nvSpPr>
        <p:spPr>
          <a:xfrm>
            <a:off x="8233779" y="3211877"/>
            <a:ext cx="3252820" cy="68834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CEC6E4"/>
                </a:solidFill>
                <a:latin typeface="Roboto" pitchFamily="34" charset="0"/>
                <a:ea typeface="Roboto" pitchFamily="34" charset="-122"/>
                <a:cs typeface="Roboto" pitchFamily="34" charset="-120"/>
              </a:rPr>
              <a:t>Employees and families gain 24/7 anonymous support. You see engagement and impact in quarterly reporting.</a:t>
            </a:r>
            <a:endParaRPr lang="en-US" sz="1200"/>
          </a:p>
        </p:txBody>
      </p:sp>
      <p:sp>
        <p:nvSpPr>
          <p:cNvPr id="17" name="Text 15"/>
          <p:cNvSpPr/>
          <p:nvPr/>
        </p:nvSpPr>
        <p:spPr>
          <a:xfrm>
            <a:off x="609590" y="4344679"/>
            <a:ext cx="11302007" cy="423543"/>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4022"/>
              </a:lnSpc>
              <a:buNone/>
            </a:pPr>
            <a:r>
              <a:rPr lang="en-US" sz="1900" b="1">
                <a:solidFill>
                  <a:srgbClr val="FFAD5B"/>
                </a:solidFill>
                <a:latin typeface="Roboto Slab" pitchFamily="34" charset="0"/>
                <a:ea typeface="Roboto Slab" pitchFamily="34" charset="-122"/>
                <a:cs typeface="Roboto Slab" pitchFamily="34" charset="-120"/>
              </a:rPr>
              <a:t>Go Live in Month 3</a:t>
            </a:r>
            <a:endParaRPr lang="en-US" sz="1900"/>
          </a:p>
        </p:txBody>
      </p:sp>
      <p:sp>
        <p:nvSpPr>
          <p:cNvPr id="18" name="Text 16"/>
          <p:cNvSpPr/>
          <p:nvPr/>
        </p:nvSpPr>
        <p:spPr>
          <a:xfrm>
            <a:off x="609590" y="4895178"/>
            <a:ext cx="3645250" cy="444489"/>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5053"/>
              </a:lnSpc>
              <a:buNone/>
            </a:pPr>
            <a:r>
              <a:rPr lang="en-US" sz="2000" b="1">
                <a:solidFill>
                  <a:srgbClr val="FFFFFF"/>
                </a:solidFill>
                <a:latin typeface="Roboto Slab" pitchFamily="34" charset="0"/>
                <a:ea typeface="Roboto Slab" pitchFamily="34" charset="-122"/>
                <a:cs typeface="Roboto Slab" pitchFamily="34" charset="-120"/>
              </a:rPr>
              <a:t>24/7</a:t>
            </a:r>
            <a:endParaRPr lang="en-US" sz="2000"/>
          </a:p>
        </p:txBody>
      </p:sp>
      <p:sp>
        <p:nvSpPr>
          <p:cNvPr id="19" name="Text 17"/>
          <p:cNvSpPr/>
          <p:nvPr/>
        </p:nvSpPr>
        <p:spPr>
          <a:xfrm>
            <a:off x="609590" y="5377767"/>
            <a:ext cx="3645250" cy="4673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CEC6E4"/>
                </a:solidFill>
                <a:latin typeface="Roboto" pitchFamily="34" charset="0"/>
                <a:ea typeface="Roboto" pitchFamily="34" charset="-122"/>
                <a:cs typeface="Roboto" pitchFamily="34" charset="-120"/>
              </a:rPr>
              <a:t>Anonymous peer support for employees and families, at their own pace.</a:t>
            </a:r>
            <a:endParaRPr lang="en-US" sz="1200"/>
          </a:p>
        </p:txBody>
      </p:sp>
      <p:sp>
        <p:nvSpPr>
          <p:cNvPr id="20" name="Text 18"/>
          <p:cNvSpPr/>
          <p:nvPr/>
        </p:nvSpPr>
        <p:spPr>
          <a:xfrm>
            <a:off x="4326434" y="4895178"/>
            <a:ext cx="3645250" cy="444489"/>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5053"/>
              </a:lnSpc>
              <a:buNone/>
            </a:pPr>
            <a:r>
              <a:rPr lang="en-US" sz="2000" b="1">
                <a:solidFill>
                  <a:srgbClr val="FFFFFF"/>
                </a:solidFill>
                <a:latin typeface="Roboto Slab" pitchFamily="34" charset="0"/>
                <a:ea typeface="Roboto Slab" pitchFamily="34" charset="-122"/>
                <a:cs typeface="Roboto Slab" pitchFamily="34" charset="-120"/>
              </a:rPr>
              <a:t>Done for you</a:t>
            </a:r>
            <a:endParaRPr lang="en-US" sz="2000"/>
          </a:p>
        </p:txBody>
      </p:sp>
      <p:sp>
        <p:nvSpPr>
          <p:cNvPr id="21" name="Text 19"/>
          <p:cNvSpPr/>
          <p:nvPr/>
        </p:nvSpPr>
        <p:spPr>
          <a:xfrm>
            <a:off x="4326434" y="5377767"/>
            <a:ext cx="3645250" cy="4673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CEC6E4"/>
                </a:solidFill>
                <a:latin typeface="Roboto" pitchFamily="34" charset="0"/>
                <a:ea typeface="Roboto" pitchFamily="34" charset="-122"/>
                <a:cs typeface="Roboto" pitchFamily="34" charset="-120"/>
              </a:rPr>
              <a:t>Trainings, templates, and communications are prepared and delivered by our team.</a:t>
            </a:r>
            <a:endParaRPr lang="en-US" sz="1200"/>
          </a:p>
        </p:txBody>
      </p:sp>
      <p:sp>
        <p:nvSpPr>
          <p:cNvPr id="22" name="Text 20"/>
          <p:cNvSpPr/>
          <p:nvPr/>
        </p:nvSpPr>
        <p:spPr>
          <a:xfrm>
            <a:off x="8043279" y="4895178"/>
            <a:ext cx="3645250" cy="444489"/>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5053"/>
              </a:lnSpc>
              <a:buNone/>
            </a:pPr>
            <a:r>
              <a:rPr lang="en-US" sz="2000" b="1">
                <a:solidFill>
                  <a:srgbClr val="FFFFFF"/>
                </a:solidFill>
                <a:latin typeface="Roboto Slab" pitchFamily="34" charset="0"/>
                <a:ea typeface="Roboto Slab" pitchFamily="34" charset="-122"/>
                <a:cs typeface="Roboto Slab" pitchFamily="34" charset="-120"/>
              </a:rPr>
              <a:t>1 in 10</a:t>
            </a:r>
            <a:endParaRPr lang="en-US" sz="2000"/>
          </a:p>
        </p:txBody>
      </p:sp>
      <p:sp>
        <p:nvSpPr>
          <p:cNvPr id="23" name="Text 21"/>
          <p:cNvSpPr/>
          <p:nvPr/>
        </p:nvSpPr>
        <p:spPr>
          <a:xfrm>
            <a:off x="8043279" y="5377767"/>
            <a:ext cx="3645250" cy="4673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CEC6E4"/>
                </a:solidFill>
                <a:latin typeface="Roboto" pitchFamily="34" charset="0"/>
                <a:ea typeface="Roboto" pitchFamily="34" charset="-122"/>
                <a:cs typeface="Roboto" pitchFamily="34" charset="-120"/>
              </a:rPr>
              <a:t>Employees are impacted by substance use disorder (SUD). Most never ask for help at work.</a:t>
            </a:r>
            <a:endParaRPr lang="en-US" sz="1200"/>
          </a:p>
        </p:txBody>
      </p:sp>
      <p:sp>
        <p:nvSpPr>
          <p:cNvPr id="24" name="Text 22"/>
          <p:cNvSpPr/>
          <p:nvPr/>
        </p:nvSpPr>
        <p:spPr>
          <a:xfrm>
            <a:off x="609590" y="6124498"/>
            <a:ext cx="11302007" cy="45215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18588"/>
              </a:lnSpc>
              <a:buNone/>
            </a:pPr>
            <a:r>
              <a:rPr lang="en-US" sz="1200" b="1">
                <a:solidFill>
                  <a:srgbClr val="FFBD7A"/>
                </a:solidFill>
                <a:latin typeface="Roboto" pitchFamily="34" charset="0"/>
                <a:ea typeface="Roboto" pitchFamily="34" charset="-122"/>
                <a:cs typeface="Roboto" pitchFamily="34" charset="-120"/>
              </a:rPr>
              <a:t>Beyond Day 90: </a:t>
            </a:r>
            <a:r>
              <a:rPr lang="en-US" sz="1200">
                <a:solidFill>
                  <a:srgbClr val="ACA0CF"/>
                </a:solidFill>
                <a:latin typeface="Roboto" pitchFamily="34" charset="0"/>
                <a:ea typeface="Roboto" pitchFamily="34" charset="-122"/>
                <a:cs typeface="Roboto" pitchFamily="34" charset="-120"/>
              </a:rPr>
              <a:t>Ongoing access to the Employer Hub, with a monthly communication toolkit and a library of resources and engagement opportunities to keep awareness strong.</a:t>
            </a:r>
            <a:endParaRPr lang="en-US" sz="1200"/>
          </a:p>
        </p:txBody>
      </p:sp>
      <p:sp>
        <p:nvSpPr>
          <p:cNvPr id="26" name="Text 0">
            <a:extLst>
              <a:ext uri="{FF2B5EF4-FFF2-40B4-BE49-F238E27FC236}">
                <a16:creationId xmlns:a16="http://schemas.microsoft.com/office/drawing/2014/main" id="{EA390920-8633-94DD-FFAB-C997FC0DF8B4}"/>
              </a:ext>
            </a:extLst>
          </p:cNvPr>
          <p:cNvSpPr/>
          <p:nvPr/>
        </p:nvSpPr>
        <p:spPr>
          <a:xfrm>
            <a:off x="939591" y="558768"/>
            <a:ext cx="1097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570">
              <a:lnSpc>
                <a:spcPct val="139765"/>
              </a:lnSpc>
            </a:pPr>
            <a:r>
              <a:rPr lang="en-US" b="1" kern="0" spc="168">
                <a:solidFill>
                  <a:srgbClr val="FFAD5B"/>
                </a:solidFill>
                <a:latin typeface="Aptos" panose="02110004020202020204"/>
                <a:ea typeface="Roboto"/>
                <a:cs typeface="Roboto"/>
              </a:rPr>
              <a:t>RFW ACTIVATION</a:t>
            </a:r>
            <a:endParaRPr lang="en-US"/>
          </a:p>
        </p:txBody>
      </p:sp>
      <p:pic>
        <p:nvPicPr>
          <p:cNvPr id="28" name="Labyrinth Icon" descr="A black maze on an orange background&#10;&#10;AI-generated content may be incorrect.">
            <a:extLst>
              <a:ext uri="{FF2B5EF4-FFF2-40B4-BE49-F238E27FC236}">
                <a16:creationId xmlns:a16="http://schemas.microsoft.com/office/drawing/2014/main" id="{C740FB39-C0BE-F9D4-F82A-F8E64C586608}"/>
              </a:ext>
            </a:extLst>
          </p:cNvPr>
          <p:cNvPicPr>
            <a:picLocks noChangeAspect="1"/>
          </p:cNvPicPr>
          <p:nvPr/>
        </p:nvPicPr>
        <p:blipFill>
          <a:blip r:embed="rId3"/>
          <a:stretch>
            <a:fillRect/>
          </a:stretch>
        </p:blipFill>
        <p:spPr>
          <a:xfrm>
            <a:off x="609590" y="597200"/>
            <a:ext cx="220000" cy="200000"/>
          </a:xfrm>
          <a:prstGeom prst="rect">
            <a:avLst/>
          </a:prstGeom>
        </p:spPr>
      </p:pic>
    </p:spTree>
    <p:extLst>
      <p:ext uri="{BB962C8B-B14F-4D97-AF65-F5344CB8AC3E}">
        <p14:creationId xmlns:p14="http://schemas.microsoft.com/office/powerpoint/2010/main" val="3269512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35001" y="937067"/>
            <a:ext cx="10477501" cy="45204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84000"/>
              </a:lnSpc>
            </a:pPr>
            <a:r>
              <a:rPr lang="en-US" sz="3200" b="1">
                <a:solidFill>
                  <a:srgbClr val="3A2C73"/>
                </a:solidFill>
                <a:latin typeface="Calibri"/>
              </a:rPr>
              <a:t>SOBRPath™ Platform</a:t>
            </a:r>
          </a:p>
        </p:txBody>
      </p:sp>
      <p:sp>
        <p:nvSpPr>
          <p:cNvPr id="4" name="Text 2"/>
          <p:cNvSpPr/>
          <p:nvPr/>
        </p:nvSpPr>
        <p:spPr>
          <a:xfrm>
            <a:off x="635001" y="2067940"/>
            <a:ext cx="269743" cy="486326"/>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25654"/>
              </a:lnSpc>
            </a:pPr>
            <a:r>
              <a:rPr lang="en-US" sz="2200" b="1">
                <a:solidFill>
                  <a:srgbClr val="FFAD5B"/>
                </a:solidFill>
                <a:latin typeface="Roboto Slab" pitchFamily="34" charset="0"/>
                <a:ea typeface="Roboto Slab" pitchFamily="34" charset="-122"/>
                <a:cs typeface="Roboto Slab" pitchFamily="34" charset="-120"/>
              </a:rPr>
              <a:t>1</a:t>
            </a:r>
            <a:endParaRPr lang="en-US" sz="2200"/>
          </a:p>
        </p:txBody>
      </p:sp>
      <p:sp>
        <p:nvSpPr>
          <p:cNvPr id="5" name="Text 3"/>
          <p:cNvSpPr/>
          <p:nvPr/>
        </p:nvSpPr>
        <p:spPr>
          <a:xfrm>
            <a:off x="1006299" y="2067941"/>
            <a:ext cx="6380508" cy="318757"/>
          </a:xfrm>
          <a:prstGeom prst="rect">
            <a:avLst/>
          </a:prstGeom>
          <a:noFill/>
          <a:ln/>
        </p:spPr>
        <p:txBody>
          <a:bodyPr wrap="square" lIns="16933" tIns="16933" rIns="16933" bIns="16933" rtlCol="0" anchor="t">
            <a:normAutofit fontScale="85000" lnSpcReduction="20000"/>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26000"/>
              </a:lnSpc>
            </a:pPr>
            <a:r>
              <a:rPr lang="en-US" sz="2000" b="1">
                <a:solidFill>
                  <a:srgbClr val="3A2C73"/>
                </a:solidFill>
                <a:latin typeface="Calibri"/>
              </a:rPr>
              <a:t>Resources for 50 States, All Care Pathways</a:t>
            </a:r>
          </a:p>
        </p:txBody>
      </p:sp>
      <p:sp>
        <p:nvSpPr>
          <p:cNvPr id="6" name="Text 4"/>
          <p:cNvSpPr/>
          <p:nvPr/>
        </p:nvSpPr>
        <p:spPr>
          <a:xfrm>
            <a:off x="1017527" y="2374958"/>
            <a:ext cx="6380508" cy="570221"/>
          </a:xfrm>
          <a:prstGeom prst="rect">
            <a:avLst/>
          </a:prstGeom>
          <a:noFill/>
          <a:ln/>
        </p:spPr>
        <p:txBody>
          <a:bodyPr wrap="square" lIns="16933" tIns="16933" rIns="16933" bIns="16933" rtlCol="0" anchor="t">
            <a:no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37893"/>
              </a:lnSpc>
            </a:pPr>
            <a:r>
              <a:rPr lang="en-US" sz="1400">
                <a:solidFill>
                  <a:srgbClr val="1F1A2E"/>
                </a:solidFill>
                <a:latin typeface="Calibri"/>
              </a:rPr>
              <a:t>Find the care you seek in our comprehensive resource directory - for yourself or a loved one. Clinical to free community resources and everything in between.</a:t>
            </a:r>
          </a:p>
        </p:txBody>
      </p:sp>
      <p:sp>
        <p:nvSpPr>
          <p:cNvPr id="7" name="Text 5"/>
          <p:cNvSpPr/>
          <p:nvPr/>
        </p:nvSpPr>
        <p:spPr>
          <a:xfrm>
            <a:off x="635000" y="3358548"/>
            <a:ext cx="282200" cy="486326"/>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25654"/>
              </a:lnSpc>
            </a:pPr>
            <a:r>
              <a:rPr lang="en-US" sz="2200" b="1">
                <a:solidFill>
                  <a:srgbClr val="FFAD5B"/>
                </a:solidFill>
                <a:latin typeface="Roboto Slab" pitchFamily="34" charset="0"/>
                <a:ea typeface="Roboto Slab" pitchFamily="34" charset="-122"/>
                <a:cs typeface="Roboto Slab" pitchFamily="34" charset="-120"/>
              </a:rPr>
              <a:t>2</a:t>
            </a:r>
            <a:endParaRPr lang="en-US" sz="2200"/>
          </a:p>
        </p:txBody>
      </p:sp>
      <p:sp>
        <p:nvSpPr>
          <p:cNvPr id="8" name="Text 6"/>
          <p:cNvSpPr/>
          <p:nvPr/>
        </p:nvSpPr>
        <p:spPr>
          <a:xfrm>
            <a:off x="1018757" y="3358549"/>
            <a:ext cx="6367677" cy="31875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16000"/>
              </a:lnSpc>
            </a:pPr>
            <a:r>
              <a:rPr lang="en-US" sz="1700" b="1">
                <a:solidFill>
                  <a:srgbClr val="3A2C73"/>
                </a:solidFill>
                <a:latin typeface="Calibri"/>
              </a:rPr>
              <a:t>Track Sober Days, Read Stories + More</a:t>
            </a:r>
          </a:p>
        </p:txBody>
      </p:sp>
      <p:sp>
        <p:nvSpPr>
          <p:cNvPr id="9" name="Text 7"/>
          <p:cNvSpPr/>
          <p:nvPr/>
        </p:nvSpPr>
        <p:spPr>
          <a:xfrm>
            <a:off x="1018757" y="3702617"/>
            <a:ext cx="6367677" cy="570221"/>
          </a:xfrm>
          <a:prstGeom prst="rect">
            <a:avLst/>
          </a:prstGeom>
          <a:noFill/>
          <a:ln/>
        </p:spPr>
        <p:txBody>
          <a:bodyPr wrap="square" lIns="16933" tIns="16933" rIns="16933" bIns="16933" rtlCol="0" anchor="t">
            <a:normAutofit lnSpcReduction="10000"/>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37893"/>
              </a:lnSpc>
            </a:pPr>
            <a:r>
              <a:rPr lang="en-US" sz="1400">
                <a:solidFill>
                  <a:srgbClr val="1F1A2E"/>
                </a:solidFill>
                <a:latin typeface="Calibri"/>
              </a:rPr>
              <a:t>SOBRPath™ has a journey for everyone. Lived recovery stories, FAQs and conversation guides, and personalized sober goals - all self-serve, anytime.</a:t>
            </a:r>
          </a:p>
        </p:txBody>
      </p:sp>
      <p:sp>
        <p:nvSpPr>
          <p:cNvPr id="10" name="Text 8"/>
          <p:cNvSpPr/>
          <p:nvPr/>
        </p:nvSpPr>
        <p:spPr>
          <a:xfrm>
            <a:off x="635000" y="4707600"/>
            <a:ext cx="292894" cy="486326"/>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25654"/>
              </a:lnSpc>
            </a:pPr>
            <a:r>
              <a:rPr lang="en-US" sz="2200" b="1">
                <a:solidFill>
                  <a:srgbClr val="FFAD5B"/>
                </a:solidFill>
                <a:latin typeface="Roboto Slab" pitchFamily="34" charset="0"/>
                <a:ea typeface="Roboto Slab" pitchFamily="34" charset="-122"/>
                <a:cs typeface="Roboto Slab" pitchFamily="34" charset="-120"/>
              </a:rPr>
              <a:t>3</a:t>
            </a:r>
            <a:endParaRPr lang="en-US" sz="2200"/>
          </a:p>
        </p:txBody>
      </p:sp>
      <p:sp>
        <p:nvSpPr>
          <p:cNvPr id="11" name="Text 9"/>
          <p:cNvSpPr/>
          <p:nvPr/>
        </p:nvSpPr>
        <p:spPr>
          <a:xfrm>
            <a:off x="1029450" y="4707601"/>
            <a:ext cx="6356662" cy="31875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16000"/>
              </a:lnSpc>
            </a:pPr>
            <a:r>
              <a:rPr lang="en-US" sz="1700" b="1">
                <a:solidFill>
                  <a:srgbClr val="3A2C73"/>
                </a:solidFill>
                <a:latin typeface="Calibri"/>
              </a:rPr>
              <a:t>Personalized Coach Connection</a:t>
            </a:r>
          </a:p>
        </p:txBody>
      </p:sp>
      <p:sp>
        <p:nvSpPr>
          <p:cNvPr id="12" name="Text 10"/>
          <p:cNvSpPr/>
          <p:nvPr/>
        </p:nvSpPr>
        <p:spPr>
          <a:xfrm>
            <a:off x="1029450" y="5051669"/>
            <a:ext cx="6356662" cy="570221"/>
          </a:xfrm>
          <a:prstGeom prst="rect">
            <a:avLst/>
          </a:prstGeom>
          <a:noFill/>
          <a:ln/>
        </p:spPr>
        <p:txBody>
          <a:bodyPr wrap="square" lIns="16933" tIns="16933" rIns="16933" bIns="16933" rtlCol="0" anchor="t">
            <a:normAutofit lnSpcReduction="10000"/>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37893"/>
              </a:lnSpc>
            </a:pPr>
            <a:r>
              <a:rPr lang="en-US" sz="1400">
                <a:solidFill>
                  <a:srgbClr val="1F1A2E"/>
                </a:solidFill>
                <a:latin typeface="Calibri"/>
              </a:rPr>
              <a:t>Employees choose their own coach for personalized guidance tailored to their unique needs and goals. Every coach is in recovery themselves.</a:t>
            </a:r>
          </a:p>
        </p:txBody>
      </p:sp>
      <p:sp>
        <p:nvSpPr>
          <p:cNvPr id="13" name="Shape 11"/>
          <p:cNvSpPr/>
          <p:nvPr/>
        </p:nvSpPr>
        <p:spPr>
          <a:xfrm>
            <a:off x="7556500" y="2028031"/>
            <a:ext cx="1924072" cy="4064000"/>
          </a:xfrm>
          <a:prstGeom prst="roundRect">
            <a:avLst>
              <a:gd name="adj" fmla="val 6601"/>
            </a:avLst>
          </a:prstGeom>
          <a:ln/>
          <a:effectLst>
            <a:outerShdw blurRad="381000" dist="171450" dir="5400000" algn="bl" rotWithShape="0">
              <a:srgbClr val="2D2449">
                <a:alpha val="14000"/>
              </a:srgbClr>
            </a:outerShdw>
          </a:effectLst>
        </p:spPr>
        <p:txBody>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pic>
        <p:nvPicPr>
          <p:cNvPr id="14" name="Image 0" descr="preencoded.png"/>
          <p:cNvPicPr>
            <a:picLocks noChangeAspect="1"/>
          </p:cNvPicPr>
          <p:nvPr/>
        </p:nvPicPr>
        <p:blipFill>
          <a:blip r:embed="rId3"/>
          <a:stretch>
            <a:fillRect/>
          </a:stretch>
        </p:blipFill>
        <p:spPr>
          <a:xfrm>
            <a:off x="7556500" y="2028031"/>
            <a:ext cx="1924072" cy="4064000"/>
          </a:xfrm>
          <a:prstGeom prst="rect">
            <a:avLst/>
          </a:prstGeom>
        </p:spPr>
      </p:pic>
      <p:sp>
        <p:nvSpPr>
          <p:cNvPr id="15" name="Shape 12"/>
          <p:cNvSpPr/>
          <p:nvPr/>
        </p:nvSpPr>
        <p:spPr>
          <a:xfrm>
            <a:off x="9632928" y="2028031"/>
            <a:ext cx="1924072" cy="4064000"/>
          </a:xfrm>
          <a:prstGeom prst="roundRect">
            <a:avLst>
              <a:gd name="adj" fmla="val 6601"/>
            </a:avLst>
          </a:prstGeom>
          <a:ln/>
          <a:effectLst>
            <a:outerShdw blurRad="381000" dist="171450" dir="5400000" algn="bl" rotWithShape="0">
              <a:srgbClr val="2D2449">
                <a:alpha val="14000"/>
              </a:srgbClr>
            </a:outerShdw>
          </a:effectLst>
        </p:spPr>
        <p:txBody>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pic>
        <p:nvPicPr>
          <p:cNvPr id="16" name="Image 1" descr="preencoded.png"/>
          <p:cNvPicPr>
            <a:picLocks noChangeAspect="1"/>
          </p:cNvPicPr>
          <p:nvPr/>
        </p:nvPicPr>
        <p:blipFill>
          <a:blip r:embed="rId4"/>
          <a:stretch>
            <a:fillRect/>
          </a:stretch>
        </p:blipFill>
        <p:spPr>
          <a:xfrm>
            <a:off x="9632928" y="2028031"/>
            <a:ext cx="1924072" cy="4064000"/>
          </a:xfrm>
          <a:prstGeom prst="rect">
            <a:avLst/>
          </a:prstGeom>
        </p:spPr>
      </p:pic>
      <p:sp>
        <p:nvSpPr>
          <p:cNvPr id="24" name="Text 47">
            <a:extLst>
              <a:ext uri="{FF2B5EF4-FFF2-40B4-BE49-F238E27FC236}">
                <a16:creationId xmlns:a16="http://schemas.microsoft.com/office/drawing/2014/main" id="{6FC8447C-DB0D-3090-938A-77EE09519277}"/>
              </a:ext>
            </a:extLst>
          </p:cNvPr>
          <p:cNvSpPr/>
          <p:nvPr/>
        </p:nvSpPr>
        <p:spPr>
          <a:xfrm>
            <a:off x="457200" y="6519672"/>
            <a:ext cx="7315200" cy="182880"/>
          </a:xfrm>
          <a:prstGeom prst="rect">
            <a:avLst/>
          </a:prstGeom>
          <a:noFill/>
          <a:ln/>
        </p:spPr>
        <p:txBody>
          <a:bodyPr wrap="square" lIns="0" tIns="0" rIns="0" bIns="0" rtlCol="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900">
                <a:solidFill>
                  <a:srgbClr val="6B6B76"/>
                </a:solidFill>
                <a:latin typeface="Calibri" pitchFamily="34" charset="0"/>
                <a:ea typeface="Calibri" pitchFamily="34" charset="-122"/>
                <a:cs typeface="Calibri" pitchFamily="34" charset="-120"/>
              </a:rPr>
              <a:t>©2026 </a:t>
            </a:r>
            <a:r>
              <a:rPr lang="en-US" sz="900" err="1">
                <a:solidFill>
                  <a:srgbClr val="6B6B76"/>
                </a:solidFill>
                <a:latin typeface="Calibri" pitchFamily="34" charset="0"/>
                <a:ea typeface="Calibri" pitchFamily="34" charset="-122"/>
                <a:cs typeface="Calibri" pitchFamily="34" charset="-120"/>
              </a:rPr>
              <a:t>Sobrynth</a:t>
            </a:r>
            <a:r>
              <a:rPr lang="en-US" sz="900">
                <a:solidFill>
                  <a:srgbClr val="6B6B76"/>
                </a:solidFill>
                <a:latin typeface="Calibri" pitchFamily="34" charset="0"/>
                <a:ea typeface="Calibri" pitchFamily="34" charset="-122"/>
                <a:cs typeface="Calibri" pitchFamily="34" charset="-120"/>
              </a:rPr>
              <a:t>  ·  Choosing to be sober today.</a:t>
            </a:r>
            <a:endParaRPr lang="en-US" sz="900"/>
          </a:p>
        </p:txBody>
      </p:sp>
      <p:sp>
        <p:nvSpPr>
          <p:cNvPr id="2" name="Text 0">
            <a:extLst>
              <a:ext uri="{FF2B5EF4-FFF2-40B4-BE49-F238E27FC236}">
                <a16:creationId xmlns:a16="http://schemas.microsoft.com/office/drawing/2014/main" id="{EB8F9986-24E3-9D67-8B4F-CB2D3EEFA925}"/>
              </a:ext>
            </a:extLst>
          </p:cNvPr>
          <p:cNvSpPr/>
          <p:nvPr/>
        </p:nvSpPr>
        <p:spPr>
          <a:xfrm>
            <a:off x="939591" y="558768"/>
            <a:ext cx="1097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570">
              <a:lnSpc>
                <a:spcPct val="139765"/>
              </a:lnSpc>
            </a:pPr>
            <a:r>
              <a:rPr lang="en-US" sz="1200" b="1" kern="0" spc="168">
                <a:solidFill>
                  <a:srgbClr val="FFAD5B"/>
                </a:solidFill>
                <a:latin typeface="Aptos" panose="02110004020202020204"/>
                <a:ea typeface="Roboto"/>
                <a:cs typeface="Roboto"/>
              </a:rPr>
              <a:t>THE PLATFORM</a:t>
            </a:r>
            <a:endParaRPr lang="en-US" sz="1200">
              <a:solidFill>
                <a:srgbClr val="FFAD5B"/>
              </a:solidFill>
              <a:latin typeface="Roboto"/>
              <a:ea typeface="Roboto"/>
              <a:cs typeface="Roboto"/>
            </a:endParaRPr>
          </a:p>
        </p:txBody>
      </p:sp>
      <p:pic>
        <p:nvPicPr>
          <p:cNvPr id="17" name="Labyrinth Icon">
            <a:extLst>
              <a:ext uri="{FF2B5EF4-FFF2-40B4-BE49-F238E27FC236}">
                <a16:creationId xmlns:a16="http://schemas.microsoft.com/office/drawing/2014/main" id="{6BD19AB7-352F-216D-EACD-DFB0A1B706AF}"/>
              </a:ext>
            </a:extLst>
          </p:cNvPr>
          <p:cNvPicPr>
            <a:picLocks noChangeAspect="1"/>
          </p:cNvPicPr>
          <p:nvPr/>
        </p:nvPicPr>
        <p:blipFill>
          <a:blip r:embed="rId5"/>
          <a:stretch>
            <a:fillRect/>
          </a:stretch>
        </p:blipFill>
        <p:spPr>
          <a:xfrm>
            <a:off x="609590" y="597200"/>
            <a:ext cx="220000" cy="200000"/>
          </a:xfrm>
          <a:prstGeom prst="rect">
            <a:avLst/>
          </a:prstGeom>
        </p:spPr>
      </p:pic>
      <p:pic>
        <p:nvPicPr>
          <p:cNvPr id="18" name="Picture 17" descr="2025_Stevie_Winner">
            <a:extLst>
              <a:ext uri="{FF2B5EF4-FFF2-40B4-BE49-F238E27FC236}">
                <a16:creationId xmlns:a16="http://schemas.microsoft.com/office/drawing/2014/main" id="{6D3D3FED-F893-5096-B6EC-236FDAF4DFD4}"/>
              </a:ext>
            </a:extLst>
          </p:cNvPr>
          <p:cNvPicPr>
            <a:picLocks noChangeAspect="1"/>
          </p:cNvPicPr>
          <p:nvPr/>
        </p:nvPicPr>
        <p:blipFill>
          <a:blip r:embed="rId6"/>
          <a:stretch>
            <a:fillRect/>
          </a:stretch>
        </p:blipFill>
        <p:spPr>
          <a:xfrm>
            <a:off x="4839054" y="561429"/>
            <a:ext cx="1034698" cy="103469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F6F5F8"/>
        </a:solidFill>
        <a:effectLst/>
      </p:bgPr>
    </p:bg>
    <p:spTree>
      <p:nvGrpSpPr>
        <p:cNvPr id="1" name=""/>
        <p:cNvGrpSpPr/>
        <p:nvPr/>
      </p:nvGrpSpPr>
      <p:grpSpPr>
        <a:xfrm>
          <a:off x="0" y="0"/>
          <a:ext cx="0" cy="0"/>
          <a:chOff x="0" y="0"/>
          <a:chExt cx="0" cy="0"/>
        </a:xfrm>
      </p:grpSpPr>
      <p:sp>
        <p:nvSpPr>
          <p:cNvPr id="3" name="Text 1"/>
          <p:cNvSpPr/>
          <p:nvPr/>
        </p:nvSpPr>
        <p:spPr>
          <a:xfrm>
            <a:off x="609590" y="975320"/>
            <a:ext cx="10203181" cy="86512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86873"/>
              </a:lnSpc>
              <a:buNone/>
            </a:pPr>
            <a:r>
              <a:rPr lang="en-US" sz="2900" b="1">
                <a:solidFill>
                  <a:srgbClr val="241D3B"/>
                </a:solidFill>
                <a:latin typeface="Roboto Slab" pitchFamily="34" charset="0"/>
                <a:ea typeface="Roboto Slab" pitchFamily="34" charset="-122"/>
                <a:cs typeface="Roboto Slab" pitchFamily="34" charset="-120"/>
              </a:rPr>
              <a:t>Awareness leads to utilization. Utilization leads to retention.</a:t>
            </a:r>
            <a:endParaRPr lang="en-US" sz="2900"/>
          </a:p>
        </p:txBody>
      </p:sp>
      <p:sp>
        <p:nvSpPr>
          <p:cNvPr id="4" name="Shape 2"/>
          <p:cNvSpPr/>
          <p:nvPr/>
        </p:nvSpPr>
        <p:spPr>
          <a:xfrm>
            <a:off x="609590" y="2196042"/>
            <a:ext cx="3522155" cy="3800905"/>
          </a:xfrm>
          <a:prstGeom prst="roundRect">
            <a:avLst>
              <a:gd name="adj" fmla="val 4687"/>
            </a:avLst>
          </a:prstGeom>
          <a:solidFill>
            <a:srgbClr val="F4F1FA"/>
          </a:solidFill>
          <a:ln/>
        </p:spPr>
        <p:txBody>
          <a:bodyPr/>
          <a:lstStyle/>
          <a:p>
            <a:endParaRPr lang="en-US"/>
          </a:p>
        </p:txBody>
      </p:sp>
      <p:sp>
        <p:nvSpPr>
          <p:cNvPr id="5" name="Text 3"/>
          <p:cNvSpPr/>
          <p:nvPr/>
        </p:nvSpPr>
        <p:spPr>
          <a:xfrm>
            <a:off x="863590" y="2475398"/>
            <a:ext cx="3315571" cy="59690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5701"/>
              </a:lnSpc>
              <a:buNone/>
            </a:pPr>
            <a:r>
              <a:rPr lang="en-US" sz="4500" b="1">
                <a:solidFill>
                  <a:srgbClr val="59468D"/>
                </a:solidFill>
                <a:latin typeface="Roboto Slab" pitchFamily="34" charset="0"/>
                <a:ea typeface="Roboto Slab" pitchFamily="34" charset="-122"/>
                <a:cs typeface="Roboto Slab" pitchFamily="34" charset="-120"/>
              </a:rPr>
              <a:t>100%</a:t>
            </a:r>
            <a:endParaRPr lang="en-US" sz="4500"/>
          </a:p>
        </p:txBody>
      </p:sp>
      <p:sp>
        <p:nvSpPr>
          <p:cNvPr id="6" name="Text 4"/>
          <p:cNvSpPr/>
          <p:nvPr/>
        </p:nvSpPr>
        <p:spPr>
          <a:xfrm>
            <a:off x="863589" y="3173898"/>
            <a:ext cx="3104580" cy="339703"/>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3750"/>
              </a:lnSpc>
              <a:buNone/>
            </a:pPr>
            <a:r>
              <a:rPr lang="en-US" sz="1500" b="1">
                <a:solidFill>
                  <a:srgbClr val="241D3B"/>
                </a:solidFill>
                <a:latin typeface="Roboto Slab" pitchFamily="34" charset="0"/>
                <a:ea typeface="Roboto Slab" pitchFamily="34" charset="-122"/>
                <a:cs typeface="Roboto Slab" pitchFamily="34" charset="-120"/>
              </a:rPr>
              <a:t>Employee Awareness</a:t>
            </a:r>
            <a:endParaRPr lang="en-US" sz="1500"/>
          </a:p>
        </p:txBody>
      </p:sp>
      <p:sp>
        <p:nvSpPr>
          <p:cNvPr id="7" name="Text 5"/>
          <p:cNvSpPr/>
          <p:nvPr/>
        </p:nvSpPr>
        <p:spPr>
          <a:xfrm>
            <a:off x="863589" y="3615201"/>
            <a:ext cx="3104580" cy="71116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7059"/>
              </a:lnSpc>
              <a:buNone/>
            </a:pPr>
            <a:r>
              <a:rPr lang="en-US" sz="1200">
                <a:solidFill>
                  <a:srgbClr val="423F4B"/>
                </a:solidFill>
                <a:latin typeface="Roboto" pitchFamily="34" charset="0"/>
                <a:ea typeface="Roboto" pitchFamily="34" charset="-122"/>
                <a:cs typeface="Roboto" pitchFamily="34" charset="-120"/>
              </a:rPr>
              <a:t>Achieved full employee awareness of SUD resources following our 90-day activation program.</a:t>
            </a:r>
            <a:endParaRPr lang="en-US" sz="1200"/>
          </a:p>
        </p:txBody>
      </p:sp>
      <p:sp>
        <p:nvSpPr>
          <p:cNvPr id="8" name="Shape 6"/>
          <p:cNvSpPr/>
          <p:nvPr/>
        </p:nvSpPr>
        <p:spPr>
          <a:xfrm>
            <a:off x="4334923" y="2196042"/>
            <a:ext cx="3522155" cy="3800905"/>
          </a:xfrm>
          <a:prstGeom prst="roundRect">
            <a:avLst>
              <a:gd name="adj" fmla="val 4687"/>
            </a:avLst>
          </a:prstGeom>
          <a:solidFill>
            <a:srgbClr val="FFF7EE"/>
          </a:solidFill>
          <a:ln/>
        </p:spPr>
        <p:txBody>
          <a:bodyPr/>
          <a:lstStyle/>
          <a:p>
            <a:endParaRPr lang="en-US"/>
          </a:p>
        </p:txBody>
      </p:sp>
      <p:sp>
        <p:nvSpPr>
          <p:cNvPr id="9" name="Text 7"/>
          <p:cNvSpPr/>
          <p:nvPr/>
        </p:nvSpPr>
        <p:spPr>
          <a:xfrm>
            <a:off x="4588923" y="2475398"/>
            <a:ext cx="3315571" cy="59690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5701"/>
              </a:lnSpc>
              <a:buNone/>
            </a:pPr>
            <a:r>
              <a:rPr lang="en-US" sz="4500" b="1">
                <a:solidFill>
                  <a:srgbClr val="F59A43"/>
                </a:solidFill>
                <a:latin typeface="Roboto Slab" pitchFamily="34" charset="0"/>
                <a:ea typeface="Roboto Slab" pitchFamily="34" charset="-122"/>
                <a:cs typeface="Roboto Slab" pitchFamily="34" charset="-120"/>
              </a:rPr>
              <a:t>6%</a:t>
            </a:r>
            <a:endParaRPr lang="en-US" sz="4500"/>
          </a:p>
        </p:txBody>
      </p:sp>
      <p:sp>
        <p:nvSpPr>
          <p:cNvPr id="10" name="Text 8"/>
          <p:cNvSpPr/>
          <p:nvPr/>
        </p:nvSpPr>
        <p:spPr>
          <a:xfrm>
            <a:off x="4588923" y="3173898"/>
            <a:ext cx="3104580" cy="339703"/>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3750"/>
              </a:lnSpc>
              <a:buNone/>
            </a:pPr>
            <a:r>
              <a:rPr lang="en-US" sz="1500" b="1">
                <a:solidFill>
                  <a:srgbClr val="241D3B"/>
                </a:solidFill>
                <a:latin typeface="Roboto Slab" pitchFamily="34" charset="0"/>
                <a:ea typeface="Roboto Slab" pitchFamily="34" charset="-122"/>
                <a:cs typeface="Roboto Slab" pitchFamily="34" charset="-120"/>
              </a:rPr>
              <a:t>Utilization in 45 Days</a:t>
            </a:r>
            <a:endParaRPr lang="en-US" sz="1500"/>
          </a:p>
        </p:txBody>
      </p:sp>
      <p:sp>
        <p:nvSpPr>
          <p:cNvPr id="11" name="Text 9"/>
          <p:cNvSpPr/>
          <p:nvPr/>
        </p:nvSpPr>
        <p:spPr>
          <a:xfrm>
            <a:off x="4588923" y="3615201"/>
            <a:ext cx="3104580" cy="482578"/>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7059"/>
              </a:lnSpc>
              <a:buNone/>
            </a:pPr>
            <a:r>
              <a:rPr lang="en-US" sz="1200">
                <a:solidFill>
                  <a:srgbClr val="423F4B"/>
                </a:solidFill>
                <a:latin typeface="Roboto" pitchFamily="34" charset="0"/>
                <a:ea typeface="Roboto" pitchFamily="34" charset="-122"/>
                <a:cs typeface="Roboto" pitchFamily="34" charset="-120"/>
              </a:rPr>
              <a:t>Versus the 2–5% EAP benchmark across all conditions. Concentrated entirely on SUD.</a:t>
            </a:r>
            <a:endParaRPr lang="en-US" sz="1200"/>
          </a:p>
        </p:txBody>
      </p:sp>
      <p:sp>
        <p:nvSpPr>
          <p:cNvPr id="12" name="Shape 10"/>
          <p:cNvSpPr/>
          <p:nvPr/>
        </p:nvSpPr>
        <p:spPr>
          <a:xfrm>
            <a:off x="8060257" y="2196042"/>
            <a:ext cx="3522155" cy="3800905"/>
          </a:xfrm>
          <a:prstGeom prst="roundRect">
            <a:avLst>
              <a:gd name="adj" fmla="val 4687"/>
            </a:avLst>
          </a:prstGeom>
          <a:solidFill>
            <a:srgbClr val="D5EAED"/>
          </a:solidFill>
          <a:ln/>
        </p:spPr>
        <p:txBody>
          <a:bodyPr/>
          <a:lstStyle/>
          <a:p>
            <a:endParaRPr lang="en-US"/>
          </a:p>
        </p:txBody>
      </p:sp>
      <p:sp>
        <p:nvSpPr>
          <p:cNvPr id="13" name="Text 11"/>
          <p:cNvSpPr/>
          <p:nvPr/>
        </p:nvSpPr>
        <p:spPr>
          <a:xfrm>
            <a:off x="8314257" y="2475398"/>
            <a:ext cx="3315571" cy="59690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5701"/>
              </a:lnSpc>
              <a:buNone/>
            </a:pPr>
            <a:r>
              <a:rPr lang="en-US" sz="4500" b="1">
                <a:solidFill>
                  <a:srgbClr val="007788"/>
                </a:solidFill>
                <a:latin typeface="Roboto Slab" pitchFamily="34" charset="0"/>
                <a:ea typeface="Roboto Slab" pitchFamily="34" charset="-122"/>
                <a:cs typeface="Roboto Slab" pitchFamily="34" charset="-120"/>
              </a:rPr>
              <a:t>33%</a:t>
            </a:r>
            <a:endParaRPr lang="en-US" sz="4500"/>
          </a:p>
        </p:txBody>
      </p:sp>
      <p:sp>
        <p:nvSpPr>
          <p:cNvPr id="14" name="Text 12"/>
          <p:cNvSpPr/>
          <p:nvPr/>
        </p:nvSpPr>
        <p:spPr>
          <a:xfrm>
            <a:off x="8314256" y="3173898"/>
            <a:ext cx="3104580" cy="339703"/>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3750"/>
              </a:lnSpc>
              <a:buNone/>
            </a:pPr>
            <a:r>
              <a:rPr lang="en-US" sz="1500" b="1">
                <a:solidFill>
                  <a:srgbClr val="241D3B"/>
                </a:solidFill>
                <a:latin typeface="Roboto Slab" pitchFamily="34" charset="0"/>
                <a:ea typeface="Roboto Slab" pitchFamily="34" charset="-122"/>
                <a:cs typeface="Roboto Slab" pitchFamily="34" charset="-120"/>
              </a:rPr>
              <a:t>Webinar to Platform</a:t>
            </a:r>
            <a:endParaRPr lang="en-US" sz="1500"/>
          </a:p>
        </p:txBody>
      </p:sp>
      <p:sp>
        <p:nvSpPr>
          <p:cNvPr id="15" name="Text 13"/>
          <p:cNvSpPr/>
          <p:nvPr/>
        </p:nvSpPr>
        <p:spPr>
          <a:xfrm>
            <a:off x="8314256" y="3615201"/>
            <a:ext cx="3104580" cy="71116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7059"/>
              </a:lnSpc>
              <a:buNone/>
            </a:pPr>
            <a:r>
              <a:rPr lang="en-US" sz="1200">
                <a:solidFill>
                  <a:srgbClr val="423F4B"/>
                </a:solidFill>
                <a:latin typeface="Roboto" pitchFamily="34" charset="0"/>
                <a:ea typeface="Roboto" pitchFamily="34" charset="-122"/>
                <a:cs typeface="Roboto" pitchFamily="34" charset="-120"/>
              </a:rPr>
              <a:t>Of employees who attended a single optional webinar created an account on SOBRPath™.</a:t>
            </a:r>
            <a:endParaRPr lang="en-US" sz="1200"/>
          </a:p>
        </p:txBody>
      </p:sp>
      <p:sp>
        <p:nvSpPr>
          <p:cNvPr id="16" name="Text 14"/>
          <p:cNvSpPr/>
          <p:nvPr/>
        </p:nvSpPr>
        <p:spPr>
          <a:xfrm>
            <a:off x="609590" y="6225536"/>
            <a:ext cx="1130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a:solidFill>
                  <a:srgbClr val="7C7788"/>
                </a:solidFill>
                <a:latin typeface="Roboto" pitchFamily="34" charset="0"/>
                <a:ea typeface="Roboto" pitchFamily="34" charset="-122"/>
                <a:cs typeface="Roboto" pitchFamily="34" charset="-120"/>
              </a:rPr>
              <a:t>© Sobrynth · Choosing to be sober today.</a:t>
            </a:r>
            <a:endParaRPr lang="en-US" sz="1200"/>
          </a:p>
        </p:txBody>
      </p:sp>
      <p:sp>
        <p:nvSpPr>
          <p:cNvPr id="18" name="Text 0">
            <a:extLst>
              <a:ext uri="{FF2B5EF4-FFF2-40B4-BE49-F238E27FC236}">
                <a16:creationId xmlns:a16="http://schemas.microsoft.com/office/drawing/2014/main" id="{47B3192C-2A0F-4E8B-2A67-3CA3D53FFAE6}"/>
              </a:ext>
            </a:extLst>
          </p:cNvPr>
          <p:cNvSpPr/>
          <p:nvPr/>
        </p:nvSpPr>
        <p:spPr>
          <a:xfrm>
            <a:off x="939591" y="558768"/>
            <a:ext cx="1097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570">
              <a:lnSpc>
                <a:spcPct val="139765"/>
              </a:lnSpc>
            </a:pPr>
            <a:r>
              <a:rPr lang="en-US" b="1" kern="0" spc="168">
                <a:solidFill>
                  <a:srgbClr val="FFAD5B"/>
                </a:solidFill>
                <a:latin typeface="Aptos" panose="02110004020202020204"/>
                <a:ea typeface="Roboto"/>
                <a:cs typeface="Roboto"/>
              </a:rPr>
              <a:t>SOBRYNTH RESULTS</a:t>
            </a:r>
            <a:endParaRPr lang="en-US"/>
          </a:p>
        </p:txBody>
      </p:sp>
      <p:pic>
        <p:nvPicPr>
          <p:cNvPr id="20" name="Labyrinth Icon" descr="A black maze on an orange background&#10;&#10;AI-generated content may be incorrect.">
            <a:extLst>
              <a:ext uri="{FF2B5EF4-FFF2-40B4-BE49-F238E27FC236}">
                <a16:creationId xmlns:a16="http://schemas.microsoft.com/office/drawing/2014/main" id="{6BDD6CD2-1448-E1F6-1F29-2567FA3ACE41}"/>
              </a:ext>
            </a:extLst>
          </p:cNvPr>
          <p:cNvPicPr>
            <a:picLocks noChangeAspect="1"/>
          </p:cNvPicPr>
          <p:nvPr/>
        </p:nvPicPr>
        <p:blipFill>
          <a:blip r:embed="rId3"/>
          <a:stretch>
            <a:fillRect/>
          </a:stretch>
        </p:blipFill>
        <p:spPr>
          <a:xfrm>
            <a:off x="609590" y="597200"/>
            <a:ext cx="220000" cy="20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D71AA-FD4A-9198-1203-30B90D861B8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9D39DAB-C90C-2780-4A06-0BBDA96BDEDA}"/>
              </a:ext>
            </a:extLst>
          </p:cNvPr>
          <p:cNvSpPr/>
          <p:nvPr/>
        </p:nvSpPr>
        <p:spPr>
          <a:xfrm>
            <a:off x="635000" y="977912"/>
            <a:ext cx="12014201" cy="405077"/>
          </a:xfrm>
          <a:prstGeom prst="rect">
            <a:avLst/>
          </a:prstGeom>
          <a:noFill/>
          <a:ln/>
        </p:spPr>
        <p:txBody>
          <a:bodyPr wrap="square" lIns="16933" tIns="16933" rIns="16933" bIns="16933" rtlCol="0" anchor="t">
            <a:normAutofit lnSpcReduction="10000"/>
          </a:bodyPr>
          <a:lstStyle/>
          <a:p>
            <a:pPr>
              <a:lnSpc>
                <a:spcPct val="87512"/>
              </a:lnSpc>
            </a:pPr>
            <a:r>
              <a:rPr lang="en-US" sz="2933" b="1">
                <a:solidFill>
                  <a:srgbClr val="59468D"/>
                </a:solidFill>
                <a:latin typeface="Roboto Slab" pitchFamily="2" charset="0"/>
                <a:ea typeface="Roboto Slab" pitchFamily="2" charset="0"/>
                <a:cs typeface="Roboto Slab" pitchFamily="2" charset="0"/>
              </a:rPr>
              <a:t>Gardner Builders. 8x EAP Utilization.</a:t>
            </a:r>
          </a:p>
        </p:txBody>
      </p:sp>
      <p:sp>
        <p:nvSpPr>
          <p:cNvPr id="4" name="Text 2">
            <a:extLst>
              <a:ext uri="{FF2B5EF4-FFF2-40B4-BE49-F238E27FC236}">
                <a16:creationId xmlns:a16="http://schemas.microsoft.com/office/drawing/2014/main" id="{C61B4DF4-9E4A-682D-EBC3-302DE970F288}"/>
              </a:ext>
            </a:extLst>
          </p:cNvPr>
          <p:cNvSpPr/>
          <p:nvPr/>
        </p:nvSpPr>
        <p:spPr>
          <a:xfrm>
            <a:off x="635000" y="1471856"/>
            <a:ext cx="12014201" cy="248257"/>
          </a:xfrm>
          <a:prstGeom prst="rect">
            <a:avLst/>
          </a:prstGeom>
          <a:noFill/>
          <a:ln/>
        </p:spPr>
        <p:txBody>
          <a:bodyPr wrap="square" lIns="16933" tIns="16933" rIns="16933" bIns="16933" rtlCol="0" anchor="t">
            <a:normAutofit lnSpcReduction="10000"/>
          </a:bodyPr>
          <a:lstStyle/>
          <a:p>
            <a:pPr>
              <a:lnSpc>
                <a:spcPct val="110842"/>
              </a:lnSpc>
            </a:pPr>
            <a:r>
              <a:rPr lang="en-US" sz="1350">
                <a:solidFill>
                  <a:srgbClr val="7C7788"/>
                </a:solidFill>
                <a:latin typeface="Roboto" pitchFamily="34" charset="0"/>
                <a:ea typeface="Roboto" pitchFamily="34" charset="-122"/>
                <a:cs typeface="Roboto" pitchFamily="34" charset="-120"/>
              </a:rPr>
              <a:t>250 employees. Minnesota commercial construction. The hardest room we have ever walked into.</a:t>
            </a:r>
            <a:endParaRPr lang="en-US" sz="1350"/>
          </a:p>
        </p:txBody>
      </p:sp>
      <p:sp>
        <p:nvSpPr>
          <p:cNvPr id="5" name="Text 3">
            <a:extLst>
              <a:ext uri="{FF2B5EF4-FFF2-40B4-BE49-F238E27FC236}">
                <a16:creationId xmlns:a16="http://schemas.microsoft.com/office/drawing/2014/main" id="{7E10CA60-94CC-85EE-14A9-7099E74FE515}"/>
              </a:ext>
            </a:extLst>
          </p:cNvPr>
          <p:cNvSpPr/>
          <p:nvPr/>
        </p:nvSpPr>
        <p:spPr>
          <a:xfrm>
            <a:off x="635000" y="2101067"/>
            <a:ext cx="2779145" cy="734043"/>
          </a:xfrm>
          <a:prstGeom prst="rect">
            <a:avLst/>
          </a:prstGeom>
          <a:noFill/>
          <a:ln/>
        </p:spPr>
        <p:txBody>
          <a:bodyPr wrap="square" lIns="16933" tIns="16933" rIns="16933" bIns="16933" rtlCol="0" anchor="t">
            <a:normAutofit/>
          </a:bodyPr>
          <a:lstStyle/>
          <a:p>
            <a:pPr>
              <a:lnSpc>
                <a:spcPct val="68327"/>
              </a:lnSpc>
            </a:pPr>
            <a:r>
              <a:rPr lang="en-US" sz="6200" b="1">
                <a:solidFill>
                  <a:srgbClr val="59468D"/>
                </a:solidFill>
                <a:latin typeface="Roboto Slab" pitchFamily="34" charset="0"/>
                <a:ea typeface="Roboto Slab" pitchFamily="34" charset="-122"/>
                <a:cs typeface="Roboto Slab" pitchFamily="34" charset="-120"/>
              </a:rPr>
              <a:t>100%</a:t>
            </a:r>
            <a:endParaRPr lang="en-US" sz="6200">
              <a:solidFill>
                <a:srgbClr val="59468D"/>
              </a:solidFill>
            </a:endParaRPr>
          </a:p>
        </p:txBody>
      </p:sp>
      <p:sp>
        <p:nvSpPr>
          <p:cNvPr id="6" name="Text 4">
            <a:extLst>
              <a:ext uri="{FF2B5EF4-FFF2-40B4-BE49-F238E27FC236}">
                <a16:creationId xmlns:a16="http://schemas.microsoft.com/office/drawing/2014/main" id="{F6CB1FD7-C857-8860-E1DA-B487BF95EA17}"/>
              </a:ext>
            </a:extLst>
          </p:cNvPr>
          <p:cNvSpPr/>
          <p:nvPr/>
        </p:nvSpPr>
        <p:spPr>
          <a:xfrm>
            <a:off x="635000" y="2898566"/>
            <a:ext cx="2602290" cy="734042"/>
          </a:xfrm>
          <a:prstGeom prst="rect">
            <a:avLst/>
          </a:prstGeom>
          <a:noFill/>
          <a:ln/>
        </p:spPr>
        <p:txBody>
          <a:bodyPr wrap="square" lIns="16933" tIns="16933" rIns="16933" bIns="16933" rtlCol="0" anchor="t">
            <a:normAutofit/>
          </a:bodyPr>
          <a:lstStyle/>
          <a:p>
            <a:pPr>
              <a:lnSpc>
                <a:spcPct val="108333"/>
              </a:lnSpc>
            </a:pPr>
            <a:r>
              <a:rPr lang="en-US" sz="1300" spc="200">
                <a:solidFill>
                  <a:schemeClr val="bg2">
                    <a:lumMod val="50000"/>
                  </a:schemeClr>
                </a:solidFill>
                <a:latin typeface="Roboto" panose="02000000000000000000" pitchFamily="2" charset="0"/>
                <a:ea typeface="Roboto" panose="02000000000000000000" pitchFamily="2" charset="0"/>
                <a:cs typeface="Roboto" panose="02000000000000000000" pitchFamily="2" charset="0"/>
              </a:rPr>
              <a:t>EMPLOYEE AWARENESS AT 45 DAYS</a:t>
            </a:r>
          </a:p>
        </p:txBody>
      </p:sp>
      <p:sp>
        <p:nvSpPr>
          <p:cNvPr id="7" name="Text 5">
            <a:extLst>
              <a:ext uri="{FF2B5EF4-FFF2-40B4-BE49-F238E27FC236}">
                <a16:creationId xmlns:a16="http://schemas.microsoft.com/office/drawing/2014/main" id="{E4200742-5A65-9829-D825-61D97EA5C210}"/>
              </a:ext>
            </a:extLst>
          </p:cNvPr>
          <p:cNvSpPr/>
          <p:nvPr/>
        </p:nvSpPr>
        <p:spPr>
          <a:xfrm>
            <a:off x="3542496" y="2101067"/>
            <a:ext cx="2779145" cy="734043"/>
          </a:xfrm>
          <a:prstGeom prst="rect">
            <a:avLst/>
          </a:prstGeom>
          <a:noFill/>
          <a:ln/>
        </p:spPr>
        <p:txBody>
          <a:bodyPr wrap="square" lIns="16933" tIns="16933" rIns="16933" bIns="16933" rtlCol="0" anchor="t">
            <a:normAutofit/>
          </a:bodyPr>
          <a:lstStyle/>
          <a:p>
            <a:pPr>
              <a:lnSpc>
                <a:spcPct val="68327"/>
              </a:lnSpc>
            </a:pPr>
            <a:r>
              <a:rPr lang="en-US" sz="6200" b="1">
                <a:solidFill>
                  <a:srgbClr val="59468D"/>
                </a:solidFill>
                <a:latin typeface="Roboto Slab" pitchFamily="34" charset="0"/>
                <a:ea typeface="Roboto Slab" pitchFamily="34" charset="-122"/>
                <a:cs typeface="Roboto Slab" pitchFamily="34" charset="-120"/>
              </a:rPr>
              <a:t>6%</a:t>
            </a:r>
            <a:endParaRPr lang="en-US" sz="6200">
              <a:solidFill>
                <a:srgbClr val="59468D"/>
              </a:solidFill>
            </a:endParaRPr>
          </a:p>
        </p:txBody>
      </p:sp>
      <p:sp>
        <p:nvSpPr>
          <p:cNvPr id="8" name="Text 6">
            <a:extLst>
              <a:ext uri="{FF2B5EF4-FFF2-40B4-BE49-F238E27FC236}">
                <a16:creationId xmlns:a16="http://schemas.microsoft.com/office/drawing/2014/main" id="{F0A121D0-A766-23AA-705D-DACDBA77F4FE}"/>
              </a:ext>
            </a:extLst>
          </p:cNvPr>
          <p:cNvSpPr/>
          <p:nvPr/>
        </p:nvSpPr>
        <p:spPr>
          <a:xfrm>
            <a:off x="3542496" y="2898566"/>
            <a:ext cx="2779145" cy="718619"/>
          </a:xfrm>
          <a:prstGeom prst="rect">
            <a:avLst/>
          </a:prstGeom>
          <a:noFill/>
          <a:ln/>
        </p:spPr>
        <p:txBody>
          <a:bodyPr wrap="square" lIns="16933" tIns="16933" rIns="16933" bIns="16933" rtlCol="0" anchor="t">
            <a:normAutofit/>
          </a:bodyPr>
          <a:lstStyle/>
          <a:p>
            <a:pPr>
              <a:lnSpc>
                <a:spcPct val="108333"/>
              </a:lnSpc>
            </a:pPr>
            <a:r>
              <a:rPr lang="en-US" sz="1300" kern="0" spc="156">
                <a:solidFill>
                  <a:srgbClr val="5B5766"/>
                </a:solidFill>
                <a:latin typeface="Roboto" pitchFamily="34" charset="0"/>
                <a:ea typeface="Roboto" pitchFamily="34" charset="-122"/>
                <a:cs typeface="Roboto" pitchFamily="34" charset="-120"/>
              </a:rPr>
              <a:t>UNIQUE EMPLOYEE UTILIZATION WITHIN 45 DAYS</a:t>
            </a:r>
            <a:endParaRPr lang="en-US" sz="1300"/>
          </a:p>
        </p:txBody>
      </p:sp>
      <p:sp>
        <p:nvSpPr>
          <p:cNvPr id="9" name="Text 7">
            <a:extLst>
              <a:ext uri="{FF2B5EF4-FFF2-40B4-BE49-F238E27FC236}">
                <a16:creationId xmlns:a16="http://schemas.microsoft.com/office/drawing/2014/main" id="{895A15A4-7E50-5FA1-94B7-AFC8DACD16B2}"/>
              </a:ext>
            </a:extLst>
          </p:cNvPr>
          <p:cNvSpPr/>
          <p:nvPr/>
        </p:nvSpPr>
        <p:spPr>
          <a:xfrm>
            <a:off x="635000" y="4327095"/>
            <a:ext cx="2779145" cy="734043"/>
          </a:xfrm>
          <a:prstGeom prst="rect">
            <a:avLst/>
          </a:prstGeom>
          <a:noFill/>
          <a:ln/>
        </p:spPr>
        <p:txBody>
          <a:bodyPr wrap="square" lIns="16933" tIns="16933" rIns="16933" bIns="16933" rtlCol="0" anchor="t">
            <a:normAutofit/>
          </a:bodyPr>
          <a:lstStyle/>
          <a:p>
            <a:pPr>
              <a:lnSpc>
                <a:spcPct val="68327"/>
              </a:lnSpc>
            </a:pPr>
            <a:endParaRPr lang="en-US" sz="6200"/>
          </a:p>
        </p:txBody>
      </p:sp>
      <p:sp>
        <p:nvSpPr>
          <p:cNvPr id="10" name="Text 8">
            <a:extLst>
              <a:ext uri="{FF2B5EF4-FFF2-40B4-BE49-F238E27FC236}">
                <a16:creationId xmlns:a16="http://schemas.microsoft.com/office/drawing/2014/main" id="{AE8D681A-E2F0-DC0A-A1F9-8D509F74225B}"/>
              </a:ext>
            </a:extLst>
          </p:cNvPr>
          <p:cNvSpPr/>
          <p:nvPr/>
        </p:nvSpPr>
        <p:spPr>
          <a:xfrm>
            <a:off x="635000" y="5124594"/>
            <a:ext cx="2602290" cy="608949"/>
          </a:xfrm>
          <a:prstGeom prst="rect">
            <a:avLst/>
          </a:prstGeom>
          <a:noFill/>
          <a:ln/>
        </p:spPr>
        <p:txBody>
          <a:bodyPr wrap="square" lIns="16933" tIns="16933" rIns="16933" bIns="16933" rtlCol="0" anchor="t">
            <a:normAutofit/>
          </a:bodyPr>
          <a:lstStyle/>
          <a:p>
            <a:pPr>
              <a:lnSpc>
                <a:spcPct val="108333"/>
              </a:lnSpc>
            </a:pPr>
            <a:r>
              <a:rPr lang="en-US" sz="1300" kern="0" spc="156">
                <a:solidFill>
                  <a:srgbClr val="5B5766"/>
                </a:solidFill>
                <a:latin typeface="Roboto" pitchFamily="34" charset="0"/>
                <a:ea typeface="Roboto" pitchFamily="34" charset="-122"/>
                <a:cs typeface="Roboto" pitchFamily="34" charset="-120"/>
              </a:rPr>
              <a:t>UTILIZATION COMPARED TO AVERAGE EAP</a:t>
            </a:r>
            <a:endParaRPr lang="en-US" sz="1300"/>
          </a:p>
        </p:txBody>
      </p:sp>
      <p:sp>
        <p:nvSpPr>
          <p:cNvPr id="11" name="Text 9">
            <a:extLst>
              <a:ext uri="{FF2B5EF4-FFF2-40B4-BE49-F238E27FC236}">
                <a16:creationId xmlns:a16="http://schemas.microsoft.com/office/drawing/2014/main" id="{874387C6-04D0-AFB5-E93D-43AFFBE5A210}"/>
              </a:ext>
            </a:extLst>
          </p:cNvPr>
          <p:cNvSpPr/>
          <p:nvPr/>
        </p:nvSpPr>
        <p:spPr>
          <a:xfrm>
            <a:off x="3542496" y="4327095"/>
            <a:ext cx="2779145" cy="734043"/>
          </a:xfrm>
          <a:prstGeom prst="rect">
            <a:avLst/>
          </a:prstGeom>
          <a:noFill/>
          <a:ln/>
        </p:spPr>
        <p:txBody>
          <a:bodyPr wrap="square" lIns="16933" tIns="16933" rIns="16933" bIns="16933" rtlCol="0" anchor="t">
            <a:normAutofit/>
          </a:bodyPr>
          <a:lstStyle/>
          <a:p>
            <a:pPr>
              <a:lnSpc>
                <a:spcPct val="68327"/>
              </a:lnSpc>
            </a:pPr>
            <a:r>
              <a:rPr lang="en-US" sz="6200" b="1">
                <a:solidFill>
                  <a:srgbClr val="59468D"/>
                </a:solidFill>
                <a:latin typeface="Roboto Slab" pitchFamily="34" charset="0"/>
                <a:ea typeface="Roboto Slab" pitchFamily="34" charset="-122"/>
                <a:cs typeface="Roboto Slab" pitchFamily="34" charset="-120"/>
              </a:rPr>
              <a:t>3X</a:t>
            </a:r>
            <a:endParaRPr lang="en-US" sz="6200">
              <a:solidFill>
                <a:srgbClr val="59468D"/>
              </a:solidFill>
            </a:endParaRPr>
          </a:p>
        </p:txBody>
      </p:sp>
      <p:sp>
        <p:nvSpPr>
          <p:cNvPr id="12" name="Text 10">
            <a:extLst>
              <a:ext uri="{FF2B5EF4-FFF2-40B4-BE49-F238E27FC236}">
                <a16:creationId xmlns:a16="http://schemas.microsoft.com/office/drawing/2014/main" id="{B09E64F9-F397-D551-765F-FF66AC03F905}"/>
              </a:ext>
            </a:extLst>
          </p:cNvPr>
          <p:cNvSpPr/>
          <p:nvPr/>
        </p:nvSpPr>
        <p:spPr>
          <a:xfrm>
            <a:off x="3414145" y="5081601"/>
            <a:ext cx="3458952" cy="295175"/>
          </a:xfrm>
          <a:prstGeom prst="rect">
            <a:avLst/>
          </a:prstGeom>
          <a:noFill/>
          <a:ln/>
        </p:spPr>
        <p:txBody>
          <a:bodyPr wrap="square" lIns="16933" tIns="16933" rIns="16933" bIns="16933" rtlCol="0" anchor="t">
            <a:noAutofit/>
          </a:bodyPr>
          <a:lstStyle/>
          <a:p>
            <a:pPr>
              <a:lnSpc>
                <a:spcPct val="108333"/>
              </a:lnSpc>
            </a:pPr>
            <a:r>
              <a:rPr lang="en-US" sz="1300" kern="0" spc="156">
                <a:solidFill>
                  <a:srgbClr val="5B5766"/>
                </a:solidFill>
                <a:latin typeface="Roboto" pitchFamily="34" charset="0"/>
                <a:ea typeface="Roboto" pitchFamily="34" charset="-122"/>
                <a:cs typeface="Roboto" pitchFamily="34" charset="-120"/>
              </a:rPr>
              <a:t>UTILIZATION OF </a:t>
            </a:r>
          </a:p>
          <a:p>
            <a:pPr>
              <a:lnSpc>
                <a:spcPct val="108333"/>
              </a:lnSpc>
            </a:pPr>
            <a:r>
              <a:rPr lang="en-US" sz="1300" kern="0" spc="156">
                <a:solidFill>
                  <a:srgbClr val="5B5766"/>
                </a:solidFill>
                <a:latin typeface="Roboto" pitchFamily="34" charset="0"/>
                <a:ea typeface="Roboto" pitchFamily="34" charset="-122"/>
                <a:cs typeface="Roboto" pitchFamily="34" charset="-120"/>
              </a:rPr>
              <a:t>TRADITIONAL EAPS</a:t>
            </a:r>
            <a:endParaRPr lang="en-US" sz="1300"/>
          </a:p>
        </p:txBody>
      </p:sp>
      <p:sp>
        <p:nvSpPr>
          <p:cNvPr id="13" name="Shape 11">
            <a:extLst>
              <a:ext uri="{FF2B5EF4-FFF2-40B4-BE49-F238E27FC236}">
                <a16:creationId xmlns:a16="http://schemas.microsoft.com/office/drawing/2014/main" id="{57E4ADCF-2B95-D782-9760-77DEB1BF947C}"/>
              </a:ext>
            </a:extLst>
          </p:cNvPr>
          <p:cNvSpPr/>
          <p:nvPr/>
        </p:nvSpPr>
        <p:spPr>
          <a:xfrm>
            <a:off x="6640491" y="2101068"/>
            <a:ext cx="4916509" cy="4121933"/>
          </a:xfrm>
          <a:prstGeom prst="roundRect">
            <a:avLst>
              <a:gd name="adj" fmla="val 4314"/>
            </a:avLst>
          </a:prstGeom>
          <a:solidFill>
            <a:srgbClr val="DDD5FF"/>
          </a:solidFill>
          <a:ln/>
        </p:spPr>
        <p:txBody>
          <a:bodyPr/>
          <a:lstStyle/>
          <a:p>
            <a:endParaRPr lang="en-US" sz="1200"/>
          </a:p>
        </p:txBody>
      </p:sp>
      <p:pic>
        <p:nvPicPr>
          <p:cNvPr id="14" name="Image 0" descr="preencoded.png">
            <a:extLst>
              <a:ext uri="{FF2B5EF4-FFF2-40B4-BE49-F238E27FC236}">
                <a16:creationId xmlns:a16="http://schemas.microsoft.com/office/drawing/2014/main" id="{C6BEBB20-00AA-B190-6B40-FA103B0106D2}"/>
              </a:ext>
            </a:extLst>
          </p:cNvPr>
          <p:cNvPicPr>
            <a:picLocks noChangeAspect="1"/>
          </p:cNvPicPr>
          <p:nvPr/>
        </p:nvPicPr>
        <p:blipFill>
          <a:blip>
            <a:alphaModFix amt="35000"/>
            <a:extLst>
              <a:ext uri="{96DAC541-7B7A-43D3-8B79-37D633B846F1}">
                <asvg:svgBlip xmlns:asvg="http://schemas.microsoft.com/office/drawing/2016/SVG/main" r:embed="rId3"/>
              </a:ext>
            </a:extLst>
          </a:blip>
          <a:stretch>
            <a:fillRect/>
          </a:stretch>
        </p:blipFill>
        <p:spPr>
          <a:xfrm>
            <a:off x="6970669" y="2969507"/>
            <a:ext cx="444500" cy="444500"/>
          </a:xfrm>
          <a:prstGeom prst="rect">
            <a:avLst/>
          </a:prstGeom>
        </p:spPr>
      </p:pic>
      <p:sp>
        <p:nvSpPr>
          <p:cNvPr id="15" name="Text 12">
            <a:extLst>
              <a:ext uri="{FF2B5EF4-FFF2-40B4-BE49-F238E27FC236}">
                <a16:creationId xmlns:a16="http://schemas.microsoft.com/office/drawing/2014/main" id="{DEDA3A37-93B8-9920-FFA7-148832F1A888}"/>
              </a:ext>
            </a:extLst>
          </p:cNvPr>
          <p:cNvSpPr/>
          <p:nvPr/>
        </p:nvSpPr>
        <p:spPr>
          <a:xfrm>
            <a:off x="6970669" y="3617186"/>
            <a:ext cx="4383839" cy="1328473"/>
          </a:xfrm>
          <a:prstGeom prst="rect">
            <a:avLst/>
          </a:prstGeom>
          <a:noFill/>
          <a:ln/>
        </p:spPr>
        <p:txBody>
          <a:bodyPr wrap="square" lIns="16933" tIns="16933" rIns="16933" bIns="16933" rtlCol="0" anchor="t">
            <a:normAutofit fontScale="92500" lnSpcReduction="10000"/>
          </a:bodyPr>
          <a:lstStyle/>
          <a:p>
            <a:r>
              <a:rPr lang="en-US" sz="1900" i="1">
                <a:solidFill>
                  <a:srgbClr val="59468D"/>
                </a:solidFill>
                <a:latin typeface="Roboto Slab" pitchFamily="34" charset="0"/>
                <a:ea typeface="Roboto Slab" pitchFamily="34" charset="-122"/>
                <a:cs typeface="Roboto Slab" pitchFamily="34" charset="-120"/>
              </a:rPr>
              <a:t>Our goal is to be a place where people feel valued, challenged, and love coming to work. You can’t love your work if you don’t feel safe asking for help. </a:t>
            </a:r>
            <a:endParaRPr lang="en-US" sz="1900" i="1">
              <a:solidFill>
                <a:srgbClr val="59468D"/>
              </a:solidFill>
            </a:endParaRPr>
          </a:p>
        </p:txBody>
      </p:sp>
      <p:sp>
        <p:nvSpPr>
          <p:cNvPr id="16" name="Text 13">
            <a:extLst>
              <a:ext uri="{FF2B5EF4-FFF2-40B4-BE49-F238E27FC236}">
                <a16:creationId xmlns:a16="http://schemas.microsoft.com/office/drawing/2014/main" id="{D6166ABE-EEC4-FA91-A29E-E48CAE9A0A56}"/>
              </a:ext>
            </a:extLst>
          </p:cNvPr>
          <p:cNvSpPr/>
          <p:nvPr/>
        </p:nvSpPr>
        <p:spPr>
          <a:xfrm>
            <a:off x="6875231" y="5124594"/>
            <a:ext cx="4681769" cy="256525"/>
          </a:xfrm>
          <a:prstGeom prst="rect">
            <a:avLst/>
          </a:prstGeom>
          <a:noFill/>
          <a:ln/>
        </p:spPr>
        <p:txBody>
          <a:bodyPr wrap="square" lIns="16933" tIns="16933" rIns="16933" bIns="16933" rtlCol="0" anchor="t">
            <a:normAutofit lnSpcReduction="10000"/>
          </a:bodyPr>
          <a:lstStyle/>
          <a:p>
            <a:pPr>
              <a:lnSpc>
                <a:spcPct val="121333"/>
              </a:lnSpc>
            </a:pPr>
            <a:r>
              <a:rPr lang="en-US" sz="1300" b="1">
                <a:solidFill>
                  <a:srgbClr val="59468D"/>
                </a:solidFill>
                <a:latin typeface="Roboto" pitchFamily="34" charset="0"/>
                <a:ea typeface="Roboto" pitchFamily="34" charset="-122"/>
                <a:cs typeface="Roboto" pitchFamily="34" charset="-120"/>
              </a:rPr>
              <a:t>Kathryn Wegler, Employee Engagement Director, Gardner Builders</a:t>
            </a:r>
            <a:endParaRPr lang="en-US" sz="1300">
              <a:solidFill>
                <a:srgbClr val="59468D"/>
              </a:solidFill>
            </a:endParaRPr>
          </a:p>
        </p:txBody>
      </p:sp>
      <p:sp>
        <p:nvSpPr>
          <p:cNvPr id="17" name="Text 5">
            <a:extLst>
              <a:ext uri="{FF2B5EF4-FFF2-40B4-BE49-F238E27FC236}">
                <a16:creationId xmlns:a16="http://schemas.microsoft.com/office/drawing/2014/main" id="{20BB4386-DAD2-83B7-D000-603E252F03AC}"/>
              </a:ext>
            </a:extLst>
          </p:cNvPr>
          <p:cNvSpPr/>
          <p:nvPr/>
        </p:nvSpPr>
        <p:spPr>
          <a:xfrm>
            <a:off x="560859" y="4281421"/>
            <a:ext cx="2779145" cy="734043"/>
          </a:xfrm>
          <a:prstGeom prst="rect">
            <a:avLst/>
          </a:prstGeom>
          <a:noFill/>
          <a:ln/>
        </p:spPr>
        <p:txBody>
          <a:bodyPr wrap="square" lIns="16933" tIns="16933" rIns="16933" bIns="16933" rtlCol="0" anchor="t">
            <a:normAutofit/>
          </a:bodyPr>
          <a:lstStyle/>
          <a:p>
            <a:pPr>
              <a:lnSpc>
                <a:spcPct val="68327"/>
              </a:lnSpc>
            </a:pPr>
            <a:r>
              <a:rPr lang="en-US" sz="6200" b="1">
                <a:solidFill>
                  <a:srgbClr val="59468D"/>
                </a:solidFill>
                <a:latin typeface="Roboto Slab" pitchFamily="34" charset="0"/>
                <a:ea typeface="Roboto Slab" pitchFamily="34" charset="-122"/>
                <a:cs typeface="Roboto Slab" pitchFamily="34" charset="-120"/>
              </a:rPr>
              <a:t>8x</a:t>
            </a:r>
            <a:endParaRPr lang="en-US" sz="6200">
              <a:solidFill>
                <a:srgbClr val="59468D"/>
              </a:solidFill>
            </a:endParaRPr>
          </a:p>
        </p:txBody>
      </p:sp>
      <p:sp>
        <p:nvSpPr>
          <p:cNvPr id="23" name="Text 0">
            <a:extLst>
              <a:ext uri="{FF2B5EF4-FFF2-40B4-BE49-F238E27FC236}">
                <a16:creationId xmlns:a16="http://schemas.microsoft.com/office/drawing/2014/main" id="{96E4A509-BCF5-1BBC-D86E-96D6679F22E7}"/>
              </a:ext>
            </a:extLst>
          </p:cNvPr>
          <p:cNvSpPr/>
          <p:nvPr/>
        </p:nvSpPr>
        <p:spPr>
          <a:xfrm>
            <a:off x="939591" y="558768"/>
            <a:ext cx="1097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570">
              <a:lnSpc>
                <a:spcPct val="139765"/>
              </a:lnSpc>
            </a:pPr>
            <a:r>
              <a:rPr lang="en-US" sz="1200" b="1" kern="0" spc="168">
                <a:solidFill>
                  <a:srgbClr val="FFAD5B"/>
                </a:solidFill>
                <a:latin typeface="Aptos" panose="02110004020202020204"/>
                <a:ea typeface="Roboto"/>
                <a:cs typeface="Roboto"/>
              </a:rPr>
              <a:t>PROOF IT WORKS</a:t>
            </a:r>
            <a:endParaRPr lang="en-US" sz="1200">
              <a:solidFill>
                <a:srgbClr val="FFAD5B"/>
              </a:solidFill>
              <a:latin typeface="Roboto"/>
              <a:ea typeface="Roboto"/>
              <a:cs typeface="Roboto"/>
            </a:endParaRPr>
          </a:p>
        </p:txBody>
      </p:sp>
      <p:pic>
        <p:nvPicPr>
          <p:cNvPr id="25" name="Labyrinth Icon" descr="A black maze on an orange background&#10;&#10;AI-generated content may be incorrect.">
            <a:extLst>
              <a:ext uri="{FF2B5EF4-FFF2-40B4-BE49-F238E27FC236}">
                <a16:creationId xmlns:a16="http://schemas.microsoft.com/office/drawing/2014/main" id="{31AE043E-7C38-369D-2267-D2EB9B50A98E}"/>
              </a:ext>
            </a:extLst>
          </p:cNvPr>
          <p:cNvPicPr>
            <a:picLocks noChangeAspect="1"/>
          </p:cNvPicPr>
          <p:nvPr/>
        </p:nvPicPr>
        <p:blipFill>
          <a:blip r:embed="rId4"/>
          <a:stretch>
            <a:fillRect/>
          </a:stretch>
        </p:blipFill>
        <p:spPr>
          <a:xfrm>
            <a:off x="609590" y="597200"/>
            <a:ext cx="220000" cy="200000"/>
          </a:xfrm>
          <a:prstGeom prst="rect">
            <a:avLst/>
          </a:prstGeom>
        </p:spPr>
      </p:pic>
    </p:spTree>
    <p:extLst>
      <p:ext uri="{BB962C8B-B14F-4D97-AF65-F5344CB8AC3E}">
        <p14:creationId xmlns:p14="http://schemas.microsoft.com/office/powerpoint/2010/main" val="1877951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35000" y="977912"/>
            <a:ext cx="12014201" cy="405077"/>
          </a:xfrm>
          <a:prstGeom prst="rect">
            <a:avLst/>
          </a:prstGeom>
          <a:noFill/>
          <a:ln/>
        </p:spPr>
        <p:txBody>
          <a:bodyPr wrap="square" lIns="16933" tIns="16933" rIns="16933" bIns="16933" rtlCol="0" anchor="t">
            <a:normAutofit lnSpcReduction="10000"/>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87512"/>
              </a:lnSpc>
              <a:buNone/>
            </a:pPr>
            <a:r>
              <a:rPr lang="en-US" sz="2933" b="1">
                <a:solidFill>
                  <a:srgbClr val="59468D"/>
                </a:solidFill>
                <a:latin typeface="Roboto Slab" pitchFamily="2" charset="0"/>
                <a:ea typeface="Roboto Slab" pitchFamily="2" charset="0"/>
                <a:cs typeface="Roboto Slab" pitchFamily="2" charset="0"/>
              </a:rPr>
              <a:t>Olympia Hospitality. 3x Treatment for SUD. Flat $ YoY.</a:t>
            </a:r>
          </a:p>
        </p:txBody>
      </p:sp>
      <p:sp>
        <p:nvSpPr>
          <p:cNvPr id="4" name="Text 2"/>
          <p:cNvSpPr/>
          <p:nvPr/>
        </p:nvSpPr>
        <p:spPr>
          <a:xfrm>
            <a:off x="635000" y="1471856"/>
            <a:ext cx="12014201" cy="248257"/>
          </a:xfrm>
          <a:prstGeom prst="rect">
            <a:avLst/>
          </a:prstGeom>
          <a:noFill/>
          <a:ln/>
        </p:spPr>
        <p:txBody>
          <a:bodyPr wrap="square" lIns="16933" tIns="16933" rIns="16933" bIns="16933" rtlCol="0" anchor="t">
            <a:normAutofit lnSpcReduction="10000"/>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10842"/>
              </a:lnSpc>
              <a:buNone/>
            </a:pPr>
            <a:r>
              <a:rPr lang="en-US" sz="1350">
                <a:solidFill>
                  <a:srgbClr val="7C7788"/>
                </a:solidFill>
                <a:latin typeface="Roboto" pitchFamily="34" charset="0"/>
                <a:ea typeface="Roboto" pitchFamily="34" charset="-122"/>
                <a:cs typeface="Roboto" pitchFamily="34" charset="-120"/>
              </a:rPr>
              <a:t>2,000+ employees. 42 locations. The closest analogue to a multi-company, multi-site footprint.</a:t>
            </a:r>
            <a:endParaRPr lang="en-US" sz="1350"/>
          </a:p>
        </p:txBody>
      </p:sp>
      <p:sp>
        <p:nvSpPr>
          <p:cNvPr id="5" name="Text 3"/>
          <p:cNvSpPr/>
          <p:nvPr/>
        </p:nvSpPr>
        <p:spPr>
          <a:xfrm>
            <a:off x="635000" y="2101067"/>
            <a:ext cx="2779145" cy="734043"/>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68327"/>
              </a:lnSpc>
              <a:buNone/>
            </a:pPr>
            <a:r>
              <a:rPr lang="en-US" sz="6200" b="1">
                <a:solidFill>
                  <a:srgbClr val="007788"/>
                </a:solidFill>
                <a:latin typeface="Roboto Slab" pitchFamily="34" charset="0"/>
                <a:ea typeface="Roboto Slab" pitchFamily="34" charset="-122"/>
                <a:cs typeface="Roboto Slab" pitchFamily="34" charset="-120"/>
              </a:rPr>
              <a:t>3x</a:t>
            </a:r>
            <a:endParaRPr lang="en-US" sz="6200"/>
          </a:p>
        </p:txBody>
      </p:sp>
      <p:sp>
        <p:nvSpPr>
          <p:cNvPr id="6" name="Text 4"/>
          <p:cNvSpPr/>
          <p:nvPr/>
        </p:nvSpPr>
        <p:spPr>
          <a:xfrm>
            <a:off x="635000" y="2898566"/>
            <a:ext cx="2602290" cy="734042"/>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08333"/>
              </a:lnSpc>
              <a:buNone/>
            </a:pPr>
            <a:r>
              <a:rPr lang="en-US" sz="1300" kern="0" spc="156">
                <a:solidFill>
                  <a:srgbClr val="5B5766"/>
                </a:solidFill>
                <a:latin typeface="Roboto" pitchFamily="34" charset="0"/>
                <a:ea typeface="Roboto" pitchFamily="34" charset="-122"/>
                <a:cs typeface="Roboto" pitchFamily="34" charset="-120"/>
              </a:rPr>
              <a:t>TREATMENT-SEEKING RATE, NO INCREASE IN HEALTH SPEND</a:t>
            </a:r>
            <a:endParaRPr lang="en-US" sz="1300"/>
          </a:p>
        </p:txBody>
      </p:sp>
      <p:sp>
        <p:nvSpPr>
          <p:cNvPr id="7" name="Text 5"/>
          <p:cNvSpPr/>
          <p:nvPr/>
        </p:nvSpPr>
        <p:spPr>
          <a:xfrm>
            <a:off x="3542496" y="2101067"/>
            <a:ext cx="2779145" cy="734043"/>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68327"/>
              </a:lnSpc>
              <a:buNone/>
            </a:pPr>
            <a:r>
              <a:rPr lang="en-US" sz="6200" b="1">
                <a:solidFill>
                  <a:srgbClr val="007788"/>
                </a:solidFill>
                <a:latin typeface="Roboto Slab" pitchFamily="34" charset="0"/>
                <a:ea typeface="Roboto Slab" pitchFamily="34" charset="-122"/>
                <a:cs typeface="Roboto Slab" pitchFamily="34" charset="-120"/>
              </a:rPr>
              <a:t>91%</a:t>
            </a:r>
            <a:endParaRPr lang="en-US" sz="6200"/>
          </a:p>
        </p:txBody>
      </p:sp>
      <p:sp>
        <p:nvSpPr>
          <p:cNvPr id="8" name="Text 6"/>
          <p:cNvSpPr/>
          <p:nvPr/>
        </p:nvSpPr>
        <p:spPr>
          <a:xfrm>
            <a:off x="3542496" y="2898566"/>
            <a:ext cx="2779145" cy="231720"/>
          </a:xfrm>
          <a:prstGeom prst="rect">
            <a:avLst/>
          </a:prstGeom>
          <a:noFill/>
          <a:ln/>
        </p:spPr>
        <p:txBody>
          <a:bodyPr wrap="square" lIns="16933" tIns="16933" rIns="16933" bIns="16933" rtlCol="0" anchor="t">
            <a:normAutofit lnSpcReduction="10000"/>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08333"/>
              </a:lnSpc>
              <a:buNone/>
            </a:pPr>
            <a:r>
              <a:rPr lang="en-US" sz="1300" kern="0" spc="156">
                <a:solidFill>
                  <a:srgbClr val="5B5766"/>
                </a:solidFill>
                <a:latin typeface="Roboto" pitchFamily="34" charset="0"/>
                <a:ea typeface="Roboto" pitchFamily="34" charset="-122"/>
                <a:cs typeface="Roboto" pitchFamily="34" charset="-120"/>
              </a:rPr>
              <a:t>AWARENESS AT 90 DAYS</a:t>
            </a:r>
            <a:endParaRPr lang="en-US" sz="1300"/>
          </a:p>
        </p:txBody>
      </p:sp>
      <p:sp>
        <p:nvSpPr>
          <p:cNvPr id="9" name="Text 7"/>
          <p:cNvSpPr/>
          <p:nvPr/>
        </p:nvSpPr>
        <p:spPr>
          <a:xfrm>
            <a:off x="635000" y="4327095"/>
            <a:ext cx="2779145" cy="734043"/>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68327"/>
              </a:lnSpc>
              <a:buNone/>
            </a:pPr>
            <a:r>
              <a:rPr lang="en-US" sz="6200" b="1">
                <a:solidFill>
                  <a:srgbClr val="007788"/>
                </a:solidFill>
                <a:latin typeface="Roboto Slab" pitchFamily="34" charset="0"/>
                <a:ea typeface="Roboto Slab" pitchFamily="34" charset="-122"/>
                <a:cs typeface="Roboto Slab" pitchFamily="34" charset="-120"/>
              </a:rPr>
              <a:t>57+</a:t>
            </a:r>
            <a:endParaRPr lang="en-US" sz="6200"/>
          </a:p>
        </p:txBody>
      </p:sp>
      <p:sp>
        <p:nvSpPr>
          <p:cNvPr id="10" name="Text 8"/>
          <p:cNvSpPr/>
          <p:nvPr/>
        </p:nvSpPr>
        <p:spPr>
          <a:xfrm>
            <a:off x="635000" y="5124593"/>
            <a:ext cx="2779145" cy="231720"/>
          </a:xfrm>
          <a:prstGeom prst="rect">
            <a:avLst/>
          </a:prstGeom>
          <a:noFill/>
          <a:ln/>
        </p:spPr>
        <p:txBody>
          <a:bodyPr wrap="square" lIns="16933" tIns="16933" rIns="16933" bIns="16933" rtlCol="0" anchor="t">
            <a:normAutofit lnSpcReduction="10000"/>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08333"/>
              </a:lnSpc>
              <a:buNone/>
            </a:pPr>
            <a:r>
              <a:rPr lang="en-US" sz="1300" kern="0" spc="156">
                <a:solidFill>
                  <a:srgbClr val="5B5766"/>
                </a:solidFill>
                <a:latin typeface="Roboto" pitchFamily="34" charset="0"/>
                <a:ea typeface="Roboto" pitchFamily="34" charset="-122"/>
                <a:cs typeface="Roboto" pitchFamily="34" charset="-120"/>
              </a:rPr>
              <a:t>PEER COACH CONTACTS</a:t>
            </a:r>
            <a:endParaRPr lang="en-US" sz="1300"/>
          </a:p>
        </p:txBody>
      </p:sp>
      <p:sp>
        <p:nvSpPr>
          <p:cNvPr id="11" name="Text 9"/>
          <p:cNvSpPr/>
          <p:nvPr/>
        </p:nvSpPr>
        <p:spPr>
          <a:xfrm>
            <a:off x="3542496" y="4327095"/>
            <a:ext cx="2779145" cy="734043"/>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68327"/>
              </a:lnSpc>
              <a:buNone/>
            </a:pPr>
            <a:r>
              <a:rPr lang="en-US" sz="6200" b="1">
                <a:solidFill>
                  <a:srgbClr val="007788"/>
                </a:solidFill>
                <a:latin typeface="Roboto Slab" pitchFamily="34" charset="0"/>
                <a:ea typeface="Roboto Slab" pitchFamily="34" charset="-122"/>
                <a:cs typeface="Roboto Slab" pitchFamily="34" charset="-120"/>
              </a:rPr>
              <a:t>100%</a:t>
            </a:r>
            <a:endParaRPr lang="en-US" sz="6200"/>
          </a:p>
        </p:txBody>
      </p:sp>
      <p:sp>
        <p:nvSpPr>
          <p:cNvPr id="12" name="Text 10"/>
          <p:cNvSpPr/>
          <p:nvPr/>
        </p:nvSpPr>
        <p:spPr>
          <a:xfrm>
            <a:off x="3542496" y="5124593"/>
            <a:ext cx="2779145" cy="231720"/>
          </a:xfrm>
          <a:prstGeom prst="rect">
            <a:avLst/>
          </a:prstGeom>
          <a:noFill/>
          <a:ln/>
        </p:spPr>
        <p:txBody>
          <a:bodyPr wrap="square" lIns="16933" tIns="16933" rIns="16933" bIns="16933" rtlCol="0" anchor="t">
            <a:normAutofit lnSpcReduction="10000"/>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08333"/>
              </a:lnSpc>
              <a:buNone/>
            </a:pPr>
            <a:r>
              <a:rPr lang="en-US" sz="1300" kern="0" spc="156">
                <a:solidFill>
                  <a:srgbClr val="5B5766"/>
                </a:solidFill>
                <a:latin typeface="Roboto" pitchFamily="34" charset="0"/>
                <a:ea typeface="Roboto" pitchFamily="34" charset="-122"/>
                <a:cs typeface="Roboto" pitchFamily="34" charset="-120"/>
              </a:rPr>
              <a:t>WORKFORCE REACHED</a:t>
            </a:r>
            <a:endParaRPr lang="en-US" sz="1300"/>
          </a:p>
        </p:txBody>
      </p:sp>
      <p:sp>
        <p:nvSpPr>
          <p:cNvPr id="13" name="Shape 11"/>
          <p:cNvSpPr/>
          <p:nvPr/>
        </p:nvSpPr>
        <p:spPr>
          <a:xfrm>
            <a:off x="6640491" y="2101068"/>
            <a:ext cx="4916509" cy="4121933"/>
          </a:xfrm>
          <a:prstGeom prst="roundRect">
            <a:avLst>
              <a:gd name="adj" fmla="val 4314"/>
            </a:avLst>
          </a:prstGeom>
          <a:solidFill>
            <a:srgbClr val="D5EAED"/>
          </a:solidFill>
          <a:ln/>
        </p:spPr>
        <p:txBody>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pic>
        <p:nvPicPr>
          <p:cNvPr id="14" name="Image 0" descr="preencoded.png"/>
          <p:cNvPicPr>
            <a:picLocks noChangeAspect="1"/>
          </p:cNvPicPr>
          <p:nvPr/>
        </p:nvPicPr>
        <p:blipFill>
          <a:blip>
            <a:alphaModFix amt="35000"/>
            <a:extLst>
              <a:ext uri="{96DAC541-7B7A-43D3-8B79-37D633B846F1}">
                <asvg:svgBlip xmlns:asvg="http://schemas.microsoft.com/office/drawing/2016/SVG/main" r:embed="rId3"/>
              </a:ext>
            </a:extLst>
          </a:blip>
          <a:stretch>
            <a:fillRect/>
          </a:stretch>
        </p:blipFill>
        <p:spPr>
          <a:xfrm>
            <a:off x="6970669" y="2969507"/>
            <a:ext cx="444500" cy="444500"/>
          </a:xfrm>
          <a:prstGeom prst="rect">
            <a:avLst/>
          </a:prstGeom>
        </p:spPr>
      </p:pic>
      <p:sp>
        <p:nvSpPr>
          <p:cNvPr id="15" name="Text 12"/>
          <p:cNvSpPr/>
          <p:nvPr/>
        </p:nvSpPr>
        <p:spPr>
          <a:xfrm>
            <a:off x="6970669" y="3617186"/>
            <a:ext cx="4383839" cy="1328473"/>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01473"/>
              </a:lnSpc>
              <a:buNone/>
            </a:pPr>
            <a:r>
              <a:rPr lang="en-US" sz="1900" i="1">
                <a:solidFill>
                  <a:srgbClr val="005560"/>
                </a:solidFill>
                <a:latin typeface="Roboto Slab" pitchFamily="34" charset="0"/>
                <a:ea typeface="Roboto Slab" pitchFamily="34" charset="-122"/>
                <a:cs typeface="Roboto Slab" pitchFamily="34" charset="-120"/>
              </a:rPr>
              <a:t>“It's about creating a culture where an employee is seen as a whole person, not just who they are when they walk through the door.”</a:t>
            </a:r>
            <a:endParaRPr lang="en-US" sz="1900" i="1"/>
          </a:p>
        </p:txBody>
      </p:sp>
      <p:sp>
        <p:nvSpPr>
          <p:cNvPr id="16" name="Text 13"/>
          <p:cNvSpPr/>
          <p:nvPr/>
        </p:nvSpPr>
        <p:spPr>
          <a:xfrm>
            <a:off x="6970670" y="5123436"/>
            <a:ext cx="4681769" cy="256525"/>
          </a:xfrm>
          <a:prstGeom prst="rect">
            <a:avLst/>
          </a:prstGeom>
          <a:noFill/>
          <a:ln/>
        </p:spPr>
        <p:txBody>
          <a:bodyPr wrap="square" lIns="16933" tIns="16933" rIns="16933" bIns="16933" rtlCol="0" anchor="t">
            <a:normAutofit lnSpcReduction="10000"/>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1333"/>
              </a:lnSpc>
              <a:buNone/>
            </a:pPr>
            <a:r>
              <a:rPr lang="en-US" sz="1300" b="1">
                <a:solidFill>
                  <a:srgbClr val="007788"/>
                </a:solidFill>
                <a:latin typeface="Roboto" pitchFamily="34" charset="0"/>
                <a:ea typeface="Roboto" pitchFamily="34" charset="-122"/>
                <a:cs typeface="Roboto" pitchFamily="34" charset="-120"/>
              </a:rPr>
              <a:t>Abby Flynn, Senior HR Manager, Olympia Hospitality</a:t>
            </a:r>
            <a:endParaRPr lang="en-US" sz="1300"/>
          </a:p>
        </p:txBody>
      </p:sp>
      <p:sp>
        <p:nvSpPr>
          <p:cNvPr id="17" name="Text 0">
            <a:extLst>
              <a:ext uri="{FF2B5EF4-FFF2-40B4-BE49-F238E27FC236}">
                <a16:creationId xmlns:a16="http://schemas.microsoft.com/office/drawing/2014/main" id="{4860F1A1-5E2B-2BCA-4915-496CAA3A7245}"/>
              </a:ext>
            </a:extLst>
          </p:cNvPr>
          <p:cNvSpPr/>
          <p:nvPr/>
        </p:nvSpPr>
        <p:spPr>
          <a:xfrm>
            <a:off x="939591" y="558768"/>
            <a:ext cx="1097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570">
              <a:lnSpc>
                <a:spcPct val="139765"/>
              </a:lnSpc>
            </a:pPr>
            <a:r>
              <a:rPr lang="en-US" sz="1200" b="1" kern="0" spc="168">
                <a:solidFill>
                  <a:srgbClr val="FFAD5B"/>
                </a:solidFill>
                <a:latin typeface="Aptos" panose="02110004020202020204"/>
                <a:ea typeface="Roboto"/>
                <a:cs typeface="Roboto"/>
              </a:rPr>
              <a:t>PROOF IT WORKS</a:t>
            </a:r>
            <a:endParaRPr lang="en-US" sz="1200">
              <a:solidFill>
                <a:srgbClr val="FFAD5B"/>
              </a:solidFill>
              <a:latin typeface="Roboto"/>
              <a:ea typeface="Roboto"/>
              <a:cs typeface="Roboto"/>
            </a:endParaRPr>
          </a:p>
        </p:txBody>
      </p:sp>
      <p:pic>
        <p:nvPicPr>
          <p:cNvPr id="18" name="Labyrinth Icon">
            <a:extLst>
              <a:ext uri="{FF2B5EF4-FFF2-40B4-BE49-F238E27FC236}">
                <a16:creationId xmlns:a16="http://schemas.microsoft.com/office/drawing/2014/main" id="{61D4C53B-5760-5A20-4CA2-F41AF1EB7713}"/>
              </a:ext>
            </a:extLst>
          </p:cNvPr>
          <p:cNvPicPr>
            <a:picLocks noChangeAspect="1"/>
          </p:cNvPicPr>
          <p:nvPr/>
        </p:nvPicPr>
        <p:blipFill>
          <a:blip r:embed="rId4"/>
          <a:stretch>
            <a:fillRect/>
          </a:stretch>
        </p:blipFill>
        <p:spPr>
          <a:xfrm>
            <a:off x="609590" y="597200"/>
            <a:ext cx="220000" cy="200000"/>
          </a:xfrm>
          <a:prstGeom prst="rect">
            <a:avLst/>
          </a:prstGeom>
        </p:spPr>
      </p:pic>
    </p:spTree>
    <p:extLst>
      <p:ext uri="{BB962C8B-B14F-4D97-AF65-F5344CB8AC3E}">
        <p14:creationId xmlns:p14="http://schemas.microsoft.com/office/powerpoint/2010/main" val="1522603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p:nvPr/>
        </p:nvSpPr>
        <p:spPr>
          <a:xfrm>
            <a:off x="558767" y="954217"/>
            <a:ext cx="12181913" cy="46666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buNone/>
            </a:pPr>
            <a:r>
              <a:rPr lang="en-US" sz="2800" b="1">
                <a:solidFill>
                  <a:srgbClr val="59468D"/>
                </a:solidFill>
                <a:latin typeface="Roboto Slab" pitchFamily="2" charset="0"/>
                <a:ea typeface="Roboto Slab" pitchFamily="2" charset="0"/>
                <a:cs typeface="Roboto Slab" pitchFamily="2" charset="0"/>
              </a:rPr>
              <a:t>Sobrynth delivers 10x+ ROI for every customer.</a:t>
            </a:r>
          </a:p>
        </p:txBody>
      </p:sp>
      <p:sp>
        <p:nvSpPr>
          <p:cNvPr id="4" name="Subtitle"/>
          <p:cNvSpPr/>
          <p:nvPr/>
        </p:nvSpPr>
        <p:spPr>
          <a:xfrm>
            <a:off x="558767" y="1382201"/>
            <a:ext cx="10791826" cy="46666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0000"/>
              </a:lnSpc>
              <a:buNone/>
            </a:pPr>
            <a:r>
              <a:rPr lang="en-US" sz="1200" i="1">
                <a:solidFill>
                  <a:srgbClr val="6B6B70"/>
                </a:solidFill>
                <a:latin typeface="Roboto" pitchFamily="34" charset="0"/>
                <a:ea typeface="Roboto" pitchFamily="34" charset="-122"/>
                <a:cs typeface="Roboto" pitchFamily="34" charset="-120"/>
              </a:rPr>
              <a:t>Modeled for one US operating company on Sobrynth's per-employee economics. The multiplier will vary by workforce, the pattern will not.</a:t>
            </a:r>
          </a:p>
        </p:txBody>
      </p:sp>
      <p:sp>
        <p:nvSpPr>
          <p:cNvPr id="5" name="Banner"/>
          <p:cNvSpPr/>
          <p:nvPr/>
        </p:nvSpPr>
        <p:spPr>
          <a:xfrm>
            <a:off x="558767" y="1800000"/>
            <a:ext cx="11074467" cy="1433333"/>
          </a:xfrm>
          <a:prstGeom prst="roundRect">
            <a:avLst>
              <a:gd name="adj" fmla="val 6006"/>
            </a:avLst>
          </a:prstGeom>
          <a:solidFill>
            <a:srgbClr val="59468D"/>
          </a:solidFill>
          <a:ln/>
        </p:spPr>
        <p:txBody>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sp>
        <p:nvSpPr>
          <p:cNvPr id="6" name="BannerNumber"/>
          <p:cNvSpPr/>
          <p:nvPr/>
        </p:nvSpPr>
        <p:spPr>
          <a:xfrm>
            <a:off x="914356" y="2154717"/>
            <a:ext cx="2195182" cy="723900"/>
          </a:xfrm>
          <a:prstGeom prst="rect">
            <a:avLst/>
          </a:prstGeom>
          <a:noFill/>
          <a:ln/>
        </p:spPr>
        <p:txBody>
          <a:bodyPr wrap="none" lIns="16933" tIns="16933" rIns="16933" bIns="16933" rtlCol="0" anchor="t">
            <a:normAutofit fontScale="92500" lnSpcReduction="20000"/>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buNone/>
            </a:pPr>
            <a:r>
              <a:rPr lang="en-US" sz="5500" b="1">
                <a:solidFill>
                  <a:srgbClr val="FFAD5B"/>
                </a:solidFill>
                <a:latin typeface="Roboto Slab" pitchFamily="2" charset="0"/>
                <a:ea typeface="Roboto Slab" pitchFamily="2" charset="0"/>
                <a:cs typeface="Roboto Slab" pitchFamily="2" charset="0"/>
              </a:rPr>
              <a:t>10x</a:t>
            </a:r>
          </a:p>
        </p:txBody>
      </p:sp>
      <p:sp>
        <p:nvSpPr>
          <p:cNvPr id="7" name="BannerCaption"/>
          <p:cNvSpPr/>
          <p:nvPr/>
        </p:nvSpPr>
        <p:spPr>
          <a:xfrm>
            <a:off x="3214743" y="2213333"/>
            <a:ext cx="4714208" cy="40000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0000"/>
              </a:lnSpc>
              <a:buNone/>
            </a:pPr>
            <a:r>
              <a:rPr lang="en-US" sz="1400">
                <a:solidFill>
                  <a:srgbClr val="FFFFFF"/>
                </a:solidFill>
                <a:latin typeface="Roboto" pitchFamily="34" charset="0"/>
                <a:ea typeface="Roboto" pitchFamily="34" charset="-122"/>
                <a:cs typeface="Roboto" pitchFamily="34" charset="-120"/>
              </a:rPr>
              <a:t>returned for every dollar invested in Sobrynth</a:t>
            </a:r>
          </a:p>
        </p:txBody>
      </p:sp>
      <p:sp>
        <p:nvSpPr>
          <p:cNvPr id="8" name="BannerSubCaption"/>
          <p:cNvSpPr/>
          <p:nvPr/>
        </p:nvSpPr>
        <p:spPr>
          <a:xfrm>
            <a:off x="3214743" y="2600000"/>
            <a:ext cx="4414213" cy="26666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buNone/>
            </a:pPr>
            <a:r>
              <a:rPr lang="en-US" sz="850" i="1">
                <a:solidFill>
                  <a:srgbClr val="CEC6E4"/>
                </a:solidFill>
                <a:latin typeface="Roboto" pitchFamily="34" charset="0"/>
                <a:ea typeface="Roboto" pitchFamily="34" charset="-122"/>
                <a:cs typeface="Roboto" pitchFamily="34" charset="-120"/>
              </a:rPr>
              <a:t>2,000-employee operating company · $100,000 investment</a:t>
            </a:r>
          </a:p>
        </p:txBody>
      </p:sp>
      <p:pic>
        <p:nvPicPr>
          <p:cNvPr id="9" name="Diamond" descr="preencoded.png"/>
          <p:cNvPicPr>
            <a:picLocks noChangeAspect="1"/>
          </p:cNvPicPr>
          <p:nvPr/>
        </p:nvPicPr>
        <p:blipFill>
          <a:blip r:embed="rId3"/>
          <a:stretch>
            <a:fillRect/>
          </a:stretch>
        </p:blipFill>
        <p:spPr>
          <a:xfrm>
            <a:off x="10232984" y="2043163"/>
            <a:ext cx="1044660" cy="947007"/>
          </a:xfrm>
          <a:prstGeom prst="rect">
            <a:avLst/>
          </a:prstGeom>
        </p:spPr>
      </p:pic>
      <p:sp>
        <p:nvSpPr>
          <p:cNvPr id="10" name="Card1"/>
          <p:cNvSpPr/>
          <p:nvPr/>
        </p:nvSpPr>
        <p:spPr>
          <a:xfrm>
            <a:off x="558767" y="3353334"/>
            <a:ext cx="2643617" cy="1433333"/>
          </a:xfrm>
          <a:prstGeom prst="roundRect">
            <a:avLst>
              <a:gd name="adj" fmla="val 7420"/>
            </a:avLst>
          </a:prstGeom>
          <a:solidFill>
            <a:srgbClr val="F4F1FA"/>
          </a:solidFill>
          <a:ln/>
        </p:spPr>
        <p:txBody>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sp>
        <p:nvSpPr>
          <p:cNvPr id="11" name="Card1Label"/>
          <p:cNvSpPr/>
          <p:nvPr/>
        </p:nvSpPr>
        <p:spPr>
          <a:xfrm>
            <a:off x="705434" y="3480000"/>
            <a:ext cx="2350283" cy="20000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buNone/>
            </a:pPr>
            <a:r>
              <a:rPr lang="en-US" sz="867" b="1" kern="0" spc="100">
                <a:solidFill>
                  <a:srgbClr val="007788"/>
                </a:solidFill>
                <a:latin typeface="Roboto" pitchFamily="34" charset="0"/>
                <a:ea typeface="Roboto" pitchFamily="34" charset="-122"/>
                <a:cs typeface="Roboto" pitchFamily="34" charset="-120"/>
              </a:rPr>
              <a:t>THE INVESTMENT</a:t>
            </a:r>
          </a:p>
        </p:txBody>
      </p:sp>
      <p:sp>
        <p:nvSpPr>
          <p:cNvPr id="12" name="Card1Number"/>
          <p:cNvSpPr/>
          <p:nvPr/>
        </p:nvSpPr>
        <p:spPr>
          <a:xfrm>
            <a:off x="705434" y="3706667"/>
            <a:ext cx="2350283" cy="56666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buNone/>
            </a:pPr>
            <a:r>
              <a:rPr lang="en-US" sz="2400" b="1">
                <a:solidFill>
                  <a:srgbClr val="007788"/>
                </a:solidFill>
                <a:latin typeface="Roboto Slab" pitchFamily="2" charset="0"/>
                <a:ea typeface="Roboto Slab" pitchFamily="2" charset="0"/>
                <a:cs typeface="Roboto Slab" pitchFamily="2" charset="0"/>
              </a:rPr>
              <a:t>$100K</a:t>
            </a:r>
          </a:p>
        </p:txBody>
      </p:sp>
      <p:sp>
        <p:nvSpPr>
          <p:cNvPr id="13" name="Card1Caption"/>
          <p:cNvSpPr/>
          <p:nvPr/>
        </p:nvSpPr>
        <p:spPr>
          <a:xfrm>
            <a:off x="705434" y="4300000"/>
            <a:ext cx="2350283" cy="433333"/>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0000"/>
              </a:lnSpc>
              <a:buNone/>
            </a:pPr>
            <a:r>
              <a:rPr lang="en-US" sz="867">
                <a:solidFill>
                  <a:srgbClr val="111111"/>
                </a:solidFill>
                <a:latin typeface="Roboto" pitchFamily="34" charset="0"/>
                <a:ea typeface="Roboto" pitchFamily="34" charset="-122"/>
                <a:cs typeface="Roboto" pitchFamily="34" charset="-120"/>
              </a:rPr>
              <a:t>Annual Sobrynth investment for one 2,000-person operating company</a:t>
            </a:r>
          </a:p>
        </p:txBody>
      </p:sp>
      <p:sp>
        <p:nvSpPr>
          <p:cNvPr id="14" name="Card2"/>
          <p:cNvSpPr/>
          <p:nvPr/>
        </p:nvSpPr>
        <p:spPr>
          <a:xfrm>
            <a:off x="3369050" y="3353334"/>
            <a:ext cx="2643617" cy="1433333"/>
          </a:xfrm>
          <a:prstGeom prst="roundRect">
            <a:avLst>
              <a:gd name="adj" fmla="val 7420"/>
            </a:avLst>
          </a:prstGeom>
          <a:solidFill>
            <a:srgbClr val="F4F1FA"/>
          </a:solidFill>
          <a:ln/>
        </p:spPr>
        <p:txBody>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sp>
        <p:nvSpPr>
          <p:cNvPr id="15" name="Card2Label"/>
          <p:cNvSpPr/>
          <p:nvPr/>
        </p:nvSpPr>
        <p:spPr>
          <a:xfrm>
            <a:off x="3515717" y="3480000"/>
            <a:ext cx="2350283" cy="20000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buNone/>
            </a:pPr>
            <a:r>
              <a:rPr lang="en-US" sz="867" b="1" kern="0" spc="100">
                <a:solidFill>
                  <a:srgbClr val="FFAD5B"/>
                </a:solidFill>
                <a:latin typeface="Roboto" pitchFamily="34" charset="0"/>
                <a:ea typeface="Roboto" pitchFamily="34" charset="-122"/>
                <a:cs typeface="Roboto" pitchFamily="34" charset="-120"/>
              </a:rPr>
              <a:t>THE ENGAGEMENT</a:t>
            </a:r>
          </a:p>
        </p:txBody>
      </p:sp>
      <p:sp>
        <p:nvSpPr>
          <p:cNvPr id="16" name="Card2Number"/>
          <p:cNvSpPr/>
          <p:nvPr/>
        </p:nvSpPr>
        <p:spPr>
          <a:xfrm>
            <a:off x="3515717" y="3706667"/>
            <a:ext cx="2350283" cy="56666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buNone/>
            </a:pPr>
            <a:r>
              <a:rPr lang="en-US" sz="2400" b="1">
                <a:solidFill>
                  <a:srgbClr val="FFAD5B"/>
                </a:solidFill>
                <a:latin typeface="Roboto Slab" pitchFamily="2" charset="0"/>
                <a:ea typeface="Roboto Slab" pitchFamily="2" charset="0"/>
                <a:cs typeface="Roboto Slab" pitchFamily="2" charset="0"/>
              </a:rPr>
              <a:t>6%</a:t>
            </a:r>
          </a:p>
        </p:txBody>
      </p:sp>
      <p:sp>
        <p:nvSpPr>
          <p:cNvPr id="17" name="Card2Caption"/>
          <p:cNvSpPr/>
          <p:nvPr/>
        </p:nvSpPr>
        <p:spPr>
          <a:xfrm>
            <a:off x="3515717" y="4300000"/>
            <a:ext cx="2350283" cy="433333"/>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0000"/>
              </a:lnSpc>
              <a:buNone/>
            </a:pPr>
            <a:r>
              <a:rPr lang="en-US" sz="867">
                <a:solidFill>
                  <a:srgbClr val="111111"/>
                </a:solidFill>
                <a:latin typeface="Roboto" pitchFamily="34" charset="0"/>
                <a:ea typeface="Roboto" pitchFamily="34" charset="-122"/>
                <a:cs typeface="Roboto" pitchFamily="34" charset="-120"/>
              </a:rPr>
              <a:t>Employee utilization, 3x the typical EAP benchmark</a:t>
            </a:r>
          </a:p>
        </p:txBody>
      </p:sp>
      <p:sp>
        <p:nvSpPr>
          <p:cNvPr id="18" name="Card3"/>
          <p:cNvSpPr/>
          <p:nvPr/>
        </p:nvSpPr>
        <p:spPr>
          <a:xfrm>
            <a:off x="6179334" y="3353334"/>
            <a:ext cx="2643617" cy="1433333"/>
          </a:xfrm>
          <a:prstGeom prst="roundRect">
            <a:avLst>
              <a:gd name="adj" fmla="val 7420"/>
            </a:avLst>
          </a:prstGeom>
          <a:solidFill>
            <a:srgbClr val="F4F1FA"/>
          </a:solidFill>
          <a:ln/>
        </p:spPr>
        <p:txBody>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sp>
        <p:nvSpPr>
          <p:cNvPr id="19" name="Card3Label"/>
          <p:cNvSpPr/>
          <p:nvPr/>
        </p:nvSpPr>
        <p:spPr>
          <a:xfrm>
            <a:off x="6326001" y="3480000"/>
            <a:ext cx="2350283" cy="20000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buNone/>
            </a:pPr>
            <a:r>
              <a:rPr lang="en-US" sz="867" b="1" kern="0" spc="100">
                <a:solidFill>
                  <a:srgbClr val="DB7D7B"/>
                </a:solidFill>
                <a:latin typeface="Roboto" pitchFamily="34" charset="0"/>
                <a:ea typeface="Roboto" pitchFamily="34" charset="-122"/>
                <a:cs typeface="Roboto" pitchFamily="34" charset="-120"/>
              </a:rPr>
              <a:t>THE SAVINGS</a:t>
            </a:r>
          </a:p>
        </p:txBody>
      </p:sp>
      <p:sp>
        <p:nvSpPr>
          <p:cNvPr id="20" name="Card3Number"/>
          <p:cNvSpPr/>
          <p:nvPr/>
        </p:nvSpPr>
        <p:spPr>
          <a:xfrm>
            <a:off x="6326001" y="3706667"/>
            <a:ext cx="2350283" cy="56666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buNone/>
            </a:pPr>
            <a:r>
              <a:rPr lang="en-US" sz="2400" b="1">
                <a:solidFill>
                  <a:srgbClr val="DB7D7B"/>
                </a:solidFill>
                <a:latin typeface="Roboto Slab" pitchFamily="2" charset="0"/>
                <a:ea typeface="Roboto Slab" pitchFamily="2" charset="0"/>
                <a:cs typeface="Roboto Slab" pitchFamily="2" charset="0"/>
              </a:rPr>
              <a:t>$864K</a:t>
            </a:r>
          </a:p>
        </p:txBody>
      </p:sp>
      <p:sp>
        <p:nvSpPr>
          <p:cNvPr id="21" name="Card3Caption"/>
          <p:cNvSpPr/>
          <p:nvPr/>
        </p:nvSpPr>
        <p:spPr>
          <a:xfrm>
            <a:off x="6326001" y="4300000"/>
            <a:ext cx="2350283" cy="433333"/>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0000"/>
              </a:lnSpc>
              <a:buNone/>
            </a:pPr>
            <a:r>
              <a:rPr lang="en-US" sz="867">
                <a:solidFill>
                  <a:srgbClr val="111111"/>
                </a:solidFill>
                <a:latin typeface="Roboto" pitchFamily="34" charset="0"/>
                <a:ea typeface="Roboto" pitchFamily="34" charset="-122"/>
                <a:cs typeface="Roboto" pitchFamily="34" charset="-120"/>
              </a:rPr>
              <a:t>Avoided treatment cost and retained talent</a:t>
            </a:r>
          </a:p>
        </p:txBody>
      </p:sp>
      <p:sp>
        <p:nvSpPr>
          <p:cNvPr id="22" name="Card4"/>
          <p:cNvSpPr/>
          <p:nvPr/>
        </p:nvSpPr>
        <p:spPr>
          <a:xfrm>
            <a:off x="8989617" y="3353334"/>
            <a:ext cx="2643617" cy="1433333"/>
          </a:xfrm>
          <a:prstGeom prst="roundRect">
            <a:avLst>
              <a:gd name="adj" fmla="val 7420"/>
            </a:avLst>
          </a:prstGeom>
          <a:solidFill>
            <a:srgbClr val="F4F1FA"/>
          </a:solidFill>
          <a:ln/>
        </p:spPr>
        <p:txBody>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800"/>
          </a:p>
        </p:txBody>
      </p:sp>
      <p:sp>
        <p:nvSpPr>
          <p:cNvPr id="23" name="Card4Label"/>
          <p:cNvSpPr/>
          <p:nvPr/>
        </p:nvSpPr>
        <p:spPr>
          <a:xfrm>
            <a:off x="9136284" y="3433334"/>
            <a:ext cx="2350283" cy="253333"/>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05000"/>
              </a:lnSpc>
              <a:buNone/>
            </a:pPr>
            <a:r>
              <a:rPr lang="en-US" sz="867" b="1" kern="0" spc="100">
                <a:solidFill>
                  <a:srgbClr val="9E483F"/>
                </a:solidFill>
                <a:latin typeface="Roboto" pitchFamily="34" charset="0"/>
                <a:ea typeface="Roboto" pitchFamily="34" charset="-122"/>
                <a:cs typeface="Roboto" pitchFamily="34" charset="-120"/>
              </a:rPr>
              <a:t>THE POWER OF RECOVERY</a:t>
            </a:r>
          </a:p>
        </p:txBody>
      </p:sp>
      <p:sp>
        <p:nvSpPr>
          <p:cNvPr id="24" name="Card4Number"/>
          <p:cNvSpPr/>
          <p:nvPr/>
        </p:nvSpPr>
        <p:spPr>
          <a:xfrm>
            <a:off x="9136284" y="3786667"/>
            <a:ext cx="2350283" cy="56666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buNone/>
            </a:pPr>
            <a:r>
              <a:rPr lang="en-US" sz="2400" b="1">
                <a:solidFill>
                  <a:srgbClr val="9E483F"/>
                </a:solidFill>
                <a:latin typeface="Roboto Slab" pitchFamily="2" charset="0"/>
                <a:ea typeface="Roboto Slab" pitchFamily="2" charset="0"/>
                <a:cs typeface="Roboto Slab" pitchFamily="2" charset="0"/>
              </a:rPr>
              <a:t>$204K</a:t>
            </a:r>
          </a:p>
        </p:txBody>
      </p:sp>
      <p:sp>
        <p:nvSpPr>
          <p:cNvPr id="25" name="Card4Caption"/>
          <p:cNvSpPr/>
          <p:nvPr/>
        </p:nvSpPr>
        <p:spPr>
          <a:xfrm>
            <a:off x="9136284" y="4380000"/>
            <a:ext cx="2350283" cy="38666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15000"/>
              </a:lnSpc>
              <a:buNone/>
            </a:pPr>
            <a:r>
              <a:rPr lang="en-US" sz="867">
                <a:solidFill>
                  <a:srgbClr val="111111"/>
                </a:solidFill>
                <a:latin typeface="Roboto" pitchFamily="34" charset="0"/>
                <a:ea typeface="Roboto" pitchFamily="34" charset="-122"/>
                <a:cs typeface="Roboto" pitchFamily="34" charset="-120"/>
              </a:rPr>
              <a:t>Productivity gained from employees who get, and stay, sober</a:t>
            </a:r>
          </a:p>
        </p:txBody>
      </p:sp>
      <p:sp>
        <p:nvSpPr>
          <p:cNvPr id="26" name="Closing"/>
          <p:cNvSpPr/>
          <p:nvPr/>
        </p:nvSpPr>
        <p:spPr>
          <a:xfrm>
            <a:off x="558767" y="4946667"/>
            <a:ext cx="11074467" cy="333333"/>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buNone/>
            </a:pPr>
            <a:r>
              <a:rPr lang="en-US" sz="1867" b="1">
                <a:solidFill>
                  <a:srgbClr val="59468D"/>
                </a:solidFill>
                <a:latin typeface="Roboto Slab" pitchFamily="2" charset="0"/>
                <a:ea typeface="Roboto Slab" pitchFamily="2" charset="0"/>
                <a:cs typeface="Roboto Slab" pitchFamily="2" charset="0"/>
              </a:rPr>
              <a:t>$1.07M in impact. $968K net of the investment.</a:t>
            </a:r>
          </a:p>
        </p:txBody>
      </p:sp>
      <p:sp>
        <p:nvSpPr>
          <p:cNvPr id="27" name="Support"/>
          <p:cNvSpPr/>
          <p:nvPr/>
        </p:nvSpPr>
        <p:spPr>
          <a:xfrm>
            <a:off x="558767" y="5320000"/>
            <a:ext cx="11074467" cy="26666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buNone/>
            </a:pPr>
            <a:r>
              <a:rPr lang="en-US" sz="867" i="1">
                <a:solidFill>
                  <a:srgbClr val="6B6B70"/>
                </a:solidFill>
                <a:latin typeface="Roboto" pitchFamily="34" charset="0"/>
                <a:ea typeface="Roboto" pitchFamily="34" charset="-122"/>
                <a:cs typeface="Roboto" pitchFamily="34" charset="-120"/>
              </a:rPr>
              <a:t>Scaled from Sobrynth's per-employee model using its own utilization data and independent peer-support research. Illustrative, not a quote.</a:t>
            </a:r>
          </a:p>
        </p:txBody>
      </p:sp>
      <p:sp>
        <p:nvSpPr>
          <p:cNvPr id="28" name="SourcesFooter"/>
          <p:cNvSpPr/>
          <p:nvPr/>
        </p:nvSpPr>
        <p:spPr>
          <a:xfrm>
            <a:off x="558767" y="5900001"/>
            <a:ext cx="11406701" cy="18255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buNone/>
            </a:pPr>
            <a:r>
              <a:rPr lang="en-US" sz="750" i="1">
                <a:solidFill>
                  <a:srgbClr val="6B6B70"/>
                </a:solidFill>
                <a:latin typeface="Roboto" pitchFamily="34" charset="0"/>
                <a:ea typeface="Roboto" pitchFamily="34" charset="-122"/>
                <a:cs typeface="Roboto" pitchFamily="34" charset="-120"/>
              </a:rPr>
              <a:t>Sources: NSC/NORC 2025 · SAMHSA NSDUH 2024 · Olympia Hospitality health plan claims analysis 2023–2025 · Sobrynth utilization data · NIDA · Recovery Research Institute 2024 · SHRM</a:t>
            </a:r>
          </a:p>
        </p:txBody>
      </p:sp>
      <p:sp>
        <p:nvSpPr>
          <p:cNvPr id="29" name="TaglineFooter"/>
          <p:cNvSpPr/>
          <p:nvPr/>
        </p:nvSpPr>
        <p:spPr>
          <a:xfrm>
            <a:off x="558767" y="6107919"/>
            <a:ext cx="11406701" cy="18255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buNone/>
            </a:pPr>
            <a:r>
              <a:rPr lang="en-US" sz="750">
                <a:solidFill>
                  <a:srgbClr val="6B6B70"/>
                </a:solidFill>
                <a:latin typeface="Roboto" pitchFamily="34" charset="0"/>
                <a:ea typeface="Roboto" pitchFamily="34" charset="-122"/>
                <a:cs typeface="Roboto" pitchFamily="34" charset="-120"/>
              </a:rPr>
              <a:t>©2026 Sobrynth · Choosing to be sober today.</a:t>
            </a:r>
          </a:p>
        </p:txBody>
      </p:sp>
      <p:sp>
        <p:nvSpPr>
          <p:cNvPr id="30" name="Text 0">
            <a:extLst>
              <a:ext uri="{FF2B5EF4-FFF2-40B4-BE49-F238E27FC236}">
                <a16:creationId xmlns:a16="http://schemas.microsoft.com/office/drawing/2014/main" id="{E5F2FB7D-86BF-B486-6C8B-739629718EB3}"/>
              </a:ext>
            </a:extLst>
          </p:cNvPr>
          <p:cNvSpPr/>
          <p:nvPr/>
        </p:nvSpPr>
        <p:spPr>
          <a:xfrm>
            <a:off x="939591" y="558768"/>
            <a:ext cx="1097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570">
              <a:lnSpc>
                <a:spcPct val="139765"/>
              </a:lnSpc>
            </a:pPr>
            <a:r>
              <a:rPr lang="en-US" sz="1200" b="1" kern="0" spc="168">
                <a:solidFill>
                  <a:srgbClr val="FFAD5B"/>
                </a:solidFill>
                <a:latin typeface="Aptos" panose="02110004020202020204"/>
                <a:ea typeface="Roboto"/>
                <a:cs typeface="Roboto"/>
              </a:rPr>
              <a:t>ROI ILLUSTRATION</a:t>
            </a:r>
            <a:endParaRPr lang="en-US" sz="1200">
              <a:solidFill>
                <a:srgbClr val="FFAD5B"/>
              </a:solidFill>
              <a:latin typeface="Roboto"/>
              <a:ea typeface="Roboto"/>
              <a:cs typeface="Roboto"/>
            </a:endParaRPr>
          </a:p>
        </p:txBody>
      </p:sp>
      <p:pic>
        <p:nvPicPr>
          <p:cNvPr id="31" name="Labyrinth Icon">
            <a:extLst>
              <a:ext uri="{FF2B5EF4-FFF2-40B4-BE49-F238E27FC236}">
                <a16:creationId xmlns:a16="http://schemas.microsoft.com/office/drawing/2014/main" id="{2DCAA7AC-0F1A-F3D0-368A-BA1CB81FB4CB}"/>
              </a:ext>
            </a:extLst>
          </p:cNvPr>
          <p:cNvPicPr>
            <a:picLocks noChangeAspect="1"/>
          </p:cNvPicPr>
          <p:nvPr/>
        </p:nvPicPr>
        <p:blipFill>
          <a:blip r:embed="rId3"/>
          <a:stretch>
            <a:fillRect/>
          </a:stretch>
        </p:blipFill>
        <p:spPr>
          <a:xfrm>
            <a:off x="609590" y="597200"/>
            <a:ext cx="220000" cy="200000"/>
          </a:xfrm>
          <a:prstGeom prst="rect">
            <a:avLst/>
          </a:prstGeom>
        </p:spPr>
      </p:pic>
    </p:spTree>
    <p:extLst>
      <p:ext uri="{BB962C8B-B14F-4D97-AF65-F5344CB8AC3E}">
        <p14:creationId xmlns:p14="http://schemas.microsoft.com/office/powerpoint/2010/main" val="2160523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bg>
      <p:bgPr>
        <a:solidFill>
          <a:srgbClr val="F7F6F9"/>
        </a:solidFill>
        <a:effectLst/>
      </p:bgPr>
    </p:bg>
    <p:spTree>
      <p:nvGrpSpPr>
        <p:cNvPr id="1" name=""/>
        <p:cNvGrpSpPr/>
        <p:nvPr/>
      </p:nvGrpSpPr>
      <p:grpSpPr>
        <a:xfrm>
          <a:off x="0" y="0"/>
          <a:ext cx="0" cy="0"/>
          <a:chOff x="0" y="0"/>
          <a:chExt cx="0" cy="0"/>
        </a:xfrm>
      </p:grpSpPr>
      <p:sp>
        <p:nvSpPr>
          <p:cNvPr id="2" name="Text 0"/>
          <p:cNvSpPr/>
          <p:nvPr/>
        </p:nvSpPr>
        <p:spPr>
          <a:xfrm>
            <a:off x="609590" y="558767"/>
            <a:ext cx="1130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68">
                <a:solidFill>
                  <a:srgbClr val="FFAD5B"/>
                </a:solidFill>
                <a:latin typeface="Roboto" pitchFamily="34" charset="0"/>
                <a:ea typeface="Roboto" pitchFamily="34" charset="-122"/>
                <a:cs typeface="Roboto" pitchFamily="34" charset="-120"/>
              </a:rPr>
              <a:t>NEXT STEPS</a:t>
            </a:r>
            <a:endParaRPr lang="en-US" sz="1200"/>
          </a:p>
        </p:txBody>
      </p:sp>
      <p:sp>
        <p:nvSpPr>
          <p:cNvPr id="3" name="Text 1"/>
          <p:cNvSpPr/>
          <p:nvPr/>
        </p:nvSpPr>
        <p:spPr>
          <a:xfrm>
            <a:off x="609590" y="975320"/>
            <a:ext cx="12070105" cy="44526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86873"/>
              </a:lnSpc>
              <a:buNone/>
            </a:pPr>
            <a:r>
              <a:rPr lang="en-US" sz="2900" b="1">
                <a:solidFill>
                  <a:srgbClr val="241D3B"/>
                </a:solidFill>
                <a:latin typeface="Roboto Slab" pitchFamily="34" charset="0"/>
                <a:ea typeface="Roboto Slab" pitchFamily="34" charset="-122"/>
                <a:cs typeface="Roboto Slab" pitchFamily="34" charset="-120"/>
              </a:rPr>
              <a:t>Three things you can do this week.</a:t>
            </a:r>
            <a:endParaRPr lang="en-US" sz="2900"/>
          </a:p>
        </p:txBody>
      </p:sp>
      <p:sp>
        <p:nvSpPr>
          <p:cNvPr id="4" name="Shape 2"/>
          <p:cNvSpPr/>
          <p:nvPr/>
        </p:nvSpPr>
        <p:spPr>
          <a:xfrm>
            <a:off x="609589" y="1750770"/>
            <a:ext cx="10972823" cy="1065389"/>
          </a:xfrm>
          <a:prstGeom prst="roundRect">
            <a:avLst>
              <a:gd name="adj" fmla="val 14305"/>
            </a:avLst>
          </a:prstGeom>
          <a:solidFill>
            <a:srgbClr val="FFFFFF"/>
          </a:solidFill>
          <a:ln w="5292">
            <a:solidFill>
              <a:srgbClr val="E1DEE8"/>
            </a:solidFill>
            <a:prstDash val="solid"/>
          </a:ln>
        </p:spPr>
        <p:txBody>
          <a:bodyPr/>
          <a:lstStyle/>
          <a:p>
            <a:endParaRPr lang="en-US"/>
          </a:p>
        </p:txBody>
      </p:sp>
      <p:sp>
        <p:nvSpPr>
          <p:cNvPr id="5" name="Text 3"/>
          <p:cNvSpPr/>
          <p:nvPr/>
        </p:nvSpPr>
        <p:spPr>
          <a:xfrm>
            <a:off x="867117" y="1970154"/>
            <a:ext cx="406389" cy="355578"/>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6098"/>
              </a:lnSpc>
              <a:buNone/>
            </a:pPr>
            <a:r>
              <a:rPr lang="en-US" sz="2600" b="1">
                <a:solidFill>
                  <a:srgbClr val="FFAD5B"/>
                </a:solidFill>
                <a:latin typeface="Roboto Slab" pitchFamily="34" charset="0"/>
                <a:ea typeface="Roboto Slab" pitchFamily="34" charset="-122"/>
                <a:cs typeface="Roboto Slab" pitchFamily="34" charset="-120"/>
              </a:rPr>
              <a:t>1</a:t>
            </a:r>
            <a:endParaRPr lang="en-US" sz="2600"/>
          </a:p>
        </p:txBody>
      </p:sp>
      <p:sp>
        <p:nvSpPr>
          <p:cNvPr id="6" name="Text 4"/>
          <p:cNvSpPr/>
          <p:nvPr/>
        </p:nvSpPr>
        <p:spPr>
          <a:xfrm>
            <a:off x="1425884" y="2058348"/>
            <a:ext cx="8233205" cy="27934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94737"/>
              </a:lnSpc>
            </a:pPr>
            <a:r>
              <a:rPr lang="en-US" sz="1600" b="1">
                <a:solidFill>
                  <a:srgbClr val="241D3B"/>
                </a:solidFill>
                <a:latin typeface="Roboto Slab"/>
                <a:ea typeface="Roboto Slab"/>
                <a:cs typeface="Roboto Slab"/>
              </a:rPr>
              <a:t>Run your workforce numbers through Sobrynth's Substance Use Cost Calculator</a:t>
            </a:r>
            <a:endParaRPr lang="en-US" sz="1600">
              <a:latin typeface="Roboto Slab"/>
              <a:ea typeface="Roboto Slab"/>
              <a:cs typeface="Roboto Slab"/>
            </a:endParaRPr>
          </a:p>
        </p:txBody>
      </p:sp>
      <p:sp>
        <p:nvSpPr>
          <p:cNvPr id="7" name="Text 5"/>
          <p:cNvSpPr/>
          <p:nvPr/>
        </p:nvSpPr>
        <p:spPr>
          <a:xfrm>
            <a:off x="1425884" y="2375794"/>
            <a:ext cx="8229600" cy="246382"/>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22824"/>
              </a:lnSpc>
            </a:pPr>
            <a:r>
              <a:rPr lang="en-US" sz="1200">
                <a:solidFill>
                  <a:srgbClr val="423F4B"/>
                </a:solidFill>
                <a:latin typeface="Roboto"/>
                <a:ea typeface="Roboto"/>
                <a:cs typeface="Roboto"/>
              </a:rPr>
              <a:t>before your next benefits review — one number per operating company, not one blended number for the group.</a:t>
            </a:r>
            <a:endParaRPr lang="en-US" sz="1200">
              <a:latin typeface="Roboto"/>
              <a:ea typeface="Roboto"/>
              <a:cs typeface="Roboto"/>
            </a:endParaRPr>
          </a:p>
        </p:txBody>
      </p:sp>
      <p:sp>
        <p:nvSpPr>
          <p:cNvPr id="8" name="Shape 6"/>
          <p:cNvSpPr/>
          <p:nvPr/>
        </p:nvSpPr>
        <p:spPr>
          <a:xfrm>
            <a:off x="609589" y="2968515"/>
            <a:ext cx="10972823" cy="1065389"/>
          </a:xfrm>
          <a:prstGeom prst="roundRect">
            <a:avLst>
              <a:gd name="adj" fmla="val 14305"/>
            </a:avLst>
          </a:prstGeom>
          <a:solidFill>
            <a:srgbClr val="FFFFFF"/>
          </a:solidFill>
          <a:ln w="5292">
            <a:solidFill>
              <a:srgbClr val="E1DEE8"/>
            </a:solidFill>
            <a:prstDash val="solid"/>
          </a:ln>
        </p:spPr>
        <p:txBody>
          <a:bodyPr/>
          <a:lstStyle/>
          <a:p>
            <a:endParaRPr lang="en-US"/>
          </a:p>
        </p:txBody>
      </p:sp>
      <p:sp>
        <p:nvSpPr>
          <p:cNvPr id="9" name="Text 7"/>
          <p:cNvSpPr/>
          <p:nvPr/>
        </p:nvSpPr>
        <p:spPr>
          <a:xfrm>
            <a:off x="867117" y="3187899"/>
            <a:ext cx="406389" cy="355578"/>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6098"/>
              </a:lnSpc>
              <a:buNone/>
            </a:pPr>
            <a:r>
              <a:rPr lang="en-US" sz="2600" b="1">
                <a:solidFill>
                  <a:srgbClr val="FFAD5B"/>
                </a:solidFill>
                <a:latin typeface="Roboto Slab" pitchFamily="34" charset="0"/>
                <a:ea typeface="Roboto Slab" pitchFamily="34" charset="-122"/>
                <a:cs typeface="Roboto Slab" pitchFamily="34" charset="-120"/>
              </a:rPr>
              <a:t>2</a:t>
            </a:r>
            <a:endParaRPr lang="en-US" sz="2600"/>
          </a:p>
        </p:txBody>
      </p:sp>
      <p:sp>
        <p:nvSpPr>
          <p:cNvPr id="10" name="Text 8"/>
          <p:cNvSpPr/>
          <p:nvPr/>
        </p:nvSpPr>
        <p:spPr>
          <a:xfrm>
            <a:off x="1425884" y="3276094"/>
            <a:ext cx="7157381" cy="27934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94737"/>
              </a:lnSpc>
              <a:buNone/>
            </a:pPr>
            <a:r>
              <a:rPr lang="en-US" sz="1600" b="1">
                <a:solidFill>
                  <a:srgbClr val="241D3B"/>
                </a:solidFill>
                <a:latin typeface="Roboto Slab" pitchFamily="34" charset="0"/>
                <a:ea typeface="Roboto Slab" pitchFamily="34" charset="-122"/>
                <a:cs typeface="Roboto Slab" pitchFamily="34" charset="-120"/>
              </a:rPr>
              <a:t>Ask each EAP vendor for SUD-specific utilization, not blended.</a:t>
            </a:r>
            <a:endParaRPr lang="en-US" sz="1600"/>
          </a:p>
        </p:txBody>
      </p:sp>
      <p:sp>
        <p:nvSpPr>
          <p:cNvPr id="11" name="Text 9"/>
          <p:cNvSpPr/>
          <p:nvPr/>
        </p:nvSpPr>
        <p:spPr>
          <a:xfrm>
            <a:off x="1425884" y="3593538"/>
            <a:ext cx="8412480" cy="246382"/>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423F4B"/>
                </a:solidFill>
                <a:latin typeface="Roboto" pitchFamily="34" charset="0"/>
                <a:ea typeface="Roboto" pitchFamily="34" charset="-122"/>
                <a:cs typeface="Roboto" pitchFamily="34" charset="-120"/>
              </a:rPr>
              <a:t>However many contracts you have across these businesses, ask for all of them side by side. The variation is the business case.</a:t>
            </a:r>
            <a:endParaRPr lang="en-US" sz="1200"/>
          </a:p>
        </p:txBody>
      </p:sp>
      <p:sp>
        <p:nvSpPr>
          <p:cNvPr id="12" name="Shape 10"/>
          <p:cNvSpPr/>
          <p:nvPr/>
        </p:nvSpPr>
        <p:spPr>
          <a:xfrm>
            <a:off x="609589" y="4186260"/>
            <a:ext cx="10972823" cy="1065389"/>
          </a:xfrm>
          <a:prstGeom prst="roundRect">
            <a:avLst>
              <a:gd name="adj" fmla="val 14305"/>
            </a:avLst>
          </a:prstGeom>
          <a:solidFill>
            <a:srgbClr val="FFFFFF"/>
          </a:solidFill>
          <a:ln w="5292">
            <a:solidFill>
              <a:srgbClr val="E1DEE8"/>
            </a:solidFill>
            <a:prstDash val="solid"/>
          </a:ln>
        </p:spPr>
        <p:txBody>
          <a:bodyPr/>
          <a:lstStyle/>
          <a:p>
            <a:endParaRPr lang="en-US"/>
          </a:p>
        </p:txBody>
      </p:sp>
      <p:sp>
        <p:nvSpPr>
          <p:cNvPr id="13" name="Text 11"/>
          <p:cNvSpPr/>
          <p:nvPr/>
        </p:nvSpPr>
        <p:spPr>
          <a:xfrm>
            <a:off x="867117" y="4405644"/>
            <a:ext cx="406389" cy="355578"/>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6098"/>
              </a:lnSpc>
              <a:buNone/>
            </a:pPr>
            <a:r>
              <a:rPr lang="en-US" sz="2600" b="1">
                <a:solidFill>
                  <a:srgbClr val="FFAD5B"/>
                </a:solidFill>
                <a:latin typeface="Roboto Slab" pitchFamily="34" charset="0"/>
                <a:ea typeface="Roboto Slab" pitchFamily="34" charset="-122"/>
                <a:cs typeface="Roboto Slab" pitchFamily="34" charset="-120"/>
              </a:rPr>
              <a:t>3</a:t>
            </a:r>
            <a:endParaRPr lang="en-US" sz="2600"/>
          </a:p>
        </p:txBody>
      </p:sp>
      <p:sp>
        <p:nvSpPr>
          <p:cNvPr id="14" name="Text 12"/>
          <p:cNvSpPr/>
          <p:nvPr/>
        </p:nvSpPr>
        <p:spPr>
          <a:xfrm>
            <a:off x="1425884" y="4493838"/>
            <a:ext cx="6992701" cy="27934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94737"/>
              </a:lnSpc>
              <a:buNone/>
            </a:pPr>
            <a:r>
              <a:rPr lang="en-US" sz="1600" b="1">
                <a:solidFill>
                  <a:srgbClr val="241D3B"/>
                </a:solidFill>
                <a:latin typeface="Roboto Slab" pitchFamily="34" charset="0"/>
                <a:ea typeface="Roboto Slab" pitchFamily="34" charset="-122"/>
                <a:cs typeface="Roboto Slab" pitchFamily="34" charset="-120"/>
              </a:rPr>
              <a:t>Start one internal conversation about recovery-friendly practices.</a:t>
            </a:r>
            <a:endParaRPr lang="en-US" sz="1600"/>
          </a:p>
        </p:txBody>
      </p:sp>
      <p:sp>
        <p:nvSpPr>
          <p:cNvPr id="15" name="Text 13"/>
          <p:cNvSpPr/>
          <p:nvPr/>
        </p:nvSpPr>
        <p:spPr>
          <a:xfrm>
            <a:off x="1425884" y="4811283"/>
            <a:ext cx="6992701" cy="246382"/>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423F4B"/>
                </a:solidFill>
                <a:latin typeface="Roboto" pitchFamily="34" charset="0"/>
                <a:ea typeface="Roboto" pitchFamily="34" charset="-122"/>
                <a:cs typeface="Roboto" pitchFamily="34" charset="-120"/>
              </a:rPr>
              <a:t>Leadership, HR, or Safety. RFW certification starts with a decision, not a budget.</a:t>
            </a:r>
            <a:endParaRPr lang="en-US" sz="1200"/>
          </a:p>
        </p:txBody>
      </p:sp>
      <p:sp>
        <p:nvSpPr>
          <p:cNvPr id="16" name="Text 14"/>
          <p:cNvSpPr/>
          <p:nvPr/>
        </p:nvSpPr>
        <p:spPr>
          <a:xfrm>
            <a:off x="609590" y="6185573"/>
            <a:ext cx="12070105" cy="31682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02000"/>
              </a:lnSpc>
              <a:buNone/>
            </a:pPr>
            <a:r>
              <a:rPr lang="en-US" sz="1700">
                <a:solidFill>
                  <a:srgbClr val="59468D"/>
                </a:solidFill>
                <a:latin typeface="Roboto Slab" pitchFamily="34" charset="0"/>
                <a:ea typeface="Roboto Slab" pitchFamily="34" charset="-122"/>
                <a:cs typeface="Roboto Slab" pitchFamily="34" charset="-120"/>
              </a:rPr>
              <a:t>“It’s time for recovery-friendly workplaces to become the norm, not the outlier.”</a:t>
            </a:r>
            <a:endParaRPr lang="en-US" sz="1700"/>
          </a:p>
        </p:txBody>
      </p:sp>
      <p:pic>
        <p:nvPicPr>
          <p:cNvPr id="17" name="Picture 16">
            <a:extLst>
              <a:ext uri="{FF2B5EF4-FFF2-40B4-BE49-F238E27FC236}">
                <a16:creationId xmlns:a16="http://schemas.microsoft.com/office/drawing/2014/main" id="{ED84C920-93B4-E6EC-C802-FE63E3F20452}"/>
              </a:ext>
            </a:extLst>
          </p:cNvPr>
          <p:cNvPicPr>
            <a:picLocks noChangeAspect="1"/>
          </p:cNvPicPr>
          <p:nvPr/>
        </p:nvPicPr>
        <p:blipFill>
          <a:blip r:embed="rId3"/>
          <a:stretch>
            <a:fillRect/>
          </a:stretch>
        </p:blipFill>
        <p:spPr>
          <a:xfrm flipH="1">
            <a:off x="10149114" y="1807028"/>
            <a:ext cx="943429" cy="95068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7">
    <p:bg>
      <p:bgPr>
        <a:solidFill>
          <a:srgbClr val="F7F6F9"/>
        </a:solidFill>
        <a:effectLst/>
      </p:bgPr>
    </p:bg>
    <p:spTree>
      <p:nvGrpSpPr>
        <p:cNvPr id="1" name=""/>
        <p:cNvGrpSpPr/>
        <p:nvPr/>
      </p:nvGrpSpPr>
      <p:grpSpPr>
        <a:xfrm>
          <a:off x="0" y="0"/>
          <a:ext cx="0" cy="0"/>
          <a:chOff x="0" y="0"/>
          <a:chExt cx="0" cy="0"/>
        </a:xfrm>
      </p:grpSpPr>
      <p:sp>
        <p:nvSpPr>
          <p:cNvPr id="2" name="Text 0"/>
          <p:cNvSpPr/>
          <p:nvPr/>
        </p:nvSpPr>
        <p:spPr>
          <a:xfrm>
            <a:off x="609590" y="558767"/>
            <a:ext cx="11302007" cy="27686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b="1" kern="0" spc="168">
                <a:solidFill>
                  <a:srgbClr val="FFAD5B"/>
                </a:solidFill>
                <a:latin typeface="Roboto" pitchFamily="34" charset="0"/>
                <a:ea typeface="Roboto" pitchFamily="34" charset="-122"/>
                <a:cs typeface="Roboto" pitchFamily="34" charset="-120"/>
              </a:rPr>
              <a:t>WHAT WE'RE PROPOSING</a:t>
            </a:r>
            <a:endParaRPr lang="en-US" sz="1200"/>
          </a:p>
        </p:txBody>
      </p:sp>
      <p:sp>
        <p:nvSpPr>
          <p:cNvPr id="3" name="Text 1"/>
          <p:cNvSpPr/>
          <p:nvPr/>
        </p:nvSpPr>
        <p:spPr>
          <a:xfrm>
            <a:off x="609590" y="975320"/>
            <a:ext cx="12070105" cy="44526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86873"/>
              </a:lnSpc>
              <a:buNone/>
            </a:pPr>
            <a:r>
              <a:rPr lang="en-US" sz="2900" b="1">
                <a:solidFill>
                  <a:srgbClr val="241D3B"/>
                </a:solidFill>
                <a:latin typeface="Roboto Slab" pitchFamily="34" charset="0"/>
                <a:ea typeface="Roboto Slab" pitchFamily="34" charset="-122"/>
                <a:cs typeface="Roboto Slab" pitchFamily="34" charset="-120"/>
              </a:rPr>
              <a:t>Start with one operating company. 90 days.</a:t>
            </a:r>
            <a:endParaRPr lang="en-US" sz="2900"/>
          </a:p>
        </p:txBody>
      </p:sp>
      <p:sp>
        <p:nvSpPr>
          <p:cNvPr id="4" name="Shape 2"/>
          <p:cNvSpPr/>
          <p:nvPr/>
        </p:nvSpPr>
        <p:spPr>
          <a:xfrm>
            <a:off x="609589" y="1750770"/>
            <a:ext cx="10972823" cy="1065389"/>
          </a:xfrm>
          <a:prstGeom prst="roundRect">
            <a:avLst>
              <a:gd name="adj" fmla="val 14305"/>
            </a:avLst>
          </a:prstGeom>
          <a:solidFill>
            <a:srgbClr val="FFFFFF"/>
          </a:solidFill>
          <a:ln w="5292">
            <a:solidFill>
              <a:srgbClr val="E1DEE8"/>
            </a:solidFill>
            <a:prstDash val="solid"/>
          </a:ln>
        </p:spPr>
        <p:txBody>
          <a:bodyPr/>
          <a:lstStyle/>
          <a:p>
            <a:endParaRPr lang="en-US"/>
          </a:p>
        </p:txBody>
      </p:sp>
      <p:sp>
        <p:nvSpPr>
          <p:cNvPr id="5" name="Text 3"/>
          <p:cNvSpPr/>
          <p:nvPr/>
        </p:nvSpPr>
        <p:spPr>
          <a:xfrm>
            <a:off x="867117" y="1970154"/>
            <a:ext cx="406389" cy="355578"/>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6098"/>
              </a:lnSpc>
              <a:buNone/>
            </a:pPr>
            <a:r>
              <a:rPr lang="en-US" sz="2600" b="1">
                <a:solidFill>
                  <a:srgbClr val="FFAD5B"/>
                </a:solidFill>
                <a:latin typeface="Roboto Slab" pitchFamily="34" charset="0"/>
                <a:ea typeface="Roboto Slab" pitchFamily="34" charset="-122"/>
                <a:cs typeface="Roboto Slab" pitchFamily="34" charset="-120"/>
              </a:rPr>
              <a:t>1</a:t>
            </a:r>
            <a:endParaRPr lang="en-US" sz="2600"/>
          </a:p>
        </p:txBody>
      </p:sp>
      <p:sp>
        <p:nvSpPr>
          <p:cNvPr id="6" name="Text 4"/>
          <p:cNvSpPr/>
          <p:nvPr/>
        </p:nvSpPr>
        <p:spPr>
          <a:xfrm>
            <a:off x="1425884" y="2058348"/>
            <a:ext cx="8233205" cy="27934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94737"/>
              </a:lnSpc>
            </a:pPr>
            <a:r>
              <a:rPr lang="en-US" sz="1600" b="1">
                <a:solidFill>
                  <a:srgbClr val="241D3B"/>
                </a:solidFill>
                <a:latin typeface="Roboto Slab"/>
                <a:ea typeface="Roboto Slab"/>
                <a:cs typeface="Roboto Slab"/>
              </a:rPr>
              <a:t>Pick the one US company where the case is clearest.</a:t>
            </a:r>
            <a:endParaRPr lang="en-US" sz="1600">
              <a:latin typeface="Roboto Slab"/>
              <a:ea typeface="Roboto Slab"/>
              <a:cs typeface="Roboto Slab"/>
            </a:endParaRPr>
          </a:p>
        </p:txBody>
      </p:sp>
      <p:sp>
        <p:nvSpPr>
          <p:cNvPr id="7" name="Text 5"/>
          <p:cNvSpPr/>
          <p:nvPr/>
        </p:nvSpPr>
        <p:spPr>
          <a:xfrm>
            <a:off x="1425884" y="2375794"/>
            <a:ext cx="9692640" cy="2743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nSpc>
                <a:spcPct val="122824"/>
              </a:lnSpc>
            </a:pPr>
            <a:r>
              <a:rPr lang="en-US" sz="1200">
                <a:solidFill>
                  <a:srgbClr val="423F4B"/>
                </a:solidFill>
                <a:latin typeface="Roboto"/>
                <a:ea typeface="Roboto"/>
                <a:cs typeface="Roboto"/>
              </a:rPr>
              <a:t>Highest-risk workforce, or simply the HR leader with the most appetite. One masthead, one business, one market.</a:t>
            </a:r>
            <a:endParaRPr lang="en-US" sz="1200">
              <a:latin typeface="Roboto"/>
              <a:ea typeface="Roboto"/>
              <a:cs typeface="Roboto"/>
            </a:endParaRPr>
          </a:p>
        </p:txBody>
      </p:sp>
      <p:sp>
        <p:nvSpPr>
          <p:cNvPr id="8" name="Shape 6"/>
          <p:cNvSpPr/>
          <p:nvPr/>
        </p:nvSpPr>
        <p:spPr>
          <a:xfrm>
            <a:off x="609589" y="2968515"/>
            <a:ext cx="10972823" cy="1065389"/>
          </a:xfrm>
          <a:prstGeom prst="roundRect">
            <a:avLst>
              <a:gd name="adj" fmla="val 14305"/>
            </a:avLst>
          </a:prstGeom>
          <a:solidFill>
            <a:srgbClr val="FFFFFF"/>
          </a:solidFill>
          <a:ln w="5292">
            <a:solidFill>
              <a:srgbClr val="E1DEE8"/>
            </a:solidFill>
            <a:prstDash val="solid"/>
          </a:ln>
        </p:spPr>
        <p:txBody>
          <a:bodyPr/>
          <a:lstStyle/>
          <a:p>
            <a:endParaRPr lang="en-US"/>
          </a:p>
        </p:txBody>
      </p:sp>
      <p:sp>
        <p:nvSpPr>
          <p:cNvPr id="9" name="Text 7"/>
          <p:cNvSpPr/>
          <p:nvPr/>
        </p:nvSpPr>
        <p:spPr>
          <a:xfrm>
            <a:off x="867117" y="3187899"/>
            <a:ext cx="406389" cy="355578"/>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6098"/>
              </a:lnSpc>
              <a:buNone/>
            </a:pPr>
            <a:r>
              <a:rPr lang="en-US" sz="2600" b="1">
                <a:solidFill>
                  <a:srgbClr val="FFAD5B"/>
                </a:solidFill>
                <a:latin typeface="Roboto Slab" pitchFamily="34" charset="0"/>
                <a:ea typeface="Roboto Slab" pitchFamily="34" charset="-122"/>
                <a:cs typeface="Roboto Slab" pitchFamily="34" charset="-120"/>
              </a:rPr>
              <a:t>2</a:t>
            </a:r>
            <a:endParaRPr lang="en-US" sz="2600"/>
          </a:p>
        </p:txBody>
      </p:sp>
      <p:sp>
        <p:nvSpPr>
          <p:cNvPr id="10" name="Text 8"/>
          <p:cNvSpPr/>
          <p:nvPr/>
        </p:nvSpPr>
        <p:spPr>
          <a:xfrm>
            <a:off x="1425884" y="3276094"/>
            <a:ext cx="7157381" cy="27934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94737"/>
              </a:lnSpc>
              <a:buNone/>
            </a:pPr>
            <a:r>
              <a:rPr lang="en-US" sz="1600" b="1">
                <a:solidFill>
                  <a:srgbClr val="241D3B"/>
                </a:solidFill>
                <a:latin typeface="Roboto Slab" pitchFamily="34" charset="0"/>
                <a:ea typeface="Roboto Slab" pitchFamily="34" charset="-122"/>
                <a:cs typeface="Roboto Slab" pitchFamily="34" charset="-120"/>
              </a:rPr>
              <a:t>We run the full 90-day activation. Done for you.</a:t>
            </a:r>
            <a:endParaRPr lang="en-US" sz="1600"/>
          </a:p>
        </p:txBody>
      </p:sp>
      <p:sp>
        <p:nvSpPr>
          <p:cNvPr id="11" name="Text 9"/>
          <p:cNvSpPr/>
          <p:nvPr/>
        </p:nvSpPr>
        <p:spPr>
          <a:xfrm>
            <a:off x="1425884" y="3593538"/>
            <a:ext cx="9692640" cy="2743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423F4B"/>
                </a:solidFill>
                <a:latin typeface="Roboto" pitchFamily="34" charset="0"/>
                <a:ea typeface="Roboto" pitchFamily="34" charset="-122"/>
                <a:cs typeface="Roboto" pitchFamily="34" charset="-120"/>
              </a:rPr>
              <a:t>Communications, people-leader training, peer champions, the dedicated line and company code — built for that culture.</a:t>
            </a:r>
            <a:endParaRPr lang="en-US" sz="1200"/>
          </a:p>
        </p:txBody>
      </p:sp>
      <p:sp>
        <p:nvSpPr>
          <p:cNvPr id="12" name="Shape 10"/>
          <p:cNvSpPr/>
          <p:nvPr/>
        </p:nvSpPr>
        <p:spPr>
          <a:xfrm>
            <a:off x="609589" y="4186260"/>
            <a:ext cx="10972823" cy="1065389"/>
          </a:xfrm>
          <a:prstGeom prst="roundRect">
            <a:avLst>
              <a:gd name="adj" fmla="val 14305"/>
            </a:avLst>
          </a:prstGeom>
          <a:solidFill>
            <a:srgbClr val="FFFFFF"/>
          </a:solidFill>
          <a:ln w="5292">
            <a:solidFill>
              <a:srgbClr val="E1DEE8"/>
            </a:solidFill>
            <a:prstDash val="solid"/>
          </a:ln>
        </p:spPr>
        <p:txBody>
          <a:bodyPr/>
          <a:lstStyle/>
          <a:p>
            <a:endParaRPr lang="en-US"/>
          </a:p>
        </p:txBody>
      </p:sp>
      <p:sp>
        <p:nvSpPr>
          <p:cNvPr id="13" name="Text 11"/>
          <p:cNvSpPr/>
          <p:nvPr/>
        </p:nvSpPr>
        <p:spPr>
          <a:xfrm>
            <a:off x="867117" y="4405644"/>
            <a:ext cx="406389" cy="355578"/>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6098"/>
              </a:lnSpc>
              <a:buNone/>
            </a:pPr>
            <a:r>
              <a:rPr lang="en-US" sz="2600" b="1">
                <a:solidFill>
                  <a:srgbClr val="FFAD5B"/>
                </a:solidFill>
                <a:latin typeface="Roboto Slab" pitchFamily="34" charset="0"/>
                <a:ea typeface="Roboto Slab" pitchFamily="34" charset="-122"/>
                <a:cs typeface="Roboto Slab" pitchFamily="34" charset="-120"/>
              </a:rPr>
              <a:t>3</a:t>
            </a:r>
            <a:endParaRPr lang="en-US" sz="2600"/>
          </a:p>
        </p:txBody>
      </p:sp>
      <p:sp>
        <p:nvSpPr>
          <p:cNvPr id="14" name="Text 12"/>
          <p:cNvSpPr/>
          <p:nvPr/>
        </p:nvSpPr>
        <p:spPr>
          <a:xfrm>
            <a:off x="1425884" y="4493838"/>
            <a:ext cx="6992701" cy="279345"/>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94737"/>
              </a:lnSpc>
              <a:buNone/>
            </a:pPr>
            <a:r>
              <a:rPr lang="en-US" sz="1600" b="1">
                <a:solidFill>
                  <a:srgbClr val="241D3B"/>
                </a:solidFill>
                <a:latin typeface="Roboto Slab" pitchFamily="34" charset="0"/>
                <a:ea typeface="Roboto Slab" pitchFamily="34" charset="-122"/>
                <a:cs typeface="Roboto Slab" pitchFamily="34" charset="-120"/>
              </a:rPr>
              <a:t>You judge it on awareness and utilization at day 90.</a:t>
            </a:r>
            <a:endParaRPr lang="en-US" sz="1600"/>
          </a:p>
        </p:txBody>
      </p:sp>
      <p:sp>
        <p:nvSpPr>
          <p:cNvPr id="15" name="Text 13"/>
          <p:cNvSpPr/>
          <p:nvPr/>
        </p:nvSpPr>
        <p:spPr>
          <a:xfrm>
            <a:off x="1425884" y="4811283"/>
            <a:ext cx="9692640" cy="274320"/>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2824"/>
              </a:lnSpc>
              <a:buNone/>
            </a:pPr>
            <a:r>
              <a:rPr lang="en-US" sz="1200">
                <a:solidFill>
                  <a:srgbClr val="423F4B"/>
                </a:solidFill>
                <a:latin typeface="Roboto" pitchFamily="34" charset="0"/>
                <a:ea typeface="Roboto" pitchFamily="34" charset="-122"/>
                <a:cs typeface="Roboto" pitchFamily="34" charset="-120"/>
              </a:rPr>
              <a:t>If it tracks Gardner and Olympia, we scale to the next company. If it doesn't, you have spent a quarter and learned something.</a:t>
            </a:r>
            <a:endParaRPr lang="en-US" sz="1200"/>
          </a:p>
        </p:txBody>
      </p:sp>
      <p:sp>
        <p:nvSpPr>
          <p:cNvPr id="16" name="Text 14"/>
          <p:cNvSpPr/>
          <p:nvPr/>
        </p:nvSpPr>
        <p:spPr>
          <a:xfrm>
            <a:off x="609590" y="6185573"/>
            <a:ext cx="12070105" cy="316827"/>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02000"/>
              </a:lnSpc>
              <a:buNone/>
            </a:pPr>
            <a:r>
              <a:rPr lang="en-US" sz="1700">
                <a:solidFill>
                  <a:srgbClr val="59468D"/>
                </a:solidFill>
                <a:latin typeface="Roboto Slab" pitchFamily="34" charset="0"/>
                <a:ea typeface="Roboto Slab" pitchFamily="34" charset="-122"/>
                <a:cs typeface="Roboto Slab" pitchFamily="34" charset="-120"/>
              </a:rPr>
              <a:t>The fastest way to know if this works in your workforce is to run it in one of them.</a:t>
            </a:r>
            <a:endParaRPr lang="en-US" sz="17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59468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4000"/>
          </a:blip>
          <a:stretch>
            <a:fillRect/>
          </a:stretch>
        </p:blipFill>
        <p:spPr>
          <a:xfrm>
            <a:off x="-762000" y="4499626"/>
            <a:ext cx="3302000" cy="2993375"/>
          </a:xfrm>
          <a:prstGeom prst="rect">
            <a:avLst/>
          </a:prstGeom>
        </p:spPr>
      </p:pic>
      <p:sp>
        <p:nvSpPr>
          <p:cNvPr id="3" name="Text 0"/>
          <p:cNvSpPr/>
          <p:nvPr/>
        </p:nvSpPr>
        <p:spPr>
          <a:xfrm>
            <a:off x="4498027" y="2397126"/>
            <a:ext cx="3515541" cy="634989"/>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75789"/>
              </a:lnSpc>
              <a:buNone/>
            </a:pPr>
            <a:r>
              <a:rPr lang="en-US" sz="4800" b="1">
                <a:solidFill>
                  <a:srgbClr val="FFFFFF"/>
                </a:solidFill>
                <a:latin typeface="Roboto Slab" pitchFamily="34" charset="0"/>
                <a:ea typeface="Roboto Slab" pitchFamily="34" charset="-122"/>
                <a:cs typeface="Roboto Slab" pitchFamily="34" charset="-120"/>
              </a:rPr>
              <a:t>Questions?</a:t>
            </a:r>
            <a:endParaRPr lang="en-US" sz="4800"/>
          </a:p>
        </p:txBody>
      </p:sp>
      <p:sp>
        <p:nvSpPr>
          <p:cNvPr id="4" name="Shape 1"/>
          <p:cNvSpPr/>
          <p:nvPr/>
        </p:nvSpPr>
        <p:spPr>
          <a:xfrm>
            <a:off x="1397000" y="3489303"/>
            <a:ext cx="4584678" cy="1149284"/>
          </a:xfrm>
          <a:prstGeom prst="roundRect">
            <a:avLst>
              <a:gd name="adj" fmla="val 15471"/>
            </a:avLst>
          </a:prstGeom>
          <a:solidFill>
            <a:srgbClr val="6751A4"/>
          </a:solidFill>
          <a:ln/>
        </p:spPr>
        <p:txBody>
          <a:bodyPr/>
          <a:lstStyle/>
          <a:p>
            <a:endParaRPr lang="en-US"/>
          </a:p>
        </p:txBody>
      </p:sp>
      <p:sp>
        <p:nvSpPr>
          <p:cNvPr id="5" name="Text 2"/>
          <p:cNvSpPr/>
          <p:nvPr/>
        </p:nvSpPr>
        <p:spPr>
          <a:xfrm>
            <a:off x="1676356" y="3717892"/>
            <a:ext cx="4146745" cy="40254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4326"/>
              </a:lnSpc>
              <a:buNone/>
            </a:pPr>
            <a:r>
              <a:rPr lang="en-US" sz="1800" b="1">
                <a:solidFill>
                  <a:srgbClr val="FFFFFF"/>
                </a:solidFill>
                <a:latin typeface="Roboto Slab" pitchFamily="34" charset="0"/>
                <a:ea typeface="Roboto Slab" pitchFamily="34" charset="-122"/>
                <a:cs typeface="Roboto Slab" pitchFamily="34" charset="-120"/>
              </a:rPr>
              <a:t>Marin Nelson</a:t>
            </a:r>
            <a:endParaRPr lang="en-US" sz="1800"/>
          </a:p>
        </p:txBody>
      </p:sp>
      <p:sp>
        <p:nvSpPr>
          <p:cNvPr id="6" name="Text 3"/>
          <p:cNvSpPr/>
          <p:nvPr/>
        </p:nvSpPr>
        <p:spPr>
          <a:xfrm>
            <a:off x="1676356" y="4158534"/>
            <a:ext cx="4146745" cy="276865"/>
          </a:xfrm>
          <a:prstGeom prst="rect">
            <a:avLst/>
          </a:prstGeom>
          <a:noFill/>
          <a:ln/>
        </p:spPr>
        <p:txBody>
          <a:bodyPr wrap="non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a:solidFill>
                  <a:srgbClr val="CEC6E4"/>
                </a:solidFill>
                <a:latin typeface="Roboto" pitchFamily="34" charset="0"/>
                <a:ea typeface="Roboto" pitchFamily="34" charset="-122"/>
                <a:cs typeface="Roboto" pitchFamily="34" charset="-120"/>
              </a:rPr>
              <a:t>marin@sobrynth.com · sobrynth.com · 651-425-1153</a:t>
            </a:r>
            <a:endParaRPr lang="en-US" sz="1200"/>
          </a:p>
        </p:txBody>
      </p:sp>
      <p:sp>
        <p:nvSpPr>
          <p:cNvPr id="7" name="Shape 4"/>
          <p:cNvSpPr/>
          <p:nvPr/>
        </p:nvSpPr>
        <p:spPr>
          <a:xfrm>
            <a:off x="6210268" y="3489303"/>
            <a:ext cx="4584733" cy="1149284"/>
          </a:xfrm>
          <a:prstGeom prst="roundRect">
            <a:avLst>
              <a:gd name="adj" fmla="val 15471"/>
            </a:avLst>
          </a:prstGeom>
          <a:solidFill>
            <a:srgbClr val="6751A4"/>
          </a:solidFill>
          <a:ln/>
        </p:spPr>
        <p:txBody>
          <a:bodyPr/>
          <a:lstStyle/>
          <a:p>
            <a:endParaRPr lang="en-US"/>
          </a:p>
        </p:txBody>
      </p:sp>
      <p:sp>
        <p:nvSpPr>
          <p:cNvPr id="8" name="Text 5"/>
          <p:cNvSpPr/>
          <p:nvPr/>
        </p:nvSpPr>
        <p:spPr>
          <a:xfrm>
            <a:off x="6489624" y="3717892"/>
            <a:ext cx="4146802" cy="402541"/>
          </a:xfrm>
          <a:prstGeom prst="rect">
            <a:avLst/>
          </a:prstGeom>
          <a:noFill/>
          <a:ln/>
        </p:spPr>
        <p:txBody>
          <a:bodyPr wrap="squar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24326"/>
              </a:lnSpc>
              <a:buNone/>
            </a:pPr>
            <a:r>
              <a:rPr lang="en-US" sz="1800" b="1">
                <a:solidFill>
                  <a:srgbClr val="FFFFFF"/>
                </a:solidFill>
                <a:latin typeface="Roboto Slab"/>
                <a:ea typeface="Roboto Slab"/>
                <a:cs typeface="Roboto Slab"/>
              </a:rPr>
              <a:t>Jess Ferretti</a:t>
            </a:r>
            <a:endParaRPr lang="en-US" sz="1800"/>
          </a:p>
        </p:txBody>
      </p:sp>
      <p:sp>
        <p:nvSpPr>
          <p:cNvPr id="9" name="Text 6"/>
          <p:cNvSpPr/>
          <p:nvPr/>
        </p:nvSpPr>
        <p:spPr>
          <a:xfrm>
            <a:off x="6489624" y="4158534"/>
            <a:ext cx="4146802" cy="276865"/>
          </a:xfrm>
          <a:prstGeom prst="rect">
            <a:avLst/>
          </a:prstGeom>
          <a:noFill/>
          <a:ln/>
        </p:spPr>
        <p:txBody>
          <a:bodyPr wrap="none" lIns="16933" tIns="16933" rIns="16933" bIns="16933" rtlCol="0" anchor="t">
            <a:norm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lgn="l">
              <a:lnSpc>
                <a:spcPct val="139765"/>
              </a:lnSpc>
              <a:buNone/>
            </a:pPr>
            <a:r>
              <a:rPr lang="en-US" sz="1200">
                <a:solidFill>
                  <a:srgbClr val="CEC6E4"/>
                </a:solidFill>
                <a:latin typeface="Roboto" pitchFamily="34" charset="0"/>
                <a:ea typeface="Roboto" pitchFamily="34" charset="-122"/>
                <a:cs typeface="Roboto" pitchFamily="34" charset="-120"/>
              </a:rPr>
              <a:t>jess@sobrynth.com · sobrynth.com · 516-385-0411</a:t>
            </a:r>
            <a:endParaRPr lang="en-US" sz="120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TotalTime>
  <Words>6734</Words>
  <Application>Microsoft Macintosh PowerPoint</Application>
  <PresentationFormat>Widescreen</PresentationFormat>
  <Paragraphs>534</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Arial</vt:lpstr>
      <vt:lpstr>Calibri</vt:lpstr>
      <vt:lpstr>Roboto</vt:lpstr>
      <vt:lpstr>Roboto Slab</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Jess Ferretti</cp:lastModifiedBy>
  <cp:revision>27</cp:revision>
  <dcterms:created xsi:type="dcterms:W3CDTF">2013-07-15T20:26:40Z</dcterms:created>
  <dcterms:modified xsi:type="dcterms:W3CDTF">2026-09-14T17:08:47Z</dcterms:modified>
</cp:coreProperties>
</file>